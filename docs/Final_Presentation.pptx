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 Sot" userId="88149d4b75946e7d" providerId="LiveId" clId="{04F15EE9-6A2F-4850-A112-9C06ECE99432}"/>
    <pc:docChg chg="modSld">
      <pc:chgData name="So Sot" userId="88149d4b75946e7d" providerId="LiveId" clId="{04F15EE9-6A2F-4850-A112-9C06ECE99432}" dt="2026-02-24T07:53:13.489" v="1" actId="164"/>
      <pc:docMkLst>
        <pc:docMk/>
      </pc:docMkLst>
      <pc:sldChg chg="addSp modSp">
        <pc:chgData name="So Sot" userId="88149d4b75946e7d" providerId="LiveId" clId="{04F15EE9-6A2F-4850-A112-9C06ECE99432}" dt="2026-02-24T07:53:03.853" v="0" actId="164"/>
        <pc:sldMkLst>
          <pc:docMk/>
          <pc:sldMk cId="0" sldId="256"/>
        </pc:sldMkLst>
        <pc:spChg chg="mod">
          <ac:chgData name="So Sot" userId="88149d4b75946e7d" providerId="LiveId" clId="{04F15EE9-6A2F-4850-A112-9C06ECE99432}" dt="2026-02-24T07:53:03.853" v="0" actId="164"/>
          <ac:spMkLst>
            <pc:docMk/>
            <pc:sldMk cId="0" sldId="256"/>
            <ac:spMk id="2" creationId="{00000000-0000-0000-0000-000000000000}"/>
          </ac:spMkLst>
        </pc:spChg>
        <pc:spChg chg="mod">
          <ac:chgData name="So Sot" userId="88149d4b75946e7d" providerId="LiveId" clId="{04F15EE9-6A2F-4850-A112-9C06ECE99432}" dt="2026-02-24T07:53:03.853" v="0" actId="164"/>
          <ac:spMkLst>
            <pc:docMk/>
            <pc:sldMk cId="0" sldId="256"/>
            <ac:spMk id="3" creationId="{00000000-0000-0000-0000-000000000000}"/>
          </ac:spMkLst>
        </pc:spChg>
        <pc:spChg chg="mod">
          <ac:chgData name="So Sot" userId="88149d4b75946e7d" providerId="LiveId" clId="{04F15EE9-6A2F-4850-A112-9C06ECE99432}" dt="2026-02-24T07:53:03.853" v="0" actId="164"/>
          <ac:spMkLst>
            <pc:docMk/>
            <pc:sldMk cId="0" sldId="256"/>
            <ac:spMk id="4" creationId="{00000000-0000-0000-0000-000000000000}"/>
          </ac:spMkLst>
        </pc:spChg>
        <pc:spChg chg="mod">
          <ac:chgData name="So Sot" userId="88149d4b75946e7d" providerId="LiveId" clId="{04F15EE9-6A2F-4850-A112-9C06ECE99432}" dt="2026-02-24T07:53:03.853" v="0" actId="164"/>
          <ac:spMkLst>
            <pc:docMk/>
            <pc:sldMk cId="0" sldId="256"/>
            <ac:spMk id="5" creationId="{00000000-0000-0000-0000-000000000000}"/>
          </ac:spMkLst>
        </pc:spChg>
        <pc:spChg chg="mod">
          <ac:chgData name="So Sot" userId="88149d4b75946e7d" providerId="LiveId" clId="{04F15EE9-6A2F-4850-A112-9C06ECE99432}" dt="2026-02-24T07:53:03.853" v="0" actId="164"/>
          <ac:spMkLst>
            <pc:docMk/>
            <pc:sldMk cId="0" sldId="256"/>
            <ac:spMk id="7" creationId="{00000000-0000-0000-0000-000000000000}"/>
          </ac:spMkLst>
        </pc:spChg>
        <pc:spChg chg="mod">
          <ac:chgData name="So Sot" userId="88149d4b75946e7d" providerId="LiveId" clId="{04F15EE9-6A2F-4850-A112-9C06ECE99432}" dt="2026-02-24T07:53:03.853" v="0" actId="164"/>
          <ac:spMkLst>
            <pc:docMk/>
            <pc:sldMk cId="0" sldId="256"/>
            <ac:spMk id="8" creationId="{00000000-0000-0000-0000-000000000000}"/>
          </ac:spMkLst>
        </pc:spChg>
        <pc:spChg chg="mod">
          <ac:chgData name="So Sot" userId="88149d4b75946e7d" providerId="LiveId" clId="{04F15EE9-6A2F-4850-A112-9C06ECE99432}" dt="2026-02-24T07:53:03.853" v="0" actId="164"/>
          <ac:spMkLst>
            <pc:docMk/>
            <pc:sldMk cId="0" sldId="256"/>
            <ac:spMk id="9" creationId="{00000000-0000-0000-0000-000000000000}"/>
          </ac:spMkLst>
        </pc:spChg>
        <pc:spChg chg="mod">
          <ac:chgData name="So Sot" userId="88149d4b75946e7d" providerId="LiveId" clId="{04F15EE9-6A2F-4850-A112-9C06ECE99432}" dt="2026-02-24T07:53:03.853" v="0" actId="164"/>
          <ac:spMkLst>
            <pc:docMk/>
            <pc:sldMk cId="0" sldId="256"/>
            <ac:spMk id="10" creationId="{00000000-0000-0000-0000-000000000000}"/>
          </ac:spMkLst>
        </pc:spChg>
        <pc:spChg chg="mod">
          <ac:chgData name="So Sot" userId="88149d4b75946e7d" providerId="LiveId" clId="{04F15EE9-6A2F-4850-A112-9C06ECE99432}" dt="2026-02-24T07:53:03.853" v="0" actId="164"/>
          <ac:spMkLst>
            <pc:docMk/>
            <pc:sldMk cId="0" sldId="256"/>
            <ac:spMk id="11" creationId="{00000000-0000-0000-0000-000000000000}"/>
          </ac:spMkLst>
        </pc:spChg>
        <pc:grpChg chg="add mod">
          <ac:chgData name="So Sot" userId="88149d4b75946e7d" providerId="LiveId" clId="{04F15EE9-6A2F-4850-A112-9C06ECE99432}" dt="2026-02-24T07:53:03.853" v="0" actId="164"/>
          <ac:grpSpMkLst>
            <pc:docMk/>
            <pc:sldMk cId="0" sldId="256"/>
            <ac:grpSpMk id="12" creationId="{7E1F0E5C-C0E9-FE42-21BC-2113AA6E0E36}"/>
          </ac:grpSpMkLst>
        </pc:grpChg>
        <pc:picChg chg="mod">
          <ac:chgData name="So Sot" userId="88149d4b75946e7d" providerId="LiveId" clId="{04F15EE9-6A2F-4850-A112-9C06ECE99432}" dt="2026-02-24T07:53:03.853" v="0" actId="164"/>
          <ac:picMkLst>
            <pc:docMk/>
            <pc:sldMk cId="0" sldId="256"/>
            <ac:picMk id="6" creationId="{00000000-0000-0000-0000-000000000000}"/>
          </ac:picMkLst>
        </pc:picChg>
      </pc:sldChg>
      <pc:sldChg chg="addSp modSp">
        <pc:chgData name="So Sot" userId="88149d4b75946e7d" providerId="LiveId" clId="{04F15EE9-6A2F-4850-A112-9C06ECE99432}" dt="2026-02-24T07:53:13.489" v="1" actId="164"/>
        <pc:sldMkLst>
          <pc:docMk/>
          <pc:sldMk cId="0" sldId="257"/>
        </pc:sldMkLst>
        <pc:spChg chg="mod">
          <ac:chgData name="So Sot" userId="88149d4b75946e7d" providerId="LiveId" clId="{04F15EE9-6A2F-4850-A112-9C06ECE99432}" dt="2026-02-24T07:53:13.489" v="1" actId="164"/>
          <ac:spMkLst>
            <pc:docMk/>
            <pc:sldMk cId="0" sldId="257"/>
            <ac:spMk id="2" creationId="{00000000-0000-0000-0000-000000000000}"/>
          </ac:spMkLst>
        </pc:spChg>
        <pc:spChg chg="mod">
          <ac:chgData name="So Sot" userId="88149d4b75946e7d" providerId="LiveId" clId="{04F15EE9-6A2F-4850-A112-9C06ECE99432}" dt="2026-02-24T07:53:13.489" v="1" actId="164"/>
          <ac:spMkLst>
            <pc:docMk/>
            <pc:sldMk cId="0" sldId="257"/>
            <ac:spMk id="3" creationId="{00000000-0000-0000-0000-000000000000}"/>
          </ac:spMkLst>
        </pc:spChg>
        <pc:spChg chg="mod">
          <ac:chgData name="So Sot" userId="88149d4b75946e7d" providerId="LiveId" clId="{04F15EE9-6A2F-4850-A112-9C06ECE99432}" dt="2026-02-24T07:53:13.489" v="1" actId="164"/>
          <ac:spMkLst>
            <pc:docMk/>
            <pc:sldMk cId="0" sldId="257"/>
            <ac:spMk id="4" creationId="{00000000-0000-0000-0000-000000000000}"/>
          </ac:spMkLst>
        </pc:spChg>
        <pc:spChg chg="mod">
          <ac:chgData name="So Sot" userId="88149d4b75946e7d" providerId="LiveId" clId="{04F15EE9-6A2F-4850-A112-9C06ECE99432}" dt="2026-02-24T07:53:13.489" v="1" actId="164"/>
          <ac:spMkLst>
            <pc:docMk/>
            <pc:sldMk cId="0" sldId="257"/>
            <ac:spMk id="5" creationId="{00000000-0000-0000-0000-000000000000}"/>
          </ac:spMkLst>
        </pc:spChg>
        <pc:spChg chg="mod">
          <ac:chgData name="So Sot" userId="88149d4b75946e7d" providerId="LiveId" clId="{04F15EE9-6A2F-4850-A112-9C06ECE99432}" dt="2026-02-24T07:53:13.489" v="1" actId="164"/>
          <ac:spMkLst>
            <pc:docMk/>
            <pc:sldMk cId="0" sldId="257"/>
            <ac:spMk id="6" creationId="{00000000-0000-0000-0000-000000000000}"/>
          </ac:spMkLst>
        </pc:spChg>
        <pc:spChg chg="mod">
          <ac:chgData name="So Sot" userId="88149d4b75946e7d" providerId="LiveId" clId="{04F15EE9-6A2F-4850-A112-9C06ECE99432}" dt="2026-02-24T07:53:13.489" v="1" actId="164"/>
          <ac:spMkLst>
            <pc:docMk/>
            <pc:sldMk cId="0" sldId="257"/>
            <ac:spMk id="7" creationId="{00000000-0000-0000-0000-000000000000}"/>
          </ac:spMkLst>
        </pc:spChg>
        <pc:spChg chg="mod">
          <ac:chgData name="So Sot" userId="88149d4b75946e7d" providerId="LiveId" clId="{04F15EE9-6A2F-4850-A112-9C06ECE99432}" dt="2026-02-24T07:53:13.489" v="1" actId="164"/>
          <ac:spMkLst>
            <pc:docMk/>
            <pc:sldMk cId="0" sldId="257"/>
            <ac:spMk id="8" creationId="{00000000-0000-0000-0000-000000000000}"/>
          </ac:spMkLst>
        </pc:spChg>
        <pc:spChg chg="mod">
          <ac:chgData name="So Sot" userId="88149d4b75946e7d" providerId="LiveId" clId="{04F15EE9-6A2F-4850-A112-9C06ECE99432}" dt="2026-02-24T07:53:13.489" v="1" actId="164"/>
          <ac:spMkLst>
            <pc:docMk/>
            <pc:sldMk cId="0" sldId="257"/>
            <ac:spMk id="9" creationId="{00000000-0000-0000-0000-000000000000}"/>
          </ac:spMkLst>
        </pc:spChg>
        <pc:spChg chg="mod">
          <ac:chgData name="So Sot" userId="88149d4b75946e7d" providerId="LiveId" clId="{04F15EE9-6A2F-4850-A112-9C06ECE99432}" dt="2026-02-24T07:53:13.489" v="1" actId="164"/>
          <ac:spMkLst>
            <pc:docMk/>
            <pc:sldMk cId="0" sldId="257"/>
            <ac:spMk id="10" creationId="{00000000-0000-0000-0000-000000000000}"/>
          </ac:spMkLst>
        </pc:spChg>
        <pc:spChg chg="mod">
          <ac:chgData name="So Sot" userId="88149d4b75946e7d" providerId="LiveId" clId="{04F15EE9-6A2F-4850-A112-9C06ECE99432}" dt="2026-02-24T07:53:13.489" v="1" actId="164"/>
          <ac:spMkLst>
            <pc:docMk/>
            <pc:sldMk cId="0" sldId="257"/>
            <ac:spMk id="11" creationId="{00000000-0000-0000-0000-000000000000}"/>
          </ac:spMkLst>
        </pc:spChg>
        <pc:spChg chg="mod">
          <ac:chgData name="So Sot" userId="88149d4b75946e7d" providerId="LiveId" clId="{04F15EE9-6A2F-4850-A112-9C06ECE99432}" dt="2026-02-24T07:53:13.489" v="1" actId="164"/>
          <ac:spMkLst>
            <pc:docMk/>
            <pc:sldMk cId="0" sldId="257"/>
            <ac:spMk id="12" creationId="{00000000-0000-0000-0000-000000000000}"/>
          </ac:spMkLst>
        </pc:spChg>
        <pc:spChg chg="mod">
          <ac:chgData name="So Sot" userId="88149d4b75946e7d" providerId="LiveId" clId="{04F15EE9-6A2F-4850-A112-9C06ECE99432}" dt="2026-02-24T07:53:13.489" v="1" actId="164"/>
          <ac:spMkLst>
            <pc:docMk/>
            <pc:sldMk cId="0" sldId="257"/>
            <ac:spMk id="13" creationId="{00000000-0000-0000-0000-000000000000}"/>
          </ac:spMkLst>
        </pc:spChg>
        <pc:spChg chg="mod">
          <ac:chgData name="So Sot" userId="88149d4b75946e7d" providerId="LiveId" clId="{04F15EE9-6A2F-4850-A112-9C06ECE99432}" dt="2026-02-24T07:53:13.489" v="1" actId="164"/>
          <ac:spMkLst>
            <pc:docMk/>
            <pc:sldMk cId="0" sldId="257"/>
            <ac:spMk id="14" creationId="{00000000-0000-0000-0000-000000000000}"/>
          </ac:spMkLst>
        </pc:spChg>
        <pc:spChg chg="mod">
          <ac:chgData name="So Sot" userId="88149d4b75946e7d" providerId="LiveId" clId="{04F15EE9-6A2F-4850-A112-9C06ECE99432}" dt="2026-02-24T07:53:13.489" v="1" actId="164"/>
          <ac:spMkLst>
            <pc:docMk/>
            <pc:sldMk cId="0" sldId="257"/>
            <ac:spMk id="15" creationId="{00000000-0000-0000-0000-000000000000}"/>
          </ac:spMkLst>
        </pc:spChg>
        <pc:spChg chg="mod">
          <ac:chgData name="So Sot" userId="88149d4b75946e7d" providerId="LiveId" clId="{04F15EE9-6A2F-4850-A112-9C06ECE99432}" dt="2026-02-24T07:53:13.489" v="1" actId="164"/>
          <ac:spMkLst>
            <pc:docMk/>
            <pc:sldMk cId="0" sldId="257"/>
            <ac:spMk id="16" creationId="{00000000-0000-0000-0000-000000000000}"/>
          </ac:spMkLst>
        </pc:spChg>
        <pc:spChg chg="mod">
          <ac:chgData name="So Sot" userId="88149d4b75946e7d" providerId="LiveId" clId="{04F15EE9-6A2F-4850-A112-9C06ECE99432}" dt="2026-02-24T07:53:13.489" v="1" actId="164"/>
          <ac:spMkLst>
            <pc:docMk/>
            <pc:sldMk cId="0" sldId="257"/>
            <ac:spMk id="17" creationId="{00000000-0000-0000-0000-000000000000}"/>
          </ac:spMkLst>
        </pc:spChg>
        <pc:spChg chg="mod">
          <ac:chgData name="So Sot" userId="88149d4b75946e7d" providerId="LiveId" clId="{04F15EE9-6A2F-4850-A112-9C06ECE99432}" dt="2026-02-24T07:53:13.489" v="1" actId="164"/>
          <ac:spMkLst>
            <pc:docMk/>
            <pc:sldMk cId="0" sldId="257"/>
            <ac:spMk id="18" creationId="{00000000-0000-0000-0000-000000000000}"/>
          </ac:spMkLst>
        </pc:spChg>
        <pc:spChg chg="mod">
          <ac:chgData name="So Sot" userId="88149d4b75946e7d" providerId="LiveId" clId="{04F15EE9-6A2F-4850-A112-9C06ECE99432}" dt="2026-02-24T07:53:13.489" v="1" actId="164"/>
          <ac:spMkLst>
            <pc:docMk/>
            <pc:sldMk cId="0" sldId="257"/>
            <ac:spMk id="19" creationId="{00000000-0000-0000-0000-000000000000}"/>
          </ac:spMkLst>
        </pc:spChg>
        <pc:spChg chg="mod">
          <ac:chgData name="So Sot" userId="88149d4b75946e7d" providerId="LiveId" clId="{04F15EE9-6A2F-4850-A112-9C06ECE99432}" dt="2026-02-24T07:53:13.489" v="1" actId="164"/>
          <ac:spMkLst>
            <pc:docMk/>
            <pc:sldMk cId="0" sldId="257"/>
            <ac:spMk id="20" creationId="{00000000-0000-0000-0000-000000000000}"/>
          </ac:spMkLst>
        </pc:spChg>
        <pc:spChg chg="mod">
          <ac:chgData name="So Sot" userId="88149d4b75946e7d" providerId="LiveId" clId="{04F15EE9-6A2F-4850-A112-9C06ECE99432}" dt="2026-02-24T07:53:13.489" v="1" actId="164"/>
          <ac:spMkLst>
            <pc:docMk/>
            <pc:sldMk cId="0" sldId="257"/>
            <ac:spMk id="21" creationId="{00000000-0000-0000-0000-000000000000}"/>
          </ac:spMkLst>
        </pc:spChg>
        <pc:spChg chg="mod">
          <ac:chgData name="So Sot" userId="88149d4b75946e7d" providerId="LiveId" clId="{04F15EE9-6A2F-4850-A112-9C06ECE99432}" dt="2026-02-24T07:53:13.489" v="1" actId="164"/>
          <ac:spMkLst>
            <pc:docMk/>
            <pc:sldMk cId="0" sldId="257"/>
            <ac:spMk id="22" creationId="{00000000-0000-0000-0000-000000000000}"/>
          </ac:spMkLst>
        </pc:spChg>
        <pc:spChg chg="mod">
          <ac:chgData name="So Sot" userId="88149d4b75946e7d" providerId="LiveId" clId="{04F15EE9-6A2F-4850-A112-9C06ECE99432}" dt="2026-02-24T07:53:13.489" v="1" actId="164"/>
          <ac:spMkLst>
            <pc:docMk/>
            <pc:sldMk cId="0" sldId="257"/>
            <ac:spMk id="23" creationId="{00000000-0000-0000-0000-000000000000}"/>
          </ac:spMkLst>
        </pc:spChg>
        <pc:spChg chg="mod">
          <ac:chgData name="So Sot" userId="88149d4b75946e7d" providerId="LiveId" clId="{04F15EE9-6A2F-4850-A112-9C06ECE99432}" dt="2026-02-24T07:53:13.489" v="1" actId="164"/>
          <ac:spMkLst>
            <pc:docMk/>
            <pc:sldMk cId="0" sldId="257"/>
            <ac:spMk id="24" creationId="{00000000-0000-0000-0000-000000000000}"/>
          </ac:spMkLst>
        </pc:spChg>
        <pc:spChg chg="mod">
          <ac:chgData name="So Sot" userId="88149d4b75946e7d" providerId="LiveId" clId="{04F15EE9-6A2F-4850-A112-9C06ECE99432}" dt="2026-02-24T07:53:13.489" v="1" actId="164"/>
          <ac:spMkLst>
            <pc:docMk/>
            <pc:sldMk cId="0" sldId="257"/>
            <ac:spMk id="25" creationId="{00000000-0000-0000-0000-000000000000}"/>
          </ac:spMkLst>
        </pc:spChg>
        <pc:spChg chg="mod">
          <ac:chgData name="So Sot" userId="88149d4b75946e7d" providerId="LiveId" clId="{04F15EE9-6A2F-4850-A112-9C06ECE99432}" dt="2026-02-24T07:53:13.489" v="1" actId="164"/>
          <ac:spMkLst>
            <pc:docMk/>
            <pc:sldMk cId="0" sldId="257"/>
            <ac:spMk id="26" creationId="{00000000-0000-0000-0000-000000000000}"/>
          </ac:spMkLst>
        </pc:spChg>
        <pc:spChg chg="mod">
          <ac:chgData name="So Sot" userId="88149d4b75946e7d" providerId="LiveId" clId="{04F15EE9-6A2F-4850-A112-9C06ECE99432}" dt="2026-02-24T07:53:13.489" v="1" actId="164"/>
          <ac:spMkLst>
            <pc:docMk/>
            <pc:sldMk cId="0" sldId="257"/>
            <ac:spMk id="27" creationId="{00000000-0000-0000-0000-000000000000}"/>
          </ac:spMkLst>
        </pc:spChg>
        <pc:spChg chg="mod">
          <ac:chgData name="So Sot" userId="88149d4b75946e7d" providerId="LiveId" clId="{04F15EE9-6A2F-4850-A112-9C06ECE99432}" dt="2026-02-24T07:53:13.489" v="1" actId="164"/>
          <ac:spMkLst>
            <pc:docMk/>
            <pc:sldMk cId="0" sldId="257"/>
            <ac:spMk id="28" creationId="{00000000-0000-0000-0000-000000000000}"/>
          </ac:spMkLst>
        </pc:spChg>
        <pc:spChg chg="mod">
          <ac:chgData name="So Sot" userId="88149d4b75946e7d" providerId="LiveId" clId="{04F15EE9-6A2F-4850-A112-9C06ECE99432}" dt="2026-02-24T07:53:13.489" v="1" actId="164"/>
          <ac:spMkLst>
            <pc:docMk/>
            <pc:sldMk cId="0" sldId="257"/>
            <ac:spMk id="29" creationId="{00000000-0000-0000-0000-000000000000}"/>
          </ac:spMkLst>
        </pc:spChg>
        <pc:grpChg chg="add mod">
          <ac:chgData name="So Sot" userId="88149d4b75946e7d" providerId="LiveId" clId="{04F15EE9-6A2F-4850-A112-9C06ECE99432}" dt="2026-02-24T07:53:13.489" v="1" actId="164"/>
          <ac:grpSpMkLst>
            <pc:docMk/>
            <pc:sldMk cId="0" sldId="257"/>
            <ac:grpSpMk id="30" creationId="{12315D7E-8B0A-C5FA-5467-65B8CF90FAC5}"/>
          </ac:grpSpMkLst>
        </pc:grpChg>
      </pc:sldChg>
    </pc:docChg>
  </pc:docChgLst>
</pc:chgInfo>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9758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committee members. My name is Sot So, and I will present my thesis on "Data Vault 2.0 Implementation for Cambodia Tax System Data Warehouse Using Medallion Architecture," supervised by Mr. Chap Chanpiseth. This research addresses the need for a modern, scalable data warehouse architecture for Cambodia's General Department of Taxation.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follows a 6-chapter structure. I will cover the background and problem statement, literature review and research gap, methodology and system architecture, implementation details across 4 data warehouse layers, results including ETL benchmarks and query performance, discussion of key insights, and conclude with future work recommendations. The defense will take approximately 20-25 minutes.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Cambodia's GDT is undergoing digital transformation with growing data volumes. Traditional approaches have limitations: Kimball's star schema is rigid — regulatory changes require costly schema modifications. Inmon's 3NF approach produces complex ETL and slow analytical queries due to many joins.
We identified 5 key challenges: schema rigidity when regulations change, limited audit trails in SCD Type 2, monolithic ETL with no error recovery, no separation of raw data from business rules, and complex query patterns in normalized models.
Data Vault 2.0 addresses all 5 challenges through its hub-satellite-link architecture. Our study has 6 objectives, including building the complete 4-layer pipeline, ETL control framework, performance benchmarks, and two companion documents for reproducibility and verification.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gap is clear: most Data Vault 2.0 studies are theoretical or limited to specific domains. No published study provides an end-to-end DV2 + Medallion implementation for government tax administration.
Our 5 contributions: C1 is the first complete 4-layer implementation with 65 objects and 15 stored procedures. C2 provides integrated ETL control with batch and step-level logging. C3 delivers measurable performance benchmarks. C4 is POC evaluation addressing all 4 challenges with before/after evidence. C5 provides a reproducible Technical Implementation Guide.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theoretical foundation rests on three pillars. First, Linstedt and Olschimke's 2016 Data Vault 2.0 methodology, which defines the hub-satellite-link architecture, hash key generation using SHA-256, and insert-only loading patterns.
Second, Armbrust et al.'s 2021 Medallion Architecture with Bronze, Silver, and Gold layers providing progressive data refinement. We adapted this for SQL Server by mapping Bronze to Raw Vault, Silver to Business Vault, and Gold to Star Schema.
Third, Kimball's 34 ETL subsystems framework guides our control architecture. We combine this with DAMA data quality dimensions and watermark-based incremental loading using the MAX ModifiedDate pattern. Our contribution is integrating all three into a single framework with per-step error isolation.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6 related studies. Yessad and Labiod in 2016 compared Inmon, Kimball, and Data Vault theoretically but had no implementation. Schafer et al. in 2020 implemented DV2 in healthcare but without Medallion Architecture. Giebler et al. in 2021 worked with big data on Hadoop. Vines in 2024 is the most recent using TPC-DS benchmarks.
Our study is the first to combine DV2 + Medallion + ETL Control + Performance Benchmarks in a government tax domain. The key gap: no published end-to-end DV2 + Medallion for government tax administration.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architecture shows complete data flow from source to analytics. TaxSystemDB with 9 tables and 58,813 records, verified in our companion document.
SSIS packages extract through 4 layers: Staging for temporary landing, Bronze Raw Vault with Hubs, Satellites, and Links using SHA-256 hash keys, Silver Business Vault with PIT tables, Bridge tables, and derived rules, Gold Star Schema with SCD Type 2 dimensions and fact tables.
The ETL Control database orchestrates 49 steps with batch logging, step tracking, watermark management, and error handling.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Detailed object breakdown across 4 layers. Staging: 9 tables with full and incremental loading. Bronze: 9 Hubs for business keys, 10 Satellites for descriptive attributes with hash diff change detection, 5 Links for relationships.
Silver: 2 PIT tables for Point-In-Time lookups, 1 Bridge table, 3 Business Vault objects including ComplianceScore. Gold: 6 SCD Type 2 dimensions, 3 fact tables, 2 analytical views.
Total: 65 objects across 4 layers, 49 automated steps orchestrated by ETL Control Framework.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database TaxSystemDB contains 9 tables in 3 categories: 3 lookup tables for categories, structures, and activities; 3 reference tables for taxpayers, owners, and officers; and 3 transaction tables for monthly declarations, annual declarations, and payments.
The data generator script 02_TransactionData.sql produces 1,002 taxpayers across 5 categories, 4 years of data from 2020 to 2023, with 99.8% filing coverage. Total records are 58,813.
This data has been independently verified in our Source Database Verification companion document with a 12-point checklist: 10 foreign keys, 19 CHECK constraints, 37 indexes, zero orphan records across 7 relationships, zero NULLs on 8 critical columns, and unique TaxID verification.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each of our 4 key challenges to concrete POC evidence. Schema Rigidity: adding SAT_Taxpayer_RiskLevel requires zero modifications to existing objects, detailed in our Implementation Scenarios document.
Historical Tracking: Satellites maintain complete insert-only history, no destructive updates. Every change is a new row.
ETL Control: 49-step pipeline in 120.9 seconds with per-step error isolation. If step 23 fails, steps 1-22 are preserved.
Business Rules: Silver layer derived attributes like ComplianceScore are isolated from Bronze raw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ETL benchmarks across 4 layers. Staging: 58,813 records in 10.6s full vs 23.8s incremental. The incremental staging is slower because each of the 9 procedures must query the watermark table, filter by ModifiedDate, and compare against the last successful load timestamp. Full load simply truncates and reloads.
Bronze: 43.3s full vs 39.4s incremental — Bronze is actually faster incrementally because it processes the same record count but benefits from existing hash keys in the target tables for faster NOT EXISTS lookups.
Silver and Gold: nearly identical times (6.3/6.2s and 27.1/24.5s) because PIT tables, Bridge tables, dimensions, and facts are rebuilt completely regardless of load type.
The net result: staging watermark overhead (+13.2s) exceeds Bronze savings (-3.9s), making incremental 6.1s slower overall. This is acceptable because incremental loading is designed for data integrity and auditability, not speed — it ensures only changed records propagate through the pipeline.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key discussion insights. First, Flexibility and Scalability: when we need to add a new attribute like TaxpayerRiskLevel, we only create a new Satellite — verified with 23/23 existing objects unchanged after adding SAT_Taxpayer_RiskLevel and loading 10 risk records.
Second, Materialized Views: we implemented and tested vw_GoldMonthlyRevenue. Baseline: 73ms elapsed. With NOEXPAND indexed view: 34ms — a verified 2.1x speedup. With production-scale data, the improvement would be 4x-6x. We use a hybrid approach combining indexed views with stored procedures for cross-database queries.
Third, Early Arriving Facts: verified with TAX-2026-EARLY test case. Hub created at 06:40:14, Link loaded at 06:40:15, SAT arrived 263 seconds later at 06:44:37 — simple INSERT, no placeholders, no reconciliation, no UPDATE needed.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Scalability from 250 to 5,000 taxpayers shows near-linear scaling. Throughput stabilizes at 2,100-2,200 records per second across all scales.
For production projection: 100,000 taxpayers would take approximately 45 minutes, fitting within a nightly batch window. Linear confidence is high because throughput remains consistent with no performance cliffs.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key discussion insights — all empirically verified on our GCP VM with SSMS screenshot evidence.
First, Flexibility and Scalability: we created SAT_Taxpayer_RiskLevel with RiskLevel, RiskScore, and AssessmentDate columns. After loading 10 risk records, we verified all 23 existing Bronze objects had identical create_date and modify_date — proving zero impact on existing structures. The new Satellite was immediately queryable via LEFT JOIN with existing SAT_Taxpayer.
Second, Materialized Views: we implemented vw_GoldMonthlyRevenue with SCHEMABINDING and a unique clustered index. Baseline complex query measured 73ms elapsed. With the NOEXPAND hint, it dropped to 34ms — a verified 2.1x speedup. This is less than the projected 4-6x because our POC has only 38,491 fact records; with production-scale millions of records, the improvement scales proportionally.
Third, Early Arriving Facts: we tested with TAX-2026-EARLY. Hub was created at 06:40:14 with only the business key and zero Satellites. The Link to Declaration 99999 loaded at 06:40:15 — no Satellite data needed. Then 263 seconds later, the SAT_Taxpayer record arrived as a simple INSERT at 06:44:37. The 4-step chronological timeline proves DV2 handles this naturally — zero placeholders, zero UPDATEs, zero reconciliation. Full evidence in our Implementation Scenarios companion document.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validity threats addressed. Internal: all 49 steps verified with row counts, hash key verification, zero data loss. Benchmarks averaged over 5 runs.
External: simulated data verified with 12-point checklist in companion document. Real-world data would add complexity.
Construct: ETL time, query latency, scalability, and POC assessment are standard DV2 metrics.
Conclusion: fully reproducible via Technical Implementation Guide and SQL scripts in appendices.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achievements: complete 4-layer pipeline with 65 objects and 15 stored procedures processing 336,677 records in 120.9 seconds. Gold queries 1.03x to 8.3x faster than raw Bronze. ETL scales linearly at approximately 2,100 records per second. All 4 challenges addressed with measurable evidence.
Three companion documents submitted: [32] Implementation Scenarios with verified SSMS screenshots for Flexibility (23/23 objects unchanged), Materialized Views (73ms to 34ms, 2.1x speedup), and Early Arriving Facts (263-second Hub-to-SAT delay, zero UPDATEs). [33] Performance Benchmarks Verification with reproducible SQL scripts and 14-point checklist. [34] Source Database Verification with 12-point checklist, all passing.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categories of future work. Short-term: integrate real GDT data, implement RBAC security, add Power BI dashboards. Medium-term: real-time CDC for near-real-time updates, Big Data scaling with columnstore indexes, implement indexed views.
Long-term: multi-source integration with customs and business registration, machine learning for fraud detection, cloud migration to Azure SQL.
Methodological priority: controlled experiment in production GDT environment with real data and user acceptance testing.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 am ready for questions.
Key numbers: 65 objects, 15 stored procedures, 49 ETL steps, 336,677 records in 120.9 seconds, Gold queries 1.03x-8.3x faster, linear scalability at 2,100 records/second, 12 verification checks all passed.
Companion documents submitted: [32] Implementation Scenarios (13 pages, 12 SSMS screenshots, verified results for Flexibility, Materialized Views, Early Arriving Facts), [33] Performance Benchmarks Verification (13 pages, reproducible SQL scripts, 14-point checklist), [34] Source Database Verification (8 pages, 12-point checklist). All SQL scripts and screenshots are independently reproducible on the GCP VM.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45"/>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7E1F0E5C-C0E9-FE42-21BC-2113AA6E0E36}"/>
              </a:ext>
            </a:extLst>
          </p:cNvPr>
          <p:cNvGrpSpPr/>
          <p:nvPr/>
        </p:nvGrpSpPr>
        <p:grpSpPr>
          <a:xfrm>
            <a:off x="0" y="0"/>
            <a:ext cx="9144000" cy="5143500"/>
            <a:chOff x="0" y="0"/>
            <a:chExt cx="9144000" cy="5143500"/>
          </a:xfrm>
        </p:grpSpPr>
        <p:sp>
          <p:nvSpPr>
            <p:cNvPr id="2" name="Shape 0"/>
            <p:cNvSpPr/>
            <p:nvPr/>
          </p:nvSpPr>
          <p:spPr>
            <a:xfrm>
              <a:off x="0" y="0"/>
              <a:ext cx="9144000" cy="73152"/>
            </a:xfrm>
            <a:prstGeom prst="rect">
              <a:avLst/>
            </a:prstGeom>
            <a:solidFill>
              <a:srgbClr val="2A9D8F"/>
            </a:solidFill>
            <a:ln/>
          </p:spPr>
        </p:sp>
        <p:sp>
          <p:nvSpPr>
            <p:cNvPr id="3" name="Shape 1"/>
            <p:cNvSpPr/>
            <p:nvPr/>
          </p:nvSpPr>
          <p:spPr>
            <a:xfrm>
              <a:off x="0" y="5070348"/>
              <a:ext cx="9144000" cy="73152"/>
            </a:xfrm>
            <a:prstGeom prst="rect">
              <a:avLst/>
            </a:prstGeom>
            <a:solidFill>
              <a:srgbClr val="2A9D8F"/>
            </a:solidFill>
            <a:ln/>
          </p:spPr>
        </p:sp>
        <p:sp>
          <p:nvSpPr>
            <p:cNvPr id="4" name="Text 2"/>
            <p:cNvSpPr/>
            <p:nvPr/>
          </p:nvSpPr>
          <p:spPr>
            <a:xfrm>
              <a:off x="457200" y="457200"/>
              <a:ext cx="8229600" cy="365760"/>
            </a:xfrm>
            <a:prstGeom prst="rect">
              <a:avLst/>
            </a:prstGeom>
            <a:noFill/>
            <a:ln/>
          </p:spPr>
          <p:txBody>
            <a:bodyPr wrap="square" rtlCol="0" anchor="ctr"/>
            <a:lstStyle/>
            <a:p>
              <a:pPr marL="0" indent="0" algn="ctr">
                <a:buNone/>
              </a:pPr>
              <a:r>
                <a:rPr lang="en-US" sz="1300" kern="0" spc="400" dirty="0">
                  <a:solidFill>
                    <a:srgbClr val="48BFA7"/>
                  </a:solidFill>
                  <a:latin typeface="Arial" pitchFamily="34" charset="0"/>
                  <a:ea typeface="Arial" pitchFamily="34" charset="-122"/>
                  <a:cs typeface="Arial" pitchFamily="34" charset="-120"/>
                </a:rPr>
                <a:t>ROYAL UNIVERSITY OF PHNOM PENH</a:t>
              </a:r>
              <a:endParaRPr lang="en-US" sz="1300" dirty="0"/>
            </a:p>
          </p:txBody>
        </p:sp>
        <p:sp>
          <p:nvSpPr>
            <p:cNvPr id="5" name="Text 3"/>
            <p:cNvSpPr/>
            <p:nvPr/>
          </p:nvSpPr>
          <p:spPr>
            <a:xfrm>
              <a:off x="457200" y="822960"/>
              <a:ext cx="8229600" cy="274320"/>
            </a:xfrm>
            <a:prstGeom prst="rect">
              <a:avLst/>
            </a:prstGeom>
            <a:noFill/>
            <a:ln/>
          </p:spPr>
          <p:txBody>
            <a:bodyPr wrap="square" rtlCol="0" anchor="ctr"/>
            <a:lstStyle/>
            <a:p>
              <a:pPr marL="0" indent="0" algn="ctr">
                <a:buNone/>
              </a:pPr>
              <a:r>
                <a:rPr lang="en-US" sz="1200" dirty="0">
                  <a:solidFill>
                    <a:srgbClr val="64748B"/>
                  </a:solidFill>
                </a:rPr>
                <a:t>Faculty of Engineering</a:t>
              </a:r>
              <a:endParaRPr lang="en-US" sz="1200" dirty="0"/>
            </a:p>
          </p:txBody>
        </p:sp>
        <p:pic>
          <p:nvPicPr>
            <p:cNvPr id="6" name="Image 0" descr="preencoded.png"/>
            <p:cNvPicPr>
              <a:picLocks noChangeAspect="1"/>
            </p:cNvPicPr>
            <p:nvPr/>
          </p:nvPicPr>
          <p:blipFill>
            <a:blip r:embed="rId3"/>
            <a:stretch>
              <a:fillRect/>
            </a:stretch>
          </p:blipFill>
          <p:spPr>
            <a:xfrm>
              <a:off x="4114800" y="1280160"/>
              <a:ext cx="914400" cy="914400"/>
            </a:xfrm>
            <a:prstGeom prst="rect">
              <a:avLst/>
            </a:prstGeom>
          </p:spPr>
        </p:pic>
        <p:sp>
          <p:nvSpPr>
            <p:cNvPr id="7" name="Text 4"/>
            <p:cNvSpPr/>
            <p:nvPr/>
          </p:nvSpPr>
          <p:spPr>
            <a:xfrm>
              <a:off x="731520" y="2286000"/>
              <a:ext cx="7680960" cy="1371600"/>
            </a:xfrm>
            <a:prstGeom prst="rect">
              <a:avLst/>
            </a:prstGeom>
            <a:noFill/>
            <a:ln/>
          </p:spPr>
          <p:txBody>
            <a:bodyPr wrap="square" rtlCol="0" anchor="ctr"/>
            <a:lstStyle/>
            <a:p>
              <a:pPr marL="0" indent="0" algn="ctr">
                <a:lnSpc>
                  <a:spcPct val="130000"/>
                </a:lnSpc>
                <a:buNone/>
              </a:pPr>
              <a:r>
                <a:rPr lang="en-US" sz="2200" b="1" dirty="0">
                  <a:solidFill>
                    <a:srgbClr val="FFFFFF"/>
                  </a:solidFill>
                  <a:latin typeface="Georgia" pitchFamily="34" charset="0"/>
                  <a:ea typeface="Georgia" pitchFamily="34" charset="-122"/>
                  <a:cs typeface="Georgia" pitchFamily="34" charset="-120"/>
                </a:rPr>
                <a:t>Data Vault 2.0 Implementation for</a:t>
              </a:r>
              <a:endParaRPr lang="en-US" sz="2200" dirty="0"/>
            </a:p>
            <a:p>
              <a:pPr marL="0" indent="0" algn="ctr">
                <a:lnSpc>
                  <a:spcPct val="130000"/>
                </a:lnSpc>
                <a:buNone/>
              </a:pPr>
              <a:r>
                <a:rPr lang="en-US" sz="2200" b="1" dirty="0">
                  <a:solidFill>
                    <a:srgbClr val="FFFFFF"/>
                  </a:solidFill>
                  <a:latin typeface="Georgia" pitchFamily="34" charset="0"/>
                  <a:ea typeface="Georgia" pitchFamily="34" charset="-122"/>
                  <a:cs typeface="Georgia" pitchFamily="34" charset="-120"/>
                </a:rPr>
                <a:t>Cambodia Tax System Data Warehouse</a:t>
              </a:r>
              <a:endParaRPr lang="en-US" sz="2200" dirty="0"/>
            </a:p>
            <a:p>
              <a:pPr marL="0" indent="0" algn="ctr">
                <a:lnSpc>
                  <a:spcPct val="130000"/>
                </a:lnSpc>
                <a:buNone/>
              </a:pPr>
              <a:r>
                <a:rPr lang="en-US" sz="2200" b="1" dirty="0">
                  <a:solidFill>
                    <a:srgbClr val="FFFFFF"/>
                  </a:solidFill>
                  <a:latin typeface="Georgia" pitchFamily="34" charset="0"/>
                  <a:ea typeface="Georgia" pitchFamily="34" charset="-122"/>
                  <a:cs typeface="Georgia" pitchFamily="34" charset="-120"/>
                </a:rPr>
                <a:t>Using Medallion Architecture</a:t>
              </a:r>
              <a:endParaRPr lang="en-US" sz="2200" dirty="0"/>
            </a:p>
          </p:txBody>
        </p:sp>
        <p:sp>
          <p:nvSpPr>
            <p:cNvPr id="8" name="Text 5"/>
            <p:cNvSpPr/>
            <p:nvPr/>
          </p:nvSpPr>
          <p:spPr>
            <a:xfrm>
              <a:off x="914400" y="3749040"/>
              <a:ext cx="7315200" cy="274320"/>
            </a:xfrm>
            <a:prstGeom prst="rect">
              <a:avLst/>
            </a:prstGeom>
            <a:noFill/>
            <a:ln/>
          </p:spPr>
          <p:txBody>
            <a:bodyPr wrap="square" rtlCol="0" anchor="ctr"/>
            <a:lstStyle/>
            <a:p>
              <a:pPr marL="0" indent="0" algn="ctr">
                <a:buNone/>
              </a:pPr>
              <a:r>
                <a:rPr lang="en-US" sz="1100" dirty="0">
                  <a:solidFill>
                    <a:srgbClr val="2A9D8F"/>
                  </a:solidFill>
                </a:rPr>
                <a:t>A Final Report — Master of Engineering in Data Science and Engineering</a:t>
              </a:r>
              <a:endParaRPr lang="en-US" sz="1100" dirty="0"/>
            </a:p>
          </p:txBody>
        </p:sp>
        <p:sp>
          <p:nvSpPr>
            <p:cNvPr id="9" name="Text 6"/>
            <p:cNvSpPr/>
            <p:nvPr/>
          </p:nvSpPr>
          <p:spPr>
            <a:xfrm>
              <a:off x="914400" y="4160520"/>
              <a:ext cx="3657600" cy="274320"/>
            </a:xfrm>
            <a:prstGeom prst="rect">
              <a:avLst/>
            </a:prstGeom>
            <a:noFill/>
            <a:ln/>
          </p:spPr>
          <p:txBody>
            <a:bodyPr wrap="square" rtlCol="0" anchor="ctr"/>
            <a:lstStyle/>
            <a:p>
              <a:pPr marL="0" indent="0" algn="ctr">
                <a:buNone/>
              </a:pPr>
              <a:r>
                <a:rPr lang="en-US" sz="1300" b="1" dirty="0">
                  <a:solidFill>
                    <a:srgbClr val="FFFFFF"/>
                  </a:solidFill>
                </a:rPr>
                <a:t>Mr. Sot So</a:t>
              </a:r>
              <a:endParaRPr lang="en-US" sz="1300" dirty="0"/>
            </a:p>
          </p:txBody>
        </p:sp>
        <p:sp>
          <p:nvSpPr>
            <p:cNvPr id="10" name="Text 7"/>
            <p:cNvSpPr/>
            <p:nvPr/>
          </p:nvSpPr>
          <p:spPr>
            <a:xfrm>
              <a:off x="4572000" y="4160520"/>
              <a:ext cx="3657600" cy="274320"/>
            </a:xfrm>
            <a:prstGeom prst="rect">
              <a:avLst/>
            </a:prstGeom>
            <a:noFill/>
            <a:ln/>
          </p:spPr>
          <p:txBody>
            <a:bodyPr wrap="square" rtlCol="0" anchor="ctr"/>
            <a:lstStyle/>
            <a:p>
              <a:pPr marL="0" indent="0" algn="ctr">
                <a:buNone/>
              </a:pPr>
              <a:r>
                <a:rPr lang="en-US" sz="1300" dirty="0">
                  <a:solidFill>
                    <a:srgbClr val="FFFFFF"/>
                  </a:solidFill>
                </a:rPr>
                <a:t>Supervisor: Mr. Chap Chanpiseth</a:t>
              </a:r>
              <a:endParaRPr lang="en-US" sz="1300" dirty="0"/>
            </a:p>
          </p:txBody>
        </p:sp>
        <p:sp>
          <p:nvSpPr>
            <p:cNvPr id="11" name="Text 8"/>
            <p:cNvSpPr/>
            <p:nvPr/>
          </p:nvSpPr>
          <p:spPr>
            <a:xfrm>
              <a:off x="457200" y="4617720"/>
              <a:ext cx="8229600" cy="274320"/>
            </a:xfrm>
            <a:prstGeom prst="rect">
              <a:avLst/>
            </a:prstGeom>
            <a:noFill/>
            <a:ln/>
          </p:spPr>
          <p:txBody>
            <a:bodyPr wrap="square" rtlCol="0" anchor="ctr"/>
            <a:lstStyle/>
            <a:p>
              <a:pPr marL="0" indent="0" algn="ctr">
                <a:buNone/>
              </a:pPr>
              <a:r>
                <a:rPr lang="en-US" sz="1100" dirty="0">
                  <a:solidFill>
                    <a:srgbClr val="64748B"/>
                  </a:solidFill>
                </a:rPr>
                <a:t>February 2026</a:t>
              </a:r>
              <a:endParaRPr lang="en-US" sz="1100"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A"/>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12315D7E-8B0A-C5FA-5467-65B8CF90FAC5}"/>
              </a:ext>
            </a:extLst>
          </p:cNvPr>
          <p:cNvGrpSpPr/>
          <p:nvPr/>
        </p:nvGrpSpPr>
        <p:grpSpPr>
          <a:xfrm>
            <a:off x="0" y="0"/>
            <a:ext cx="8961120" cy="5143500"/>
            <a:chOff x="0" y="0"/>
            <a:chExt cx="8961120" cy="5143500"/>
          </a:xfrm>
        </p:grpSpPr>
        <p:sp>
          <p:nvSpPr>
            <p:cNvPr id="2" name="Shape 0"/>
            <p:cNvSpPr/>
            <p:nvPr/>
          </p:nvSpPr>
          <p:spPr>
            <a:xfrm>
              <a:off x="0" y="0"/>
              <a:ext cx="54864" cy="5143500"/>
            </a:xfrm>
            <a:prstGeom prst="rect">
              <a:avLst/>
            </a:prstGeom>
            <a:solidFill>
              <a:srgbClr val="2A9D8F"/>
            </a:solidFill>
            <a:ln/>
          </p:spPr>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2 / 18</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Outline</a:t>
              </a:r>
              <a:endParaRPr lang="en-US" sz="2200" dirty="0"/>
            </a:p>
          </p:txBody>
        </p:sp>
        <p:sp>
          <p:nvSpPr>
            <p:cNvPr id="5" name="Shape 3"/>
            <p:cNvSpPr/>
            <p:nvPr/>
          </p:nvSpPr>
          <p:spPr>
            <a:xfrm>
              <a:off x="457200" y="731520"/>
              <a:ext cx="1097280" cy="36576"/>
            </a:xfrm>
            <a:prstGeom prst="rect">
              <a:avLst/>
            </a:prstGeom>
            <a:solidFill>
              <a:srgbClr val="2A9D8F"/>
            </a:solidFill>
            <a:ln/>
          </p:spPr>
        </p:sp>
        <p:sp>
          <p:nvSpPr>
            <p:cNvPr id="6" name="Shape 4"/>
            <p:cNvSpPr/>
            <p:nvPr/>
          </p:nvSpPr>
          <p:spPr>
            <a:xfrm>
              <a:off x="457200" y="1005840"/>
              <a:ext cx="8229600" cy="548640"/>
            </a:xfrm>
            <a:prstGeom prst="rect">
              <a:avLst/>
            </a:prstGeom>
            <a:solidFill>
              <a:srgbClr val="E8F4F2"/>
            </a:solidFill>
            <a:ln/>
            <a:effectLst>
              <a:outerShdw blurRad="50800" dist="25400" dir="8100000" algn="bl" rotWithShape="0">
                <a:srgbClr val="000000">
                  <a:alpha val="10000"/>
                </a:srgbClr>
              </a:outerShdw>
            </a:effectLst>
          </p:spPr>
        </p:sp>
        <p:sp>
          <p:nvSpPr>
            <p:cNvPr id="7" name="Text 5"/>
            <p:cNvSpPr/>
            <p:nvPr/>
          </p:nvSpPr>
          <p:spPr>
            <a:xfrm>
              <a:off x="548640" y="1005840"/>
              <a:ext cx="640080" cy="548640"/>
            </a:xfrm>
            <a:prstGeom prst="rect">
              <a:avLst/>
            </a:prstGeom>
            <a:noFill/>
            <a:ln/>
          </p:spPr>
          <p:txBody>
            <a:bodyPr wrap="square" rtlCol="0" anchor="ctr"/>
            <a:lstStyle/>
            <a:p>
              <a:pPr marL="0" indent="0">
                <a:buNone/>
              </a:pPr>
              <a:r>
                <a:rPr lang="en-US" sz="1300" b="1" dirty="0">
                  <a:solidFill>
                    <a:srgbClr val="2A9D8F"/>
                  </a:solidFill>
                  <a:latin typeface="Georgia" pitchFamily="34" charset="0"/>
                  <a:ea typeface="Georgia" pitchFamily="34" charset="-122"/>
                  <a:cs typeface="Georgia" pitchFamily="34" charset="-120"/>
                </a:rPr>
                <a:t>Ch 1</a:t>
              </a:r>
              <a:endParaRPr lang="en-US" sz="1300" dirty="0"/>
            </a:p>
          </p:txBody>
        </p:sp>
        <p:sp>
          <p:nvSpPr>
            <p:cNvPr id="8" name="Text 6"/>
            <p:cNvSpPr/>
            <p:nvPr/>
          </p:nvSpPr>
          <p:spPr>
            <a:xfrm>
              <a:off x="1280160" y="1005840"/>
              <a:ext cx="2011680" cy="548640"/>
            </a:xfrm>
            <a:prstGeom prst="rect">
              <a:avLst/>
            </a:prstGeom>
            <a:noFill/>
            <a:ln/>
          </p:spPr>
          <p:txBody>
            <a:bodyPr wrap="square" rtlCol="0" anchor="ctr"/>
            <a:lstStyle/>
            <a:p>
              <a:pPr marL="0" indent="0">
                <a:buNone/>
              </a:pPr>
              <a:r>
                <a:rPr lang="en-US" sz="1200" b="1" dirty="0">
                  <a:solidFill>
                    <a:srgbClr val="1B3A5C"/>
                  </a:solidFill>
                </a:rPr>
                <a:t>Introduction</a:t>
              </a:r>
              <a:endParaRPr lang="en-US" sz="1200" dirty="0"/>
            </a:p>
          </p:txBody>
        </p:sp>
        <p:sp>
          <p:nvSpPr>
            <p:cNvPr id="9" name="Text 7"/>
            <p:cNvSpPr/>
            <p:nvPr/>
          </p:nvSpPr>
          <p:spPr>
            <a:xfrm>
              <a:off x="3383280" y="1005840"/>
              <a:ext cx="5120640" cy="548640"/>
            </a:xfrm>
            <a:prstGeom prst="rect">
              <a:avLst/>
            </a:prstGeom>
            <a:noFill/>
            <a:ln/>
          </p:spPr>
          <p:txBody>
            <a:bodyPr wrap="square" rtlCol="0" anchor="ctr"/>
            <a:lstStyle/>
            <a:p>
              <a:pPr marL="0" indent="0">
                <a:buNone/>
              </a:pPr>
              <a:r>
                <a:rPr lang="en-US" sz="1050" dirty="0">
                  <a:solidFill>
                    <a:srgbClr val="64748B"/>
                  </a:solidFill>
                </a:rPr>
                <a:t>Background, Problem, Objectives, Contributions</a:t>
              </a:r>
              <a:endParaRPr lang="en-US" sz="1050" dirty="0"/>
            </a:p>
          </p:txBody>
        </p:sp>
        <p:sp>
          <p:nvSpPr>
            <p:cNvPr id="10" name="Shape 8"/>
            <p:cNvSpPr/>
            <p:nvPr/>
          </p:nvSpPr>
          <p:spPr>
            <a:xfrm>
              <a:off x="457200" y="1645920"/>
              <a:ext cx="8229600" cy="548640"/>
            </a:xfrm>
            <a:prstGeom prst="rect">
              <a:avLst/>
            </a:prstGeom>
            <a:solidFill>
              <a:srgbClr val="FFFFFF"/>
            </a:solidFill>
            <a:ln/>
            <a:effectLst>
              <a:outerShdw blurRad="50800" dist="25400" dir="8100000" algn="bl" rotWithShape="0">
                <a:srgbClr val="000000">
                  <a:alpha val="10000"/>
                </a:srgbClr>
              </a:outerShdw>
            </a:effectLst>
          </p:spPr>
        </p:sp>
        <p:sp>
          <p:nvSpPr>
            <p:cNvPr id="11" name="Text 9"/>
            <p:cNvSpPr/>
            <p:nvPr/>
          </p:nvSpPr>
          <p:spPr>
            <a:xfrm>
              <a:off x="548640" y="1645920"/>
              <a:ext cx="640080" cy="548640"/>
            </a:xfrm>
            <a:prstGeom prst="rect">
              <a:avLst/>
            </a:prstGeom>
            <a:noFill/>
            <a:ln/>
          </p:spPr>
          <p:txBody>
            <a:bodyPr wrap="square" rtlCol="0" anchor="ctr"/>
            <a:lstStyle/>
            <a:p>
              <a:pPr marL="0" indent="0">
                <a:buNone/>
              </a:pPr>
              <a:r>
                <a:rPr lang="en-US" sz="1300" b="1" dirty="0">
                  <a:solidFill>
                    <a:srgbClr val="2A9D8F"/>
                  </a:solidFill>
                  <a:latin typeface="Georgia" pitchFamily="34" charset="0"/>
                  <a:ea typeface="Georgia" pitchFamily="34" charset="-122"/>
                  <a:cs typeface="Georgia" pitchFamily="34" charset="-120"/>
                </a:rPr>
                <a:t>Ch 2</a:t>
              </a:r>
              <a:endParaRPr lang="en-US" sz="1300" dirty="0"/>
            </a:p>
          </p:txBody>
        </p:sp>
        <p:sp>
          <p:nvSpPr>
            <p:cNvPr id="12" name="Text 10"/>
            <p:cNvSpPr/>
            <p:nvPr/>
          </p:nvSpPr>
          <p:spPr>
            <a:xfrm>
              <a:off x="1280160" y="1645920"/>
              <a:ext cx="2011680" cy="548640"/>
            </a:xfrm>
            <a:prstGeom prst="rect">
              <a:avLst/>
            </a:prstGeom>
            <a:noFill/>
            <a:ln/>
          </p:spPr>
          <p:txBody>
            <a:bodyPr wrap="square" rtlCol="0" anchor="ctr"/>
            <a:lstStyle/>
            <a:p>
              <a:pPr marL="0" indent="0">
                <a:buNone/>
              </a:pPr>
              <a:r>
                <a:rPr lang="en-US" sz="1200" b="1" dirty="0">
                  <a:solidFill>
                    <a:srgbClr val="1B3A5C"/>
                  </a:solidFill>
                </a:rPr>
                <a:t>Literature Review</a:t>
              </a:r>
              <a:endParaRPr lang="en-US" sz="1200" dirty="0"/>
            </a:p>
          </p:txBody>
        </p:sp>
        <p:sp>
          <p:nvSpPr>
            <p:cNvPr id="13" name="Text 11"/>
            <p:cNvSpPr/>
            <p:nvPr/>
          </p:nvSpPr>
          <p:spPr>
            <a:xfrm>
              <a:off x="3383280" y="1645920"/>
              <a:ext cx="5120640" cy="548640"/>
            </a:xfrm>
            <a:prstGeom prst="rect">
              <a:avLst/>
            </a:prstGeom>
            <a:noFill/>
            <a:ln/>
          </p:spPr>
          <p:txBody>
            <a:bodyPr wrap="square" rtlCol="0" anchor="ctr"/>
            <a:lstStyle/>
            <a:p>
              <a:pPr marL="0" indent="0">
                <a:buNone/>
              </a:pPr>
              <a:r>
                <a:rPr lang="en-US" sz="1050" dirty="0">
                  <a:solidFill>
                    <a:srgbClr val="64748B"/>
                  </a:solidFill>
                </a:rPr>
                <a:t>DV2, Medallion, Big Data, ETL, Related Work</a:t>
              </a:r>
              <a:endParaRPr lang="en-US" sz="1050" dirty="0"/>
            </a:p>
          </p:txBody>
        </p:sp>
        <p:sp>
          <p:nvSpPr>
            <p:cNvPr id="14" name="Shape 12"/>
            <p:cNvSpPr/>
            <p:nvPr/>
          </p:nvSpPr>
          <p:spPr>
            <a:xfrm>
              <a:off x="457200" y="2286000"/>
              <a:ext cx="8229600" cy="548640"/>
            </a:xfrm>
            <a:prstGeom prst="rect">
              <a:avLst/>
            </a:prstGeom>
            <a:solidFill>
              <a:srgbClr val="E8F4F2"/>
            </a:solidFill>
            <a:ln/>
            <a:effectLst>
              <a:outerShdw blurRad="50800" dist="25400" dir="8100000" algn="bl" rotWithShape="0">
                <a:srgbClr val="000000">
                  <a:alpha val="10000"/>
                </a:srgbClr>
              </a:outerShdw>
            </a:effectLst>
          </p:spPr>
        </p:sp>
        <p:sp>
          <p:nvSpPr>
            <p:cNvPr id="15" name="Text 13"/>
            <p:cNvSpPr/>
            <p:nvPr/>
          </p:nvSpPr>
          <p:spPr>
            <a:xfrm>
              <a:off x="548640" y="2286000"/>
              <a:ext cx="640080" cy="548640"/>
            </a:xfrm>
            <a:prstGeom prst="rect">
              <a:avLst/>
            </a:prstGeom>
            <a:noFill/>
            <a:ln/>
          </p:spPr>
          <p:txBody>
            <a:bodyPr wrap="square" rtlCol="0" anchor="ctr"/>
            <a:lstStyle/>
            <a:p>
              <a:pPr marL="0" indent="0">
                <a:buNone/>
              </a:pPr>
              <a:r>
                <a:rPr lang="en-US" sz="1300" b="1" dirty="0">
                  <a:solidFill>
                    <a:srgbClr val="2A9D8F"/>
                  </a:solidFill>
                  <a:latin typeface="Georgia" pitchFamily="34" charset="0"/>
                  <a:ea typeface="Georgia" pitchFamily="34" charset="-122"/>
                  <a:cs typeface="Georgia" pitchFamily="34" charset="-120"/>
                </a:rPr>
                <a:t>Ch 3</a:t>
              </a:r>
              <a:endParaRPr lang="en-US" sz="1300" dirty="0"/>
            </a:p>
          </p:txBody>
        </p:sp>
        <p:sp>
          <p:nvSpPr>
            <p:cNvPr id="16" name="Text 14"/>
            <p:cNvSpPr/>
            <p:nvPr/>
          </p:nvSpPr>
          <p:spPr>
            <a:xfrm>
              <a:off x="1280160" y="2286000"/>
              <a:ext cx="2011680" cy="548640"/>
            </a:xfrm>
            <a:prstGeom prst="rect">
              <a:avLst/>
            </a:prstGeom>
            <a:noFill/>
            <a:ln/>
          </p:spPr>
          <p:txBody>
            <a:bodyPr wrap="square" rtlCol="0" anchor="ctr"/>
            <a:lstStyle/>
            <a:p>
              <a:pPr marL="0" indent="0">
                <a:buNone/>
              </a:pPr>
              <a:r>
                <a:rPr lang="en-US" sz="1200" b="1" dirty="0">
                  <a:solidFill>
                    <a:srgbClr val="1B3A5C"/>
                  </a:solidFill>
                </a:rPr>
                <a:t>Methodology</a:t>
              </a:r>
              <a:endParaRPr lang="en-US" sz="1200" dirty="0"/>
            </a:p>
          </p:txBody>
        </p:sp>
        <p:sp>
          <p:nvSpPr>
            <p:cNvPr id="17" name="Text 15"/>
            <p:cNvSpPr/>
            <p:nvPr/>
          </p:nvSpPr>
          <p:spPr>
            <a:xfrm>
              <a:off x="3383280" y="2286000"/>
              <a:ext cx="5120640" cy="548640"/>
            </a:xfrm>
            <a:prstGeom prst="rect">
              <a:avLst/>
            </a:prstGeom>
            <a:noFill/>
            <a:ln/>
          </p:spPr>
          <p:txBody>
            <a:bodyPr wrap="square" rtlCol="0" anchor="ctr"/>
            <a:lstStyle/>
            <a:p>
              <a:pPr marL="0" indent="0">
                <a:buNone/>
              </a:pPr>
              <a:r>
                <a:rPr lang="en-US" sz="1050" dirty="0">
                  <a:solidFill>
                    <a:srgbClr val="64748B"/>
                  </a:solidFill>
                </a:rPr>
                <a:t>System Architecture, Source Design, ETL Control</a:t>
              </a:r>
              <a:endParaRPr lang="en-US" sz="1050" dirty="0"/>
            </a:p>
          </p:txBody>
        </p:sp>
        <p:sp>
          <p:nvSpPr>
            <p:cNvPr id="18" name="Shape 16"/>
            <p:cNvSpPr/>
            <p:nvPr/>
          </p:nvSpPr>
          <p:spPr>
            <a:xfrm>
              <a:off x="457200" y="2926080"/>
              <a:ext cx="8229600" cy="548640"/>
            </a:xfrm>
            <a:prstGeom prst="rect">
              <a:avLst/>
            </a:prstGeom>
            <a:solidFill>
              <a:srgbClr val="FFFFFF"/>
            </a:solidFill>
            <a:ln/>
            <a:effectLst>
              <a:outerShdw blurRad="50800" dist="25400" dir="8100000" algn="bl" rotWithShape="0">
                <a:srgbClr val="000000">
                  <a:alpha val="10000"/>
                </a:srgbClr>
              </a:outerShdw>
            </a:effectLst>
          </p:spPr>
        </p:sp>
        <p:sp>
          <p:nvSpPr>
            <p:cNvPr id="19" name="Text 17"/>
            <p:cNvSpPr/>
            <p:nvPr/>
          </p:nvSpPr>
          <p:spPr>
            <a:xfrm>
              <a:off x="548640" y="2926080"/>
              <a:ext cx="640080" cy="548640"/>
            </a:xfrm>
            <a:prstGeom prst="rect">
              <a:avLst/>
            </a:prstGeom>
            <a:noFill/>
            <a:ln/>
          </p:spPr>
          <p:txBody>
            <a:bodyPr wrap="square" rtlCol="0" anchor="ctr"/>
            <a:lstStyle/>
            <a:p>
              <a:pPr marL="0" indent="0">
                <a:buNone/>
              </a:pPr>
              <a:r>
                <a:rPr lang="en-US" sz="1300" b="1" dirty="0">
                  <a:solidFill>
                    <a:srgbClr val="2A9D8F"/>
                  </a:solidFill>
                  <a:latin typeface="Georgia" pitchFamily="34" charset="0"/>
                  <a:ea typeface="Georgia" pitchFamily="34" charset="-122"/>
                  <a:cs typeface="Georgia" pitchFamily="34" charset="-120"/>
                </a:rPr>
                <a:t>Ch 4</a:t>
              </a:r>
              <a:endParaRPr lang="en-US" sz="1300" dirty="0"/>
            </a:p>
          </p:txBody>
        </p:sp>
        <p:sp>
          <p:nvSpPr>
            <p:cNvPr id="20" name="Text 18"/>
            <p:cNvSpPr/>
            <p:nvPr/>
          </p:nvSpPr>
          <p:spPr>
            <a:xfrm>
              <a:off x="1280160" y="2926080"/>
              <a:ext cx="2011680" cy="548640"/>
            </a:xfrm>
            <a:prstGeom prst="rect">
              <a:avLst/>
            </a:prstGeom>
            <a:noFill/>
            <a:ln/>
          </p:spPr>
          <p:txBody>
            <a:bodyPr wrap="square" rtlCol="0" anchor="ctr"/>
            <a:lstStyle/>
            <a:p>
              <a:pPr marL="0" indent="0">
                <a:buNone/>
              </a:pPr>
              <a:r>
                <a:rPr lang="en-US" sz="1200" b="1" dirty="0">
                  <a:solidFill>
                    <a:srgbClr val="1B3A5C"/>
                  </a:solidFill>
                </a:rPr>
                <a:t>Implementation</a:t>
              </a:r>
              <a:endParaRPr lang="en-US" sz="1200" dirty="0"/>
            </a:p>
          </p:txBody>
        </p:sp>
        <p:sp>
          <p:nvSpPr>
            <p:cNvPr id="21" name="Text 19"/>
            <p:cNvSpPr/>
            <p:nvPr/>
          </p:nvSpPr>
          <p:spPr>
            <a:xfrm>
              <a:off x="3383280" y="2926080"/>
              <a:ext cx="5120640" cy="548640"/>
            </a:xfrm>
            <a:prstGeom prst="rect">
              <a:avLst/>
            </a:prstGeom>
            <a:noFill/>
            <a:ln/>
          </p:spPr>
          <p:txBody>
            <a:bodyPr wrap="square" rtlCol="0" anchor="ctr"/>
            <a:lstStyle/>
            <a:p>
              <a:pPr marL="0" indent="0">
                <a:buNone/>
              </a:pPr>
              <a:r>
                <a:rPr lang="en-US" sz="1050" dirty="0">
                  <a:solidFill>
                    <a:srgbClr val="64748B"/>
                  </a:solidFill>
                </a:rPr>
                <a:t>Staging → Bronze → Silver → Gold Pipeline</a:t>
              </a:r>
              <a:endParaRPr lang="en-US" sz="1050" dirty="0"/>
            </a:p>
          </p:txBody>
        </p:sp>
        <p:sp>
          <p:nvSpPr>
            <p:cNvPr id="22" name="Shape 20"/>
            <p:cNvSpPr/>
            <p:nvPr/>
          </p:nvSpPr>
          <p:spPr>
            <a:xfrm>
              <a:off x="457200" y="3566160"/>
              <a:ext cx="8229600" cy="548640"/>
            </a:xfrm>
            <a:prstGeom prst="rect">
              <a:avLst/>
            </a:prstGeom>
            <a:solidFill>
              <a:srgbClr val="E8F4F2"/>
            </a:solidFill>
            <a:ln/>
            <a:effectLst>
              <a:outerShdw blurRad="50800" dist="25400" dir="8100000" algn="bl" rotWithShape="0">
                <a:srgbClr val="000000">
                  <a:alpha val="10000"/>
                </a:srgbClr>
              </a:outerShdw>
            </a:effectLst>
          </p:spPr>
        </p:sp>
        <p:sp>
          <p:nvSpPr>
            <p:cNvPr id="23" name="Text 21"/>
            <p:cNvSpPr/>
            <p:nvPr/>
          </p:nvSpPr>
          <p:spPr>
            <a:xfrm>
              <a:off x="548640" y="3566160"/>
              <a:ext cx="640080" cy="548640"/>
            </a:xfrm>
            <a:prstGeom prst="rect">
              <a:avLst/>
            </a:prstGeom>
            <a:noFill/>
            <a:ln/>
          </p:spPr>
          <p:txBody>
            <a:bodyPr wrap="square" rtlCol="0" anchor="ctr"/>
            <a:lstStyle/>
            <a:p>
              <a:pPr marL="0" indent="0">
                <a:buNone/>
              </a:pPr>
              <a:r>
                <a:rPr lang="en-US" sz="1300" b="1" dirty="0">
                  <a:solidFill>
                    <a:srgbClr val="2A9D8F"/>
                  </a:solidFill>
                  <a:latin typeface="Georgia" pitchFamily="34" charset="0"/>
                  <a:ea typeface="Georgia" pitchFamily="34" charset="-122"/>
                  <a:cs typeface="Georgia" pitchFamily="34" charset="-120"/>
                </a:rPr>
                <a:t>Ch 5</a:t>
              </a:r>
              <a:endParaRPr lang="en-US" sz="1300" dirty="0"/>
            </a:p>
          </p:txBody>
        </p:sp>
        <p:sp>
          <p:nvSpPr>
            <p:cNvPr id="24" name="Text 22"/>
            <p:cNvSpPr/>
            <p:nvPr/>
          </p:nvSpPr>
          <p:spPr>
            <a:xfrm>
              <a:off x="1280160" y="3566160"/>
              <a:ext cx="2011680" cy="548640"/>
            </a:xfrm>
            <a:prstGeom prst="rect">
              <a:avLst/>
            </a:prstGeom>
            <a:noFill/>
            <a:ln/>
          </p:spPr>
          <p:txBody>
            <a:bodyPr wrap="square" rtlCol="0" anchor="ctr"/>
            <a:lstStyle/>
            <a:p>
              <a:pPr marL="0" indent="0">
                <a:buNone/>
              </a:pPr>
              <a:r>
                <a:rPr lang="en-US" sz="1200" b="1" dirty="0">
                  <a:solidFill>
                    <a:srgbClr val="1B3A5C"/>
                  </a:solidFill>
                </a:rPr>
                <a:t>Results &amp; Discussion</a:t>
              </a:r>
              <a:endParaRPr lang="en-US" sz="1200" dirty="0"/>
            </a:p>
          </p:txBody>
        </p:sp>
        <p:sp>
          <p:nvSpPr>
            <p:cNvPr id="25" name="Text 23"/>
            <p:cNvSpPr/>
            <p:nvPr/>
          </p:nvSpPr>
          <p:spPr>
            <a:xfrm>
              <a:off x="3383280" y="3566160"/>
              <a:ext cx="5120640" cy="548640"/>
            </a:xfrm>
            <a:prstGeom prst="rect">
              <a:avLst/>
            </a:prstGeom>
            <a:noFill/>
            <a:ln/>
          </p:spPr>
          <p:txBody>
            <a:bodyPr wrap="square" rtlCol="0" anchor="ctr"/>
            <a:lstStyle/>
            <a:p>
              <a:pPr marL="0" indent="0">
                <a:buNone/>
              </a:pPr>
              <a:r>
                <a:rPr lang="en-US" sz="1050" dirty="0">
                  <a:solidFill>
                    <a:srgbClr val="64748B"/>
                  </a:solidFill>
                </a:rPr>
                <a:t>Benchmarks, POC Evidence, Key Insights</a:t>
              </a:r>
              <a:endParaRPr lang="en-US" sz="1050" dirty="0"/>
            </a:p>
          </p:txBody>
        </p:sp>
        <p:sp>
          <p:nvSpPr>
            <p:cNvPr id="26" name="Shape 24"/>
            <p:cNvSpPr/>
            <p:nvPr/>
          </p:nvSpPr>
          <p:spPr>
            <a:xfrm>
              <a:off x="457200" y="4206240"/>
              <a:ext cx="8229600" cy="548640"/>
            </a:xfrm>
            <a:prstGeom prst="rect">
              <a:avLst/>
            </a:prstGeom>
            <a:solidFill>
              <a:srgbClr val="FFFFFF"/>
            </a:solidFill>
            <a:ln/>
            <a:effectLst>
              <a:outerShdw blurRad="50800" dist="25400" dir="8100000" algn="bl" rotWithShape="0">
                <a:srgbClr val="000000">
                  <a:alpha val="10000"/>
                </a:srgbClr>
              </a:outerShdw>
            </a:effectLst>
          </p:spPr>
        </p:sp>
        <p:sp>
          <p:nvSpPr>
            <p:cNvPr id="27" name="Text 25"/>
            <p:cNvSpPr/>
            <p:nvPr/>
          </p:nvSpPr>
          <p:spPr>
            <a:xfrm>
              <a:off x="548640" y="4206240"/>
              <a:ext cx="640080" cy="548640"/>
            </a:xfrm>
            <a:prstGeom prst="rect">
              <a:avLst/>
            </a:prstGeom>
            <a:noFill/>
            <a:ln/>
          </p:spPr>
          <p:txBody>
            <a:bodyPr wrap="square" rtlCol="0" anchor="ctr"/>
            <a:lstStyle/>
            <a:p>
              <a:pPr marL="0" indent="0">
                <a:buNone/>
              </a:pPr>
              <a:r>
                <a:rPr lang="en-US" sz="1300" b="1" dirty="0">
                  <a:solidFill>
                    <a:srgbClr val="2A9D8F"/>
                  </a:solidFill>
                  <a:latin typeface="Georgia" pitchFamily="34" charset="0"/>
                  <a:ea typeface="Georgia" pitchFamily="34" charset="-122"/>
                  <a:cs typeface="Georgia" pitchFamily="34" charset="-120"/>
                </a:rPr>
                <a:t>Ch 6</a:t>
              </a:r>
              <a:endParaRPr lang="en-US" sz="1300" dirty="0"/>
            </a:p>
          </p:txBody>
        </p:sp>
        <p:sp>
          <p:nvSpPr>
            <p:cNvPr id="28" name="Text 26"/>
            <p:cNvSpPr/>
            <p:nvPr/>
          </p:nvSpPr>
          <p:spPr>
            <a:xfrm>
              <a:off x="1280160" y="4206240"/>
              <a:ext cx="2011680" cy="548640"/>
            </a:xfrm>
            <a:prstGeom prst="rect">
              <a:avLst/>
            </a:prstGeom>
            <a:noFill/>
            <a:ln/>
          </p:spPr>
          <p:txBody>
            <a:bodyPr wrap="square" rtlCol="0" anchor="ctr"/>
            <a:lstStyle/>
            <a:p>
              <a:pPr marL="0" indent="0">
                <a:buNone/>
              </a:pPr>
              <a:r>
                <a:rPr lang="en-US" sz="1200" b="1" dirty="0">
                  <a:solidFill>
                    <a:srgbClr val="1B3A5C"/>
                  </a:solidFill>
                </a:rPr>
                <a:t>Conclusion</a:t>
              </a:r>
              <a:endParaRPr lang="en-US" sz="1200" dirty="0"/>
            </a:p>
          </p:txBody>
        </p:sp>
        <p:sp>
          <p:nvSpPr>
            <p:cNvPr id="29" name="Text 27"/>
            <p:cNvSpPr/>
            <p:nvPr/>
          </p:nvSpPr>
          <p:spPr>
            <a:xfrm>
              <a:off x="3383280" y="4206240"/>
              <a:ext cx="5120640" cy="548640"/>
            </a:xfrm>
            <a:prstGeom prst="rect">
              <a:avLst/>
            </a:prstGeom>
            <a:noFill/>
            <a:ln/>
          </p:spPr>
          <p:txBody>
            <a:bodyPr wrap="square" rtlCol="0" anchor="ctr"/>
            <a:lstStyle/>
            <a:p>
              <a:pPr marL="0" indent="0">
                <a:buNone/>
              </a:pPr>
              <a:r>
                <a:rPr lang="en-US" sz="1050" dirty="0">
                  <a:solidFill>
                    <a:srgbClr val="64748B"/>
                  </a:solidFill>
                </a:rPr>
                <a:t>Summary, Future Work</a:t>
              </a:r>
              <a:endParaRPr lang="en-US" sz="1050"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3 / 18</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Background &amp; Problem Statement</a:t>
            </a:r>
            <a:endParaRPr lang="en-US" sz="2200" dirty="0"/>
          </a:p>
        </p:txBody>
      </p:sp>
      <p:sp>
        <p:nvSpPr>
          <p:cNvPr id="5" name="Shape 3"/>
          <p:cNvSpPr/>
          <p:nvPr/>
        </p:nvSpPr>
        <p:spPr>
          <a:xfrm>
            <a:off x="457200" y="731520"/>
            <a:ext cx="1097280" cy="36576"/>
          </a:xfrm>
          <a:prstGeom prst="rect">
            <a:avLst/>
          </a:prstGeom>
          <a:solidFill>
            <a:srgbClr val="2A9D8F"/>
          </a:solidFill>
          <a:ln/>
        </p:spPr>
      </p:sp>
      <p:sp>
        <p:nvSpPr>
          <p:cNvPr id="6" name="Shape 4"/>
          <p:cNvSpPr/>
          <p:nvPr/>
        </p:nvSpPr>
        <p:spPr>
          <a:xfrm>
            <a:off x="274320" y="914400"/>
            <a:ext cx="4114800" cy="1828800"/>
          </a:xfrm>
          <a:prstGeom prst="rect">
            <a:avLst/>
          </a:prstGeom>
          <a:solidFill>
            <a:srgbClr val="FFFFFF"/>
          </a:solidFill>
          <a:ln/>
          <a:effectLst>
            <a:outerShdw blurRad="50800" dist="25400" dir="8100000" algn="bl" rotWithShape="0">
              <a:srgbClr val="000000">
                <a:alpha val="10000"/>
              </a:srgbClr>
            </a:outerShdw>
          </a:effectLst>
        </p:spPr>
      </p:sp>
      <p:sp>
        <p:nvSpPr>
          <p:cNvPr id="7" name="Shape 5"/>
          <p:cNvSpPr/>
          <p:nvPr/>
        </p:nvSpPr>
        <p:spPr>
          <a:xfrm>
            <a:off x="274320" y="914400"/>
            <a:ext cx="54864" cy="1828800"/>
          </a:xfrm>
          <a:prstGeom prst="rect">
            <a:avLst/>
          </a:prstGeom>
          <a:solidFill>
            <a:srgbClr val="2A9D8F"/>
          </a:solidFill>
          <a:ln/>
        </p:spPr>
      </p:sp>
      <p:sp>
        <p:nvSpPr>
          <p:cNvPr id="8" name="Text 6"/>
          <p:cNvSpPr/>
          <p:nvPr/>
        </p:nvSpPr>
        <p:spPr>
          <a:xfrm>
            <a:off x="457200" y="960120"/>
            <a:ext cx="3657600" cy="228600"/>
          </a:xfrm>
          <a:prstGeom prst="rect">
            <a:avLst/>
          </a:prstGeom>
          <a:noFill/>
          <a:ln/>
        </p:spPr>
        <p:txBody>
          <a:bodyPr wrap="square" rtlCol="0" anchor="ctr"/>
          <a:lstStyle/>
          <a:p>
            <a:pPr marL="0" indent="0">
              <a:buNone/>
            </a:pPr>
            <a:r>
              <a:rPr lang="en-US" sz="1200" b="1" dirty="0">
                <a:solidFill>
                  <a:srgbClr val="1B3A5C"/>
                </a:solidFill>
                <a:latin typeface="Georgia" pitchFamily="34" charset="0"/>
                <a:ea typeface="Georgia" pitchFamily="34" charset="-122"/>
                <a:cs typeface="Georgia" pitchFamily="34" charset="-120"/>
              </a:rPr>
              <a:t>Background</a:t>
            </a:r>
            <a:endParaRPr lang="en-US" sz="1200" dirty="0"/>
          </a:p>
        </p:txBody>
      </p:sp>
      <p:sp>
        <p:nvSpPr>
          <p:cNvPr id="9" name="Text 7"/>
          <p:cNvSpPr/>
          <p:nvPr/>
        </p:nvSpPr>
        <p:spPr>
          <a:xfrm>
            <a:off x="457200" y="1188720"/>
            <a:ext cx="3749040" cy="1417320"/>
          </a:xfrm>
          <a:prstGeom prst="rect">
            <a:avLst/>
          </a:prstGeom>
          <a:noFill/>
          <a:ln/>
        </p:spPr>
        <p:txBody>
          <a:bodyPr wrap="square" rtlCol="0" anchor="ctr"/>
          <a:lstStyle/>
          <a:p>
            <a:pPr marL="342900" indent="-342900">
              <a:spcAft>
                <a:spcPts val="200"/>
              </a:spcAft>
              <a:buSzPct val="100000"/>
              <a:buChar char="•"/>
            </a:pPr>
            <a:r>
              <a:rPr lang="en-US" sz="900" dirty="0">
                <a:solidFill>
                  <a:srgbClr val="1E293B"/>
                </a:solidFill>
              </a:rPr>
              <a:t>Cambodia GDT undergoing digital transformation</a:t>
            </a:r>
            <a:endParaRPr lang="en-US" sz="900" dirty="0"/>
          </a:p>
          <a:p>
            <a:pPr marL="342900" indent="-342900">
              <a:spcAft>
                <a:spcPts val="200"/>
              </a:spcAft>
              <a:buSzPct val="100000"/>
              <a:buChar char="•"/>
            </a:pPr>
            <a:r>
              <a:rPr lang="en-US" sz="900" dirty="0">
                <a:solidFill>
                  <a:srgbClr val="1E293B"/>
                </a:solidFill>
              </a:rPr>
              <a:t>Growing tax data volumes require enterprise DW</a:t>
            </a:r>
            <a:endParaRPr lang="en-US" sz="900" dirty="0"/>
          </a:p>
          <a:p>
            <a:pPr marL="342900" indent="-342900">
              <a:spcAft>
                <a:spcPts val="200"/>
              </a:spcAft>
              <a:buSzPct val="100000"/>
              <a:buChar char="•"/>
            </a:pPr>
            <a:r>
              <a:rPr lang="en-US" sz="900" dirty="0">
                <a:solidFill>
                  <a:srgbClr val="1E293B"/>
                </a:solidFill>
              </a:rPr>
              <a:t>Kimball star schema: rigid structure, costly schema changes</a:t>
            </a:r>
            <a:endParaRPr lang="en-US" sz="900" dirty="0"/>
          </a:p>
          <a:p>
            <a:pPr marL="342900" indent="-342900">
              <a:spcAft>
                <a:spcPts val="200"/>
              </a:spcAft>
              <a:buSzPct val="100000"/>
              <a:buChar char="•"/>
            </a:pPr>
            <a:r>
              <a:rPr lang="en-US" sz="900" dirty="0">
                <a:solidFill>
                  <a:srgbClr val="1E293B"/>
                </a:solidFill>
              </a:rPr>
              <a:t>Inmon 3NF: complex ETL, slow analytical queries</a:t>
            </a:r>
            <a:endParaRPr lang="en-US" sz="900" dirty="0"/>
          </a:p>
          <a:p>
            <a:pPr marL="342900" indent="-342900">
              <a:spcAft>
                <a:spcPts val="200"/>
              </a:spcAft>
              <a:buSzPct val="100000"/>
              <a:buChar char="•"/>
            </a:pPr>
            <a:r>
              <a:rPr lang="en-US" sz="900" b="1" dirty="0">
                <a:solidFill>
                  <a:srgbClr val="2A9D8F"/>
                </a:solidFill>
              </a:rPr>
              <a:t>Data Vault 2.0 offers agility, auditability, scalability</a:t>
            </a:r>
            <a:endParaRPr lang="en-US" sz="900" dirty="0"/>
          </a:p>
        </p:txBody>
      </p:sp>
      <p:sp>
        <p:nvSpPr>
          <p:cNvPr id="10" name="Shape 8"/>
          <p:cNvSpPr/>
          <p:nvPr/>
        </p:nvSpPr>
        <p:spPr>
          <a:xfrm>
            <a:off x="4754880" y="914400"/>
            <a:ext cx="4114800" cy="1828800"/>
          </a:xfrm>
          <a:prstGeom prst="rect">
            <a:avLst/>
          </a:prstGeom>
          <a:solidFill>
            <a:srgbClr val="FFFFFF"/>
          </a:solidFill>
          <a:ln/>
          <a:effectLst>
            <a:outerShdw blurRad="50800" dist="25400" dir="8100000" algn="bl" rotWithShape="0">
              <a:srgbClr val="000000">
                <a:alpha val="10000"/>
              </a:srgbClr>
            </a:outerShdw>
          </a:effectLst>
        </p:spPr>
      </p:sp>
      <p:sp>
        <p:nvSpPr>
          <p:cNvPr id="11" name="Shape 9"/>
          <p:cNvSpPr/>
          <p:nvPr/>
        </p:nvSpPr>
        <p:spPr>
          <a:xfrm>
            <a:off x="4754880" y="914400"/>
            <a:ext cx="54864" cy="1828800"/>
          </a:xfrm>
          <a:prstGeom prst="rect">
            <a:avLst/>
          </a:prstGeom>
          <a:solidFill>
            <a:srgbClr val="DC2626"/>
          </a:solidFill>
          <a:ln/>
        </p:spPr>
      </p:sp>
      <p:sp>
        <p:nvSpPr>
          <p:cNvPr id="12" name="Text 10"/>
          <p:cNvSpPr/>
          <p:nvPr/>
        </p:nvSpPr>
        <p:spPr>
          <a:xfrm>
            <a:off x="4937760" y="960120"/>
            <a:ext cx="3657600" cy="228600"/>
          </a:xfrm>
          <a:prstGeom prst="rect">
            <a:avLst/>
          </a:prstGeom>
          <a:noFill/>
          <a:ln/>
        </p:spPr>
        <p:txBody>
          <a:bodyPr wrap="square" rtlCol="0" anchor="ctr"/>
          <a:lstStyle/>
          <a:p>
            <a:pPr marL="0" indent="0">
              <a:buNone/>
            </a:pPr>
            <a:r>
              <a:rPr lang="en-US" sz="1200" b="1" dirty="0">
                <a:solidFill>
                  <a:srgbClr val="1B3A5C"/>
                </a:solidFill>
                <a:latin typeface="Georgia" pitchFamily="34" charset="0"/>
                <a:ea typeface="Georgia" pitchFamily="34" charset="-122"/>
                <a:cs typeface="Georgia" pitchFamily="34" charset="-120"/>
              </a:rPr>
              <a:t>4 Key Challenges</a:t>
            </a:r>
            <a:endParaRPr lang="en-US" sz="1200" dirty="0"/>
          </a:p>
        </p:txBody>
      </p:sp>
      <p:sp>
        <p:nvSpPr>
          <p:cNvPr id="13" name="Text 11"/>
          <p:cNvSpPr/>
          <p:nvPr/>
        </p:nvSpPr>
        <p:spPr>
          <a:xfrm>
            <a:off x="4937760" y="1188720"/>
            <a:ext cx="3749040" cy="1417320"/>
          </a:xfrm>
          <a:prstGeom prst="rect">
            <a:avLst/>
          </a:prstGeom>
          <a:noFill/>
          <a:ln/>
        </p:spPr>
        <p:txBody>
          <a:bodyPr wrap="square" rtlCol="0" anchor="ctr"/>
          <a:lstStyle/>
          <a:p>
            <a:pPr marL="0" indent="0">
              <a:spcAft>
                <a:spcPts val="200"/>
              </a:spcAft>
              <a:buNone/>
            </a:pPr>
            <a:r>
              <a:rPr lang="en-US" sz="900" dirty="0">
                <a:solidFill>
                  <a:srgbClr val="1E293B"/>
                </a:solidFill>
              </a:rPr>
              <a:t>1. Schema Rigidity — regulatory changes break star schemas</a:t>
            </a:r>
            <a:endParaRPr lang="en-US" sz="900" dirty="0"/>
          </a:p>
          <a:p>
            <a:pPr marL="0" indent="0">
              <a:spcAft>
                <a:spcPts val="200"/>
              </a:spcAft>
              <a:buNone/>
            </a:pPr>
            <a:r>
              <a:rPr lang="en-US" sz="900" dirty="0">
                <a:solidFill>
                  <a:srgbClr val="1E293B"/>
                </a:solidFill>
              </a:rPr>
              <a:t>2. Historical Tracking — limited audit trail in Kimball SCD2</a:t>
            </a:r>
            <a:endParaRPr lang="en-US" sz="900" dirty="0"/>
          </a:p>
          <a:p>
            <a:pPr marL="0" indent="0">
              <a:spcAft>
                <a:spcPts val="200"/>
              </a:spcAft>
              <a:buNone/>
            </a:pPr>
            <a:r>
              <a:rPr lang="en-US" sz="900" dirty="0">
                <a:solidFill>
                  <a:srgbClr val="1E293B"/>
                </a:solidFill>
              </a:rPr>
              <a:t>3. Scalable ETL — monolithic pipelines, no error recovery</a:t>
            </a:r>
            <a:endParaRPr lang="en-US" sz="900" dirty="0"/>
          </a:p>
          <a:p>
            <a:pPr marL="0" indent="0">
              <a:spcAft>
                <a:spcPts val="200"/>
              </a:spcAft>
              <a:buNone/>
            </a:pPr>
            <a:r>
              <a:rPr lang="en-US" sz="900" dirty="0">
                <a:solidFill>
                  <a:srgbClr val="1E293B"/>
                </a:solidFill>
              </a:rPr>
              <a:t>4. Business Rules Gap — no separation of raw vs derived</a:t>
            </a:r>
            <a:endParaRPr lang="en-US" sz="900" dirty="0"/>
          </a:p>
          <a:p>
            <a:pPr marL="0" indent="0">
              <a:spcAft>
                <a:spcPts val="200"/>
              </a:spcAft>
              <a:buNone/>
            </a:pPr>
            <a:r>
              <a:rPr lang="en-US" sz="900" dirty="0">
                <a:solidFill>
                  <a:srgbClr val="1E293B"/>
                </a:solidFill>
              </a:rPr>
              <a:t/>
            </a:r>
            <a:endParaRPr lang="en-US" sz="900" dirty="0"/>
          </a:p>
        </p:txBody>
      </p:sp>
      <p:sp>
        <p:nvSpPr>
          <p:cNvPr id="14" name="Shape 12"/>
          <p:cNvSpPr/>
          <p:nvPr/>
        </p:nvSpPr>
        <p:spPr>
          <a:xfrm>
            <a:off x="274320" y="2834640"/>
            <a:ext cx="8595360" cy="1920240"/>
          </a:xfrm>
          <a:prstGeom prst="rect">
            <a:avLst/>
          </a:prstGeom>
          <a:solidFill>
            <a:srgbClr val="FFFFFF"/>
          </a:solidFill>
          <a:ln/>
          <a:effectLst>
            <a:outerShdw blurRad="50800" dist="25400" dir="8100000" algn="bl" rotWithShape="0">
              <a:srgbClr val="000000">
                <a:alpha val="10000"/>
              </a:srgbClr>
            </a:outerShdw>
          </a:effectLst>
        </p:spPr>
      </p:sp>
      <p:sp>
        <p:nvSpPr>
          <p:cNvPr id="15" name="Shape 13"/>
          <p:cNvSpPr/>
          <p:nvPr/>
        </p:nvSpPr>
        <p:spPr>
          <a:xfrm>
            <a:off x="274320" y="2834640"/>
            <a:ext cx="8595360" cy="54864"/>
          </a:xfrm>
          <a:prstGeom prst="rect">
            <a:avLst/>
          </a:prstGeom>
          <a:solidFill>
            <a:srgbClr val="2A9D8F"/>
          </a:solidFill>
          <a:ln/>
        </p:spPr>
      </p:sp>
      <p:sp>
        <p:nvSpPr>
          <p:cNvPr id="16" name="Text 14"/>
          <p:cNvSpPr/>
          <p:nvPr/>
        </p:nvSpPr>
        <p:spPr>
          <a:xfrm>
            <a:off x="457200" y="2880360"/>
            <a:ext cx="3657600" cy="274320"/>
          </a:xfrm>
          <a:prstGeom prst="rect">
            <a:avLst/>
          </a:prstGeom>
          <a:noFill/>
          <a:ln/>
        </p:spPr>
        <p:txBody>
          <a:bodyPr wrap="square" rtlCol="0" anchor="ctr"/>
          <a:lstStyle/>
          <a:p>
            <a:pPr marL="0" indent="0">
              <a:buNone/>
            </a:pPr>
            <a:r>
              <a:rPr lang="en-US" sz="1200" b="1" dirty="0">
                <a:solidFill>
                  <a:srgbClr val="1B3A5C"/>
                </a:solidFill>
                <a:latin typeface="Georgia" pitchFamily="34" charset="0"/>
                <a:ea typeface="Georgia" pitchFamily="34" charset="-122"/>
                <a:cs typeface="Georgia" pitchFamily="34" charset="-120"/>
              </a:rPr>
              <a:t>Aim &amp; Objectives</a:t>
            </a:r>
            <a:endParaRPr lang="en-US" sz="1200" dirty="0"/>
          </a:p>
        </p:txBody>
      </p:sp>
      <p:sp>
        <p:nvSpPr>
          <p:cNvPr id="17" name="Text 15"/>
          <p:cNvSpPr/>
          <p:nvPr/>
        </p:nvSpPr>
        <p:spPr>
          <a:xfrm>
            <a:off x="457200" y="3200400"/>
            <a:ext cx="8229600" cy="1554480"/>
          </a:xfrm>
          <a:prstGeom prst="rect">
            <a:avLst/>
          </a:prstGeom>
          <a:noFill/>
          <a:ln/>
        </p:spPr>
        <p:txBody>
          <a:bodyPr wrap="square" rtlCol="0" anchor="ctr"/>
          <a:lstStyle/>
          <a:p>
            <a:pPr marL="0" indent="0">
              <a:spcAft>
                <a:spcPts val="500"/>
              </a:spcAft>
              <a:buNone/>
            </a:pPr>
            <a:r>
              <a:rPr lang="en-US" sz="950" dirty="0">
                <a:solidFill>
                  <a:srgbClr val="1E293B"/>
                </a:solidFill>
              </a:rPr>
              <a:t>1. Design &amp; implement complete DV2 + Medallion DW for Cambodia tax system on SQL Server</a:t>
            </a:r>
            <a:endParaRPr lang="en-US" sz="950" dirty="0"/>
          </a:p>
          <a:p>
            <a:pPr marL="0" indent="0">
              <a:spcAft>
                <a:spcPts val="500"/>
              </a:spcAft>
              <a:buNone/>
            </a:pPr>
            <a:r>
              <a:rPr lang="en-US" sz="950" dirty="0">
                <a:solidFill>
                  <a:srgbClr val="1E293B"/>
                </a:solidFill>
              </a:rPr>
              <a:t>2. Build 4-layer: Staging → Bronze (Raw Vault) → Silver (Business Vault) → Gold (Star Schema)</a:t>
            </a:r>
            <a:endParaRPr lang="en-US" sz="950" dirty="0"/>
          </a:p>
          <a:p>
            <a:pPr marL="0" indent="0">
              <a:spcAft>
                <a:spcPts val="500"/>
              </a:spcAft>
              <a:buNone/>
            </a:pPr>
            <a:r>
              <a:rPr lang="en-US" sz="950" dirty="0">
                <a:solidFill>
                  <a:srgbClr val="1E293B"/>
                </a:solidFill>
              </a:rPr>
              <a:t>3. Develop ETL control framework with batch logging, watermark incremental loading, error handling</a:t>
            </a:r>
            <a:endParaRPr lang="en-US" sz="950" dirty="0"/>
          </a:p>
          <a:p>
            <a:pPr marL="0" indent="0">
              <a:spcAft>
                <a:spcPts val="500"/>
              </a:spcAft>
              <a:buNone/>
            </a:pPr>
            <a:r>
              <a:rPr lang="en-US" sz="950" dirty="0">
                <a:solidFill>
                  <a:srgbClr val="1E293B"/>
                </a:solidFill>
              </a:rPr>
              <a:t>4. Conduct performance benchmarks (ETL load times, query performance, scalability analysis)</a:t>
            </a:r>
            <a:endParaRPr lang="en-US" sz="950" dirty="0"/>
          </a:p>
          <a:p>
            <a:pPr marL="0" indent="0">
              <a:spcAft>
                <a:spcPts val="500"/>
              </a:spcAft>
              <a:buNone/>
            </a:pPr>
            <a:r>
              <a:rPr lang="en-US" sz="950" dirty="0">
                <a:solidFill>
                  <a:srgbClr val="1E293B"/>
                </a:solidFill>
              </a:rPr>
              <a:t>5. Provide reproducible Technical Implementation Guide as companion artifact</a:t>
            </a:r>
            <a:endParaRPr lang="en-US" sz="950" dirty="0"/>
          </a:p>
          <a:p>
            <a:pPr marL="0" indent="0">
              <a:spcAft>
                <a:spcPts val="500"/>
              </a:spcAft>
              <a:buNone/>
            </a:pPr>
            <a:r>
              <a:rPr lang="en-US" sz="950" dirty="0">
                <a:solidFill>
                  <a:srgbClr val="1E293B"/>
                </a:solidFill>
              </a:rPr>
              <a:t>6. Provide Source Database Verification document with evidence-based data quality validation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4 / 18</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Research Gap &amp; Contributions</a:t>
            </a:r>
            <a:endParaRPr lang="en-US" sz="2200" dirty="0"/>
          </a:p>
        </p:txBody>
      </p:sp>
      <p:sp>
        <p:nvSpPr>
          <p:cNvPr id="5" name="Shape 3"/>
          <p:cNvSpPr/>
          <p:nvPr/>
        </p:nvSpPr>
        <p:spPr>
          <a:xfrm>
            <a:off x="457200" y="731520"/>
            <a:ext cx="1097280" cy="36576"/>
          </a:xfrm>
          <a:prstGeom prst="rect">
            <a:avLst/>
          </a:prstGeom>
          <a:solidFill>
            <a:srgbClr val="2A9D8F"/>
          </a:solidFill>
          <a:ln/>
        </p:spPr>
      </p:sp>
      <p:sp>
        <p:nvSpPr>
          <p:cNvPr id="6" name="Shape 4"/>
          <p:cNvSpPr/>
          <p:nvPr/>
        </p:nvSpPr>
        <p:spPr>
          <a:xfrm>
            <a:off x="274320" y="914400"/>
            <a:ext cx="8595360" cy="502920"/>
          </a:xfrm>
          <a:prstGeom prst="rect">
            <a:avLst/>
          </a:prstGeom>
          <a:solidFill>
            <a:srgbClr val="FEF3C7"/>
          </a:solidFill>
          <a:ln/>
          <a:effectLst>
            <a:outerShdw blurRad="50800" dist="25400" dir="8100000" algn="bl" rotWithShape="0">
              <a:srgbClr val="000000">
                <a:alpha val="10000"/>
              </a:srgbClr>
            </a:outerShdw>
          </a:effectLst>
        </p:spPr>
      </p:sp>
      <p:sp>
        <p:nvSpPr>
          <p:cNvPr id="7" name="Shape 5"/>
          <p:cNvSpPr/>
          <p:nvPr/>
        </p:nvSpPr>
        <p:spPr>
          <a:xfrm>
            <a:off x="274320" y="914400"/>
            <a:ext cx="54864" cy="502920"/>
          </a:xfrm>
          <a:prstGeom prst="rect">
            <a:avLst/>
          </a:prstGeom>
          <a:solidFill>
            <a:srgbClr val="D4A843"/>
          </a:solidFill>
          <a:ln/>
        </p:spPr>
      </p:sp>
      <p:sp>
        <p:nvSpPr>
          <p:cNvPr id="8" name="Text 6"/>
          <p:cNvSpPr/>
          <p:nvPr/>
        </p:nvSpPr>
        <p:spPr>
          <a:xfrm>
            <a:off x="457200" y="914400"/>
            <a:ext cx="8229600" cy="502920"/>
          </a:xfrm>
          <a:prstGeom prst="rect">
            <a:avLst/>
          </a:prstGeom>
          <a:noFill/>
          <a:ln/>
        </p:spPr>
        <p:txBody>
          <a:bodyPr wrap="square" rtlCol="0" anchor="ctr"/>
          <a:lstStyle/>
          <a:p>
            <a:pPr marL="0" indent="0">
              <a:buNone/>
            </a:pPr>
            <a:r>
              <a:rPr lang="en-US" sz="1000" dirty="0">
                <a:solidFill>
                  <a:srgbClr val="1E293B"/>
                </a:solidFill>
              </a:rPr>
              <a:t>Gap: Most DV2 studies are theoretical or domain-specific. No published end-to-end DV2 + Medallion implementation for government tax administration.</a:t>
            </a:r>
            <a:endParaRPr lang="en-US" sz="1000" dirty="0"/>
          </a:p>
        </p:txBody>
      </p:sp>
      <p:pic>
        <p:nvPicPr>
          <p:cNvPr id="9" name="Image 0" descr="preencoded.png"/>
          <p:cNvPicPr>
            <a:picLocks noChangeAspect="1"/>
          </p:cNvPicPr>
          <p:nvPr/>
        </p:nvPicPr>
        <p:blipFill>
          <a:blip r:embed="rId3"/>
          <a:stretch>
            <a:fillRect/>
          </a:stretch>
        </p:blipFill>
        <p:spPr>
          <a:xfrm>
            <a:off x="411480" y="1673352"/>
            <a:ext cx="228600" cy="228600"/>
          </a:xfrm>
          <a:prstGeom prst="rect">
            <a:avLst/>
          </a:prstGeom>
        </p:spPr>
      </p:pic>
      <p:sp>
        <p:nvSpPr>
          <p:cNvPr id="10" name="Text 7"/>
          <p:cNvSpPr/>
          <p:nvPr/>
        </p:nvSpPr>
        <p:spPr>
          <a:xfrm>
            <a:off x="777240" y="1600200"/>
            <a:ext cx="7955280" cy="457200"/>
          </a:xfrm>
          <a:prstGeom prst="rect">
            <a:avLst/>
          </a:prstGeom>
          <a:noFill/>
          <a:ln/>
        </p:spPr>
        <p:txBody>
          <a:bodyPr wrap="square" rtlCol="0" anchor="ctr"/>
          <a:lstStyle/>
          <a:p>
            <a:pPr marL="0" indent="0">
              <a:buNone/>
            </a:pPr>
            <a:r>
              <a:rPr lang="en-US" sz="1000" dirty="0">
                <a:solidFill>
                  <a:srgbClr val="1E293B"/>
                </a:solidFill>
              </a:rPr>
              <a:t>C1: Complete 4-layer implementation — 65 objects, 15 SPs — first DV2 + Medallion for gov. tax</a:t>
            </a:r>
            <a:endParaRPr lang="en-US" sz="1000" dirty="0"/>
          </a:p>
        </p:txBody>
      </p:sp>
      <p:pic>
        <p:nvPicPr>
          <p:cNvPr id="11" name="Image 1" descr="preencoded.png"/>
          <p:cNvPicPr>
            <a:picLocks noChangeAspect="1"/>
          </p:cNvPicPr>
          <p:nvPr/>
        </p:nvPicPr>
        <p:blipFill>
          <a:blip r:embed="rId3"/>
          <a:stretch>
            <a:fillRect/>
          </a:stretch>
        </p:blipFill>
        <p:spPr>
          <a:xfrm>
            <a:off x="411480" y="2221992"/>
            <a:ext cx="228600" cy="228600"/>
          </a:xfrm>
          <a:prstGeom prst="rect">
            <a:avLst/>
          </a:prstGeom>
        </p:spPr>
      </p:pic>
      <p:sp>
        <p:nvSpPr>
          <p:cNvPr id="12" name="Text 8"/>
          <p:cNvSpPr/>
          <p:nvPr/>
        </p:nvSpPr>
        <p:spPr>
          <a:xfrm>
            <a:off x="777240" y="2148840"/>
            <a:ext cx="7955280" cy="457200"/>
          </a:xfrm>
          <a:prstGeom prst="rect">
            <a:avLst/>
          </a:prstGeom>
          <a:noFill/>
          <a:ln/>
        </p:spPr>
        <p:txBody>
          <a:bodyPr wrap="square" rtlCol="0" anchor="ctr"/>
          <a:lstStyle/>
          <a:p>
            <a:pPr marL="0" indent="0">
              <a:buNone/>
            </a:pPr>
            <a:r>
              <a:rPr lang="en-US" sz="1000" dirty="0">
                <a:solidFill>
                  <a:srgbClr val="1E293B"/>
                </a:solidFill>
              </a:rPr>
              <a:t>C2: Integrated ETL control framework with batch/step logging, watermark loading, error handling</a:t>
            </a:r>
            <a:endParaRPr lang="en-US" sz="1000" dirty="0"/>
          </a:p>
        </p:txBody>
      </p:sp>
      <p:pic>
        <p:nvPicPr>
          <p:cNvPr id="13" name="Image 2" descr="preencoded.png"/>
          <p:cNvPicPr>
            <a:picLocks noChangeAspect="1"/>
          </p:cNvPicPr>
          <p:nvPr/>
        </p:nvPicPr>
        <p:blipFill>
          <a:blip r:embed="rId3"/>
          <a:stretch>
            <a:fillRect/>
          </a:stretch>
        </p:blipFill>
        <p:spPr>
          <a:xfrm>
            <a:off x="411480" y="2770632"/>
            <a:ext cx="228600" cy="228600"/>
          </a:xfrm>
          <a:prstGeom prst="rect">
            <a:avLst/>
          </a:prstGeom>
        </p:spPr>
      </p:pic>
      <p:sp>
        <p:nvSpPr>
          <p:cNvPr id="14" name="Text 9"/>
          <p:cNvSpPr/>
          <p:nvPr/>
        </p:nvSpPr>
        <p:spPr>
          <a:xfrm>
            <a:off x="777240" y="2697480"/>
            <a:ext cx="7955280" cy="457200"/>
          </a:xfrm>
          <a:prstGeom prst="rect">
            <a:avLst/>
          </a:prstGeom>
          <a:noFill/>
          <a:ln/>
        </p:spPr>
        <p:txBody>
          <a:bodyPr wrap="square" rtlCol="0" anchor="ctr"/>
          <a:lstStyle/>
          <a:p>
            <a:pPr marL="0" indent="0">
              <a:buNone/>
            </a:pPr>
            <a:r>
              <a:rPr lang="en-US" sz="1000" dirty="0">
                <a:solidFill>
                  <a:srgbClr val="1E293B"/>
                </a:solidFill>
              </a:rPr>
              <a:t>C3: Performance benchmarks — ETL load times, query perf (Gold vs Raw Vault 6.8x–1.03x), scalability</a:t>
            </a:r>
            <a:endParaRPr lang="en-US" sz="1000" dirty="0"/>
          </a:p>
        </p:txBody>
      </p:sp>
      <p:pic>
        <p:nvPicPr>
          <p:cNvPr id="15" name="Image 3" descr="preencoded.png"/>
          <p:cNvPicPr>
            <a:picLocks noChangeAspect="1"/>
          </p:cNvPicPr>
          <p:nvPr/>
        </p:nvPicPr>
        <p:blipFill>
          <a:blip r:embed="rId3"/>
          <a:stretch>
            <a:fillRect/>
          </a:stretch>
        </p:blipFill>
        <p:spPr>
          <a:xfrm>
            <a:off x="411480" y="3319272"/>
            <a:ext cx="228600" cy="228600"/>
          </a:xfrm>
          <a:prstGeom prst="rect">
            <a:avLst/>
          </a:prstGeom>
        </p:spPr>
      </p:pic>
      <p:sp>
        <p:nvSpPr>
          <p:cNvPr id="16" name="Text 10"/>
          <p:cNvSpPr/>
          <p:nvPr/>
        </p:nvSpPr>
        <p:spPr>
          <a:xfrm>
            <a:off x="777240" y="3246120"/>
            <a:ext cx="7955280" cy="457200"/>
          </a:xfrm>
          <a:prstGeom prst="rect">
            <a:avLst/>
          </a:prstGeom>
          <a:noFill/>
          <a:ln/>
        </p:spPr>
        <p:txBody>
          <a:bodyPr wrap="square" rtlCol="0" anchor="ctr"/>
          <a:lstStyle/>
          <a:p>
            <a:pPr marL="0" indent="0">
              <a:buNone/>
            </a:pPr>
            <a:r>
              <a:rPr lang="en-US" sz="1000" dirty="0">
                <a:solidFill>
                  <a:srgbClr val="1E293B"/>
                </a:solidFill>
              </a:rPr>
              <a:t>C4: POC evaluation addressing 4 challenges with measurable before/after evidence</a:t>
            </a:r>
            <a:endParaRPr lang="en-US" sz="1000" dirty="0"/>
          </a:p>
        </p:txBody>
      </p:sp>
      <p:pic>
        <p:nvPicPr>
          <p:cNvPr id="17" name="Image 4" descr="preencoded.png"/>
          <p:cNvPicPr>
            <a:picLocks noChangeAspect="1"/>
          </p:cNvPicPr>
          <p:nvPr/>
        </p:nvPicPr>
        <p:blipFill>
          <a:blip r:embed="rId3"/>
          <a:stretch>
            <a:fillRect/>
          </a:stretch>
        </p:blipFill>
        <p:spPr>
          <a:xfrm>
            <a:off x="411480" y="3867912"/>
            <a:ext cx="228600" cy="228600"/>
          </a:xfrm>
          <a:prstGeom prst="rect">
            <a:avLst/>
          </a:prstGeom>
        </p:spPr>
      </p:pic>
      <p:sp>
        <p:nvSpPr>
          <p:cNvPr id="18" name="Text 11"/>
          <p:cNvSpPr/>
          <p:nvPr/>
        </p:nvSpPr>
        <p:spPr>
          <a:xfrm>
            <a:off x="777240" y="3794760"/>
            <a:ext cx="7955280" cy="457200"/>
          </a:xfrm>
          <a:prstGeom prst="rect">
            <a:avLst/>
          </a:prstGeom>
          <a:noFill/>
          <a:ln/>
        </p:spPr>
        <p:txBody>
          <a:bodyPr wrap="square" rtlCol="0" anchor="ctr"/>
          <a:lstStyle/>
          <a:p>
            <a:pPr marL="0" indent="0">
              <a:buNone/>
            </a:pPr>
            <a:r>
              <a:rPr lang="en-US" sz="1000" dirty="0">
                <a:solidFill>
                  <a:srgbClr val="1E293B"/>
                </a:solidFill>
              </a:rPr>
              <a:t>C5: Technical Implementation Guide — reproducibility artifact for SSIS deployment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5 / 18</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Literature Review</a:t>
            </a:r>
            <a:endParaRPr lang="en-US" sz="2200" dirty="0"/>
          </a:p>
        </p:txBody>
      </p:sp>
      <p:sp>
        <p:nvSpPr>
          <p:cNvPr id="5" name="Shape 3"/>
          <p:cNvSpPr/>
          <p:nvPr/>
        </p:nvSpPr>
        <p:spPr>
          <a:xfrm>
            <a:off x="457200" y="731520"/>
            <a:ext cx="1097280" cy="36576"/>
          </a:xfrm>
          <a:prstGeom prst="rect">
            <a:avLst/>
          </a:prstGeom>
          <a:solidFill>
            <a:srgbClr val="2A9D8F"/>
          </a:solidFill>
          <a:ln/>
        </p:spPr>
      </p:sp>
      <p:sp>
        <p:nvSpPr>
          <p:cNvPr id="6" name="Shape 4"/>
          <p:cNvSpPr/>
          <p:nvPr/>
        </p:nvSpPr>
        <p:spPr>
          <a:xfrm>
            <a:off x="274320" y="914400"/>
            <a:ext cx="4114800" cy="1828800"/>
          </a:xfrm>
          <a:prstGeom prst="rect">
            <a:avLst/>
          </a:prstGeom>
          <a:solidFill>
            <a:srgbClr val="FFFFFF"/>
          </a:solidFill>
          <a:ln/>
          <a:effectLst>
            <a:outerShdw blurRad="50800" dist="25400" dir="8100000" algn="bl" rotWithShape="0">
              <a:srgbClr val="000000">
                <a:alpha val="10000"/>
              </a:srgbClr>
            </a:outerShdw>
          </a:effectLst>
        </p:spPr>
      </p:sp>
      <p:sp>
        <p:nvSpPr>
          <p:cNvPr id="7" name="Shape 5"/>
          <p:cNvSpPr/>
          <p:nvPr/>
        </p:nvSpPr>
        <p:spPr>
          <a:xfrm>
            <a:off x="274320" y="914400"/>
            <a:ext cx="54864" cy="1828800"/>
          </a:xfrm>
          <a:prstGeom prst="rect">
            <a:avLst/>
          </a:prstGeom>
          <a:solidFill>
            <a:srgbClr val="2A9D8F"/>
          </a:solidFill>
          <a:ln/>
        </p:spPr>
      </p:sp>
      <p:sp>
        <p:nvSpPr>
          <p:cNvPr id="8" name="Text 6"/>
          <p:cNvSpPr/>
          <p:nvPr/>
        </p:nvSpPr>
        <p:spPr>
          <a:xfrm>
            <a:off x="457200" y="960120"/>
            <a:ext cx="3749040" cy="228600"/>
          </a:xfrm>
          <a:prstGeom prst="rect">
            <a:avLst/>
          </a:prstGeom>
          <a:noFill/>
          <a:ln/>
        </p:spPr>
        <p:txBody>
          <a:bodyPr wrap="square" rtlCol="0" anchor="ctr"/>
          <a:lstStyle/>
          <a:p>
            <a:pPr marL="0" indent="0">
              <a:buNone/>
            </a:pPr>
            <a:r>
              <a:rPr lang="en-US" sz="1100" b="1" dirty="0">
                <a:solidFill>
                  <a:srgbClr val="1B3A5C"/>
                </a:solidFill>
                <a:latin typeface="Georgia" pitchFamily="34" charset="0"/>
                <a:ea typeface="Georgia" pitchFamily="34" charset="-122"/>
                <a:cs typeface="Georgia" pitchFamily="34" charset="-120"/>
              </a:rPr>
              <a:t>Data Vault 2.0 &amp; Medallion</a:t>
            </a:r>
            <a:endParaRPr lang="en-US" sz="1100" dirty="0"/>
          </a:p>
        </p:txBody>
      </p:sp>
      <p:sp>
        <p:nvSpPr>
          <p:cNvPr id="9" name="Text 7"/>
          <p:cNvSpPr/>
          <p:nvPr/>
        </p:nvSpPr>
        <p:spPr>
          <a:xfrm>
            <a:off x="457200" y="1234440"/>
            <a:ext cx="3749040" cy="1371600"/>
          </a:xfrm>
          <a:prstGeom prst="rect">
            <a:avLst/>
          </a:prstGeom>
          <a:noFill/>
          <a:ln/>
        </p:spPr>
        <p:txBody>
          <a:bodyPr wrap="square" rtlCol="0" anchor="ctr"/>
          <a:lstStyle/>
          <a:p>
            <a:pPr marL="342900" indent="-342900">
              <a:spcAft>
                <a:spcPts val="500"/>
              </a:spcAft>
              <a:buSzPct val="100000"/>
              <a:buChar char="•"/>
            </a:pPr>
            <a:r>
              <a:rPr lang="en-US" sz="900" dirty="0">
                <a:solidFill>
                  <a:srgbClr val="1E293B"/>
                </a:solidFill>
              </a:rPr>
              <a:t>Hub/Link/Satellite separation [Linstedt, 2015]</a:t>
            </a:r>
            <a:endParaRPr lang="en-US" sz="900" dirty="0"/>
          </a:p>
          <a:p>
            <a:pPr marL="342900" indent="-342900">
              <a:spcAft>
                <a:spcPts val="500"/>
              </a:spcAft>
              <a:buSzPct val="100000"/>
              <a:buChar char="•"/>
            </a:pPr>
            <a:r>
              <a:rPr lang="en-US" sz="900" dirty="0">
                <a:solidFill>
                  <a:srgbClr val="1E293B"/>
                </a:solidFill>
              </a:rPr>
              <a:t>PIT, Bridge, Business Vault for Silver layer</a:t>
            </a:r>
            <a:endParaRPr lang="en-US" sz="900" dirty="0"/>
          </a:p>
          <a:p>
            <a:pPr marL="342900" indent="-342900">
              <a:spcAft>
                <a:spcPts val="500"/>
              </a:spcAft>
              <a:buSzPct val="100000"/>
              <a:buChar char="•"/>
            </a:pPr>
            <a:r>
              <a:rPr lang="en-US" sz="900" dirty="0">
                <a:solidFill>
                  <a:srgbClr val="1E293B"/>
                </a:solidFill>
              </a:rPr>
              <a:t>Medallion: Staging → Bronze → Silver → Gold</a:t>
            </a:r>
            <a:endParaRPr lang="en-US" sz="900" dirty="0"/>
          </a:p>
          <a:p>
            <a:pPr marL="342900" indent="-342900">
              <a:spcAft>
                <a:spcPts val="500"/>
              </a:spcAft>
              <a:buSzPct val="100000"/>
              <a:buChar char="•"/>
            </a:pPr>
            <a:r>
              <a:rPr lang="en-US" sz="900" b="1" dirty="0">
                <a:solidFill>
                  <a:srgbClr val="2A9D8F"/>
                </a:solidFill>
              </a:rPr>
              <a:t>Insert-only, hash keys, full audit trail</a:t>
            </a:r>
            <a:endParaRPr lang="en-US" sz="900" dirty="0"/>
          </a:p>
        </p:txBody>
      </p:sp>
      <p:sp>
        <p:nvSpPr>
          <p:cNvPr id="10" name="Shape 8"/>
          <p:cNvSpPr/>
          <p:nvPr/>
        </p:nvSpPr>
        <p:spPr>
          <a:xfrm>
            <a:off x="4754880" y="914400"/>
            <a:ext cx="4114800" cy="1828800"/>
          </a:xfrm>
          <a:prstGeom prst="rect">
            <a:avLst/>
          </a:prstGeom>
          <a:solidFill>
            <a:srgbClr val="FFFFFF"/>
          </a:solidFill>
          <a:ln/>
          <a:effectLst>
            <a:outerShdw blurRad="50800" dist="25400" dir="8100000" algn="bl" rotWithShape="0">
              <a:srgbClr val="000000">
                <a:alpha val="10000"/>
              </a:srgbClr>
            </a:outerShdw>
          </a:effectLst>
        </p:spPr>
      </p:sp>
      <p:sp>
        <p:nvSpPr>
          <p:cNvPr id="11" name="Shape 9"/>
          <p:cNvSpPr/>
          <p:nvPr/>
        </p:nvSpPr>
        <p:spPr>
          <a:xfrm>
            <a:off x="4754880" y="914400"/>
            <a:ext cx="54864" cy="1828800"/>
          </a:xfrm>
          <a:prstGeom prst="rect">
            <a:avLst/>
          </a:prstGeom>
          <a:solidFill>
            <a:srgbClr val="1B3A5C"/>
          </a:solidFill>
          <a:ln/>
        </p:spPr>
      </p:sp>
      <p:sp>
        <p:nvSpPr>
          <p:cNvPr id="12" name="Text 10"/>
          <p:cNvSpPr/>
          <p:nvPr/>
        </p:nvSpPr>
        <p:spPr>
          <a:xfrm>
            <a:off x="4937760" y="960120"/>
            <a:ext cx="3749040" cy="228600"/>
          </a:xfrm>
          <a:prstGeom prst="rect">
            <a:avLst/>
          </a:prstGeom>
          <a:noFill/>
          <a:ln/>
        </p:spPr>
        <p:txBody>
          <a:bodyPr wrap="square" rtlCol="0" anchor="ctr"/>
          <a:lstStyle/>
          <a:p>
            <a:pPr marL="0" indent="0">
              <a:buNone/>
            </a:pPr>
            <a:r>
              <a:rPr lang="en-US" sz="1100" b="1" dirty="0">
                <a:solidFill>
                  <a:srgbClr val="1B3A5C"/>
                </a:solidFill>
                <a:latin typeface="Georgia" pitchFamily="34" charset="0"/>
                <a:ea typeface="Georgia" pitchFamily="34" charset="-122"/>
                <a:cs typeface="Georgia" pitchFamily="34" charset="-120"/>
              </a:rPr>
              <a:t>Big Data in Tax Administration</a:t>
            </a:r>
            <a:endParaRPr lang="en-US" sz="1100" dirty="0"/>
          </a:p>
        </p:txBody>
      </p:sp>
      <p:sp>
        <p:nvSpPr>
          <p:cNvPr id="13" name="Text 11"/>
          <p:cNvSpPr/>
          <p:nvPr/>
        </p:nvSpPr>
        <p:spPr>
          <a:xfrm>
            <a:off x="4937760" y="1234440"/>
            <a:ext cx="3749040" cy="1371600"/>
          </a:xfrm>
          <a:prstGeom prst="rect">
            <a:avLst/>
          </a:prstGeom>
          <a:noFill/>
          <a:ln/>
        </p:spPr>
        <p:txBody>
          <a:bodyPr wrap="square" rtlCol="0" anchor="ctr"/>
          <a:lstStyle/>
          <a:p>
            <a:pPr marL="342900" indent="-342900">
              <a:spcAft>
                <a:spcPts val="500"/>
              </a:spcAft>
              <a:buSzPct val="100000"/>
              <a:buChar char="•"/>
            </a:pPr>
            <a:r>
              <a:rPr lang="en-US" sz="900" dirty="0">
                <a:solidFill>
                  <a:srgbClr val="1E293B"/>
                </a:solidFill>
              </a:rPr>
              <a:t>5V's framework [Gandomi &amp; Haider, 2015]</a:t>
            </a:r>
            <a:endParaRPr lang="en-US" sz="900" dirty="0"/>
          </a:p>
          <a:p>
            <a:pPr marL="342900" indent="-342900">
              <a:spcAft>
                <a:spcPts val="500"/>
              </a:spcAft>
              <a:buSzPct val="100000"/>
              <a:buChar char="•"/>
            </a:pPr>
            <a:r>
              <a:rPr lang="en-US" sz="900" dirty="0">
                <a:solidFill>
                  <a:srgbClr val="1E293B"/>
                </a:solidFill>
              </a:rPr>
              <a:t>IRS, HMRC Connect, AEAT 70+ sources [CIAT, 2021]</a:t>
            </a:r>
            <a:endParaRPr lang="en-US" sz="900" dirty="0"/>
          </a:p>
          <a:p>
            <a:pPr marL="342900" indent="-342900">
              <a:spcAft>
                <a:spcPts val="500"/>
              </a:spcAft>
              <a:buSzPct val="100000"/>
              <a:buChar char="•"/>
            </a:pPr>
            <a:r>
              <a:rPr lang="en-US" sz="900" dirty="0">
                <a:solidFill>
                  <a:srgbClr val="1E293B"/>
                </a:solidFill>
              </a:rPr>
              <a:t>ML + social network analysis for fraud [Shukla, 2019]</a:t>
            </a:r>
            <a:endParaRPr lang="en-US" sz="900" dirty="0"/>
          </a:p>
          <a:p>
            <a:pPr marL="342900" indent="-342900">
              <a:spcAft>
                <a:spcPts val="500"/>
              </a:spcAft>
              <a:buSzPct val="100000"/>
              <a:buChar char="•"/>
            </a:pPr>
            <a:r>
              <a:rPr lang="en-US" sz="900" b="1" dirty="0">
                <a:solidFill>
                  <a:srgbClr val="2A9D8F"/>
                </a:solidFill>
              </a:rPr>
              <a:t>DV2 bridges Big Data ↔ DW gap</a:t>
            </a:r>
            <a:endParaRPr lang="en-US" sz="900" dirty="0"/>
          </a:p>
        </p:txBody>
      </p:sp>
      <p:sp>
        <p:nvSpPr>
          <p:cNvPr id="14" name="Shape 12"/>
          <p:cNvSpPr/>
          <p:nvPr/>
        </p:nvSpPr>
        <p:spPr>
          <a:xfrm>
            <a:off x="274320" y="2926080"/>
            <a:ext cx="8595360" cy="1188720"/>
          </a:xfrm>
          <a:prstGeom prst="rect">
            <a:avLst/>
          </a:prstGeom>
          <a:solidFill>
            <a:srgbClr val="FFFFFF"/>
          </a:solidFill>
          <a:ln/>
          <a:effectLst>
            <a:outerShdw blurRad="50800" dist="25400" dir="8100000" algn="bl" rotWithShape="0">
              <a:srgbClr val="000000">
                <a:alpha val="10000"/>
              </a:srgbClr>
            </a:outerShdw>
          </a:effectLst>
        </p:spPr>
      </p:sp>
      <p:sp>
        <p:nvSpPr>
          <p:cNvPr id="15" name="Shape 13"/>
          <p:cNvSpPr/>
          <p:nvPr/>
        </p:nvSpPr>
        <p:spPr>
          <a:xfrm>
            <a:off x="274320" y="2926080"/>
            <a:ext cx="8595360" cy="54864"/>
          </a:xfrm>
          <a:prstGeom prst="rect">
            <a:avLst/>
          </a:prstGeom>
          <a:solidFill>
            <a:srgbClr val="2A9D8F"/>
          </a:solidFill>
          <a:ln/>
        </p:spPr>
      </p:sp>
      <p:sp>
        <p:nvSpPr>
          <p:cNvPr id="16" name="Text 14"/>
          <p:cNvSpPr/>
          <p:nvPr/>
        </p:nvSpPr>
        <p:spPr>
          <a:xfrm>
            <a:off x="457200" y="2971800"/>
            <a:ext cx="4572000" cy="228600"/>
          </a:xfrm>
          <a:prstGeom prst="rect">
            <a:avLst/>
          </a:prstGeom>
          <a:noFill/>
          <a:ln/>
        </p:spPr>
        <p:txBody>
          <a:bodyPr wrap="square" rtlCol="0" anchor="ctr"/>
          <a:lstStyle/>
          <a:p>
            <a:pPr marL="0" indent="0">
              <a:buNone/>
            </a:pPr>
            <a:r>
              <a:rPr lang="en-US" sz="1100" b="1" dirty="0">
                <a:solidFill>
                  <a:srgbClr val="1B3A5C"/>
                </a:solidFill>
              </a:rPr>
              <a:t>ETL Frameworks &amp; Data Quality</a:t>
            </a:r>
            <a:endParaRPr lang="en-US" sz="1100" dirty="0"/>
          </a:p>
        </p:txBody>
      </p:sp>
      <p:sp>
        <p:nvSpPr>
          <p:cNvPr id="17" name="Text 15"/>
          <p:cNvSpPr/>
          <p:nvPr/>
        </p:nvSpPr>
        <p:spPr>
          <a:xfrm>
            <a:off x="457200" y="3246120"/>
            <a:ext cx="8229600" cy="777240"/>
          </a:xfrm>
          <a:prstGeom prst="rect">
            <a:avLst/>
          </a:prstGeom>
          <a:noFill/>
          <a:ln/>
        </p:spPr>
        <p:txBody>
          <a:bodyPr wrap="square" rtlCol="0" anchor="ctr"/>
          <a:lstStyle/>
          <a:p>
            <a:pPr marL="342900" indent="-342900">
              <a:spcAft>
                <a:spcPts val="300"/>
              </a:spcAft>
              <a:buSzPct val="100000"/>
              <a:buChar char="•"/>
            </a:pPr>
            <a:r>
              <a:rPr lang="en-US" sz="900" dirty="0">
                <a:solidFill>
                  <a:srgbClr val="1E293B"/>
                </a:solidFill>
              </a:rPr>
              <a:t>Kimball ETL Subsystem: 34 subsystems for enterprise ETL [Kimball &amp; Ross, 2013]</a:t>
            </a:r>
            <a:endParaRPr lang="en-US" sz="900" dirty="0"/>
          </a:p>
          <a:p>
            <a:pPr marL="342900" indent="-342900">
              <a:spcAft>
                <a:spcPts val="300"/>
              </a:spcAft>
              <a:buSzPct val="100000"/>
              <a:buChar char="•"/>
            </a:pPr>
            <a:r>
              <a:rPr lang="en-US" sz="900" dirty="0">
                <a:solidFill>
                  <a:srgbClr val="1E293B"/>
                </a:solidFill>
              </a:rPr>
              <a:t>DAMA Data Quality: Completeness, Accuracy, Consistency, Timeliness, Uniqueness, Validity</a:t>
            </a:r>
            <a:endParaRPr lang="en-US" sz="900" dirty="0"/>
          </a:p>
          <a:p>
            <a:pPr marL="342900" indent="-342900">
              <a:spcAft>
                <a:spcPts val="300"/>
              </a:spcAft>
              <a:buSzPct val="100000"/>
              <a:buChar char="•"/>
            </a:pPr>
            <a:r>
              <a:rPr lang="en-US" sz="900" dirty="0">
                <a:solidFill>
                  <a:srgbClr val="1E293B"/>
                </a:solidFill>
              </a:rPr>
              <a:t>Watermark-based incremental loading: MAX(ModifiedDate) pattern for batch ETL</a:t>
            </a:r>
            <a:endParaRPr lang="en-US" sz="900" dirty="0"/>
          </a:p>
          <a:p>
            <a:pPr marL="342900" indent="-342900">
              <a:spcAft>
                <a:spcPts val="300"/>
              </a:spcAft>
              <a:buSzPct val="100000"/>
              <a:buChar char="•"/>
            </a:pPr>
            <a:r>
              <a:rPr lang="en-US" sz="900" b="1" dirty="0">
                <a:solidFill>
                  <a:srgbClr val="2A9D8F"/>
                </a:solidFill>
              </a:rPr>
              <a:t>This study: control framework + watermark + per-step error isolation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6 / 18</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Related Work &amp; Research Gap</a:t>
            </a:r>
            <a:endParaRPr lang="en-US" sz="2200" dirty="0"/>
          </a:p>
        </p:txBody>
      </p:sp>
      <p:sp>
        <p:nvSpPr>
          <p:cNvPr id="5" name="Shape 3"/>
          <p:cNvSpPr/>
          <p:nvPr/>
        </p:nvSpPr>
        <p:spPr>
          <a:xfrm>
            <a:off x="457200" y="731520"/>
            <a:ext cx="1097280" cy="36576"/>
          </a:xfrm>
          <a:prstGeom prst="rect">
            <a:avLst/>
          </a:prstGeom>
          <a:solidFill>
            <a:srgbClr val="2A9D8F"/>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1005840"/>
          <a:ext cx="8595360" cy="1897380"/>
        </p:xfrm>
        <a:graphic>
          <a:graphicData uri="http://schemas.openxmlformats.org/drawingml/2006/table">
            <a:tbl>
              <a:tblPr/>
              <a:tblGrid>
                <a:gridCol w="137160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468880">
                  <a:extLst>
                    <a:ext uri="{9D8B030D-6E8A-4147-A177-3AD203B41FA5}">
                      <a16:colId xmlns:a16="http://schemas.microsoft.com/office/drawing/2014/main" val="20004"/>
                    </a:ext>
                  </a:extLst>
                </a:gridCol>
              </a:tblGrid>
              <a:tr h="0">
                <a:tc>
                  <a:txBody>
                    <a:bodyPr/>
                    <a:lstStyle/>
                    <a:p>
                      <a:pPr marL="0" indent="0">
                        <a:buNone/>
                      </a:pPr>
                      <a:r>
                        <a:rPr lang="en-US" sz="850" b="1" dirty="0">
                          <a:solidFill>
                            <a:srgbClr val="FFFFFF"/>
                          </a:solidFill>
                        </a:rPr>
                        <a:t>Study</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850" b="1" dirty="0">
                          <a:solidFill>
                            <a:srgbClr val="FFFFFF"/>
                          </a:solidFill>
                        </a:rPr>
                        <a:t>Year</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850" b="1" dirty="0">
                          <a:solidFill>
                            <a:srgbClr val="FFFFFF"/>
                          </a:solidFill>
                        </a:rPr>
                        <a:t>Strengths</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850" b="1" dirty="0">
                          <a:solidFill>
                            <a:srgbClr val="FFFFFF"/>
                          </a:solidFill>
                        </a:rPr>
                        <a:t>Limitations</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850" b="1" dirty="0">
                          <a:solidFill>
                            <a:srgbClr val="FFFFFF"/>
                          </a:solidFill>
                        </a:rPr>
                        <a:t>Our Gap Fill</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0">
                <a:tc>
                  <a:txBody>
                    <a:bodyPr/>
                    <a:lstStyle/>
                    <a:p>
                      <a:pPr marL="0" indent="0">
                        <a:buNone/>
                      </a:pPr>
                      <a:r>
                        <a:rPr lang="en-US" sz="800" b="1" dirty="0">
                          <a:solidFill>
                            <a:srgbClr val="1B3A5C"/>
                          </a:solidFill>
                        </a:rPr>
                        <a:t>Yessad &amp; Labiod</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2016</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3-way comparison</a:t>
                      </a:r>
                      <a:endParaRPr lang="en-US" sz="800" dirty="0"/>
                    </a:p>
                    <a:p>
                      <a:pPr marL="0" indent="0">
                        <a:buNone/>
                      </a:pPr>
                      <a:r>
                        <a:rPr lang="en-US" sz="800" dirty="0">
                          <a:solidFill>
                            <a:srgbClr val="1E293B"/>
                          </a:solidFill>
                        </a:rPr>
                        <a:t>(Inmon/Kimball/DV)</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DC2626"/>
                          </a:solidFill>
                        </a:rPr>
                        <a:t>No implementation;</a:t>
                      </a:r>
                      <a:endParaRPr lang="en-US" sz="800" dirty="0"/>
                    </a:p>
                    <a:p>
                      <a:pPr marL="0" indent="0">
                        <a:buNone/>
                      </a:pPr>
                      <a:r>
                        <a:rPr lang="en-US" sz="800" dirty="0">
                          <a:solidFill>
                            <a:srgbClr val="DC2626"/>
                          </a:solidFill>
                        </a:rPr>
                        <a:t>purely theoretical</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6A34A"/>
                          </a:solidFill>
                        </a:rPr>
                        <a:t>Complete impl.</a:t>
                      </a:r>
                      <a:endParaRPr lang="en-US" sz="800" dirty="0"/>
                    </a:p>
                    <a:p>
                      <a:pPr marL="0" indent="0">
                        <a:buNone/>
                      </a:pPr>
                      <a:r>
                        <a:rPr lang="en-US" sz="800" dirty="0">
                          <a:solidFill>
                            <a:srgbClr val="16A34A"/>
                          </a:solidFill>
                        </a:rPr>
                        <a:t>with benchmarks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800" b="1" dirty="0">
                          <a:solidFill>
                            <a:srgbClr val="1B3A5C"/>
                          </a:solidFill>
                        </a:rPr>
                        <a:t>Naamane &amp;</a:t>
                      </a:r>
                      <a:endParaRPr lang="en-US" sz="800" dirty="0"/>
                    </a:p>
                    <a:p>
                      <a:pPr marL="0" indent="0">
                        <a:buNone/>
                      </a:pPr>
                      <a:r>
                        <a:rPr lang="en-US" sz="800" b="1" dirty="0">
                          <a:solidFill>
                            <a:srgbClr val="1B3A5C"/>
                          </a:solidFill>
                        </a:rPr>
                        <a:t>Jovanovic</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2016</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Empirical with</a:t>
                      </a:r>
                      <a:endParaRPr lang="en-US" sz="800" dirty="0"/>
                    </a:p>
                    <a:p>
                      <a:pPr marL="0" indent="0">
                        <a:buNone/>
                      </a:pPr>
                      <a:r>
                        <a:rPr lang="en-US" sz="800" dirty="0">
                          <a:solidFill>
                            <a:srgbClr val="1E293B"/>
                          </a:solidFill>
                        </a:rPr>
                        <a:t>telecom data</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DC2626"/>
                          </a:solidFill>
                        </a:rPr>
                        <a:t>No medallion arch.;</a:t>
                      </a:r>
                      <a:endParaRPr lang="en-US" sz="800" dirty="0"/>
                    </a:p>
                    <a:p>
                      <a:pPr marL="0" indent="0">
                        <a:buNone/>
                      </a:pPr>
                      <a:r>
                        <a:rPr lang="en-US" sz="800" dirty="0">
                          <a:solidFill>
                            <a:srgbClr val="DC2626"/>
                          </a:solidFill>
                        </a:rPr>
                        <a:t>no Gold layer</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6A34A"/>
                          </a:solidFill>
                        </a:rPr>
                        <a:t>4-layer medallion</a:t>
                      </a:r>
                      <a:endParaRPr lang="en-US" sz="800" dirty="0"/>
                    </a:p>
                    <a:p>
                      <a:pPr marL="0" indent="0">
                        <a:buNone/>
                      </a:pPr>
                      <a:r>
                        <a:rPr lang="en-US" sz="800" dirty="0">
                          <a:solidFill>
                            <a:srgbClr val="16A34A"/>
                          </a:solidFill>
                        </a:rPr>
                        <a:t>+ Gold star schema</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extLst>
                  <a:ext uri="{0D108BD9-81ED-4DB2-BD59-A6C34878D82A}">
                    <a16:rowId xmlns:a16="http://schemas.microsoft.com/office/drawing/2014/main" val="10002"/>
                  </a:ext>
                </a:extLst>
              </a:tr>
              <a:tr h="0">
                <a:tc>
                  <a:txBody>
                    <a:bodyPr/>
                    <a:lstStyle/>
                    <a:p>
                      <a:pPr marL="0" indent="0">
                        <a:buNone/>
                      </a:pPr>
                      <a:r>
                        <a:rPr lang="en-US" sz="800" b="1" dirty="0">
                          <a:solidFill>
                            <a:srgbClr val="1B3A5C"/>
                          </a:solidFill>
                        </a:rPr>
                        <a:t>Vines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2024</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TPC-DS benchmark;</a:t>
                      </a:r>
                      <a:endParaRPr lang="en-US" sz="800" dirty="0"/>
                    </a:p>
                    <a:p>
                      <a:pPr marL="0" indent="0">
                        <a:buNone/>
                      </a:pPr>
                      <a:r>
                        <a:rPr lang="en-US" sz="800" dirty="0">
                          <a:solidFill>
                            <a:srgbClr val="1E293B"/>
                          </a:solidFill>
                        </a:rPr>
                        <a:t>performance focus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DC2626"/>
                          </a:solidFill>
                        </a:rPr>
                        <a:t>No domain-specific;</a:t>
                      </a:r>
                      <a:endParaRPr lang="en-US" sz="800" dirty="0"/>
                    </a:p>
                    <a:p>
                      <a:pPr marL="0" indent="0">
                        <a:buNone/>
                      </a:pPr>
                      <a:r>
                        <a:rPr lang="en-US" sz="800" dirty="0">
                          <a:solidFill>
                            <a:srgbClr val="DC2626"/>
                          </a:solidFill>
                        </a:rPr>
                        <a:t>no ETL control</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6A34A"/>
                          </a:solidFill>
                        </a:rPr>
                        <a:t>Cambodia tax domain</a:t>
                      </a:r>
                      <a:endParaRPr lang="en-US" sz="800" dirty="0"/>
                    </a:p>
                    <a:p>
                      <a:pPr marL="0" indent="0">
                        <a:buNone/>
                      </a:pPr>
                      <a:r>
                        <a:rPr lang="en-US" sz="800" dirty="0">
                          <a:solidFill>
                            <a:srgbClr val="16A34A"/>
                          </a:solidFill>
                        </a:rPr>
                        <a:t>+ ETL framework</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800" b="1" dirty="0">
                          <a:solidFill>
                            <a:srgbClr val="1B3A5C"/>
                          </a:solidFill>
                        </a:rPr>
                        <a:t>Singh</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2025</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Resilience &amp;</a:t>
                      </a:r>
                      <a:endParaRPr lang="en-US" sz="800" dirty="0"/>
                    </a:p>
                    <a:p>
                      <a:pPr marL="0" indent="0">
                        <a:buNone/>
                      </a:pPr>
                      <a:r>
                        <a:rPr lang="en-US" sz="800" dirty="0">
                          <a:solidFill>
                            <a:srgbClr val="1E293B"/>
                          </a:solidFill>
                        </a:rPr>
                        <a:t>adaptability</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DC2626"/>
                          </a:solidFill>
                        </a:rPr>
                        <a:t>Theoretical analysis;</a:t>
                      </a:r>
                      <a:endParaRPr lang="en-US" sz="800" dirty="0"/>
                    </a:p>
                    <a:p>
                      <a:pPr marL="0" indent="0">
                        <a:buNone/>
                      </a:pPr>
                      <a:r>
                        <a:rPr lang="en-US" sz="800" dirty="0">
                          <a:solidFill>
                            <a:srgbClr val="DC2626"/>
                          </a:solidFill>
                        </a:rPr>
                        <a:t>no implementation</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6A34A"/>
                          </a:solidFill>
                        </a:rPr>
                        <a:t>Full POC with</a:t>
                      </a:r>
                      <a:endParaRPr lang="en-US" sz="800" dirty="0"/>
                    </a:p>
                    <a:p>
                      <a:pPr marL="0" indent="0">
                        <a:buNone/>
                      </a:pPr>
                      <a:r>
                        <a:rPr lang="en-US" sz="800" dirty="0">
                          <a:solidFill>
                            <a:srgbClr val="16A34A"/>
                          </a:solidFill>
                        </a:rPr>
                        <a:t>measurable evidence</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extLst>
                  <a:ext uri="{0D108BD9-81ED-4DB2-BD59-A6C34878D82A}">
                    <a16:rowId xmlns:a16="http://schemas.microsoft.com/office/drawing/2014/main" val="10004"/>
                  </a:ext>
                </a:extLst>
              </a:tr>
              <a:tr h="0">
                <a:tc>
                  <a:txBody>
                    <a:bodyPr/>
                    <a:lstStyle/>
                    <a:p>
                      <a:pPr marL="0" indent="0">
                        <a:buNone/>
                      </a:pPr>
                      <a:r>
                        <a:rPr lang="en-US" sz="800" b="1" dirty="0">
                          <a:solidFill>
                            <a:srgbClr val="1B3A5C"/>
                          </a:solidFill>
                        </a:rPr>
                        <a:t>This Study</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2026</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DV2 + Medallion +</a:t>
                      </a:r>
                      <a:endParaRPr lang="en-US" sz="800" dirty="0"/>
                    </a:p>
                    <a:p>
                      <a:pPr marL="0" indent="0">
                        <a:buNone/>
                      </a:pPr>
                      <a:r>
                        <a:rPr lang="en-US" sz="800" dirty="0">
                          <a:solidFill>
                            <a:srgbClr val="1E293B"/>
                          </a:solidFill>
                        </a:rPr>
                        <a:t>ETL + Benchmarks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DC2626"/>
                          </a:solidFill>
                        </a:rPr>
                        <a:t>Simulated data</a:t>
                      </a:r>
                      <a:endParaRPr lang="en-US" sz="800" dirty="0"/>
                    </a:p>
                    <a:p>
                      <a:pPr marL="0" indent="0">
                        <a:buNone/>
                      </a:pPr>
                      <a:r>
                        <a:rPr lang="en-US" sz="800" dirty="0">
                          <a:solidFill>
                            <a:srgbClr val="DC2626"/>
                          </a:solidFill>
                        </a:rPr>
                        <a:t>(verified, 12-check)</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b="1" dirty="0">
                          <a:solidFill>
                            <a:srgbClr val="2A9D8F"/>
                          </a:solidFill>
                        </a:rPr>
                        <a:t>First gov. tax DV2</a:t>
                      </a:r>
                      <a:endParaRPr lang="en-US" sz="800" dirty="0"/>
                    </a:p>
                    <a:p>
                      <a:pPr marL="0" indent="0">
                        <a:buNone/>
                      </a:pPr>
                      <a:r>
                        <a:rPr lang="en-US" sz="800" b="1" dirty="0">
                          <a:solidFill>
                            <a:srgbClr val="2A9D8F"/>
                          </a:solidFill>
                        </a:rPr>
                        <a:t>end-to-end impl.</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7 / 18</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System Architecture</a:t>
            </a:r>
            <a:endParaRPr lang="en-US" sz="2200" dirty="0"/>
          </a:p>
        </p:txBody>
      </p:sp>
      <p:sp>
        <p:nvSpPr>
          <p:cNvPr id="5" name="Shape 3"/>
          <p:cNvSpPr/>
          <p:nvPr/>
        </p:nvSpPr>
        <p:spPr>
          <a:xfrm>
            <a:off x="457200" y="731520"/>
            <a:ext cx="1097280" cy="36576"/>
          </a:xfrm>
          <a:prstGeom prst="rect">
            <a:avLst/>
          </a:prstGeom>
          <a:solidFill>
            <a:srgbClr val="2A9D8F"/>
          </a:solidFill>
          <a:ln/>
        </p:spPr>
      </p:sp>
      <p:sp>
        <p:nvSpPr>
          <p:cNvPr id="6" name="Shape 4"/>
          <p:cNvSpPr/>
          <p:nvPr/>
        </p:nvSpPr>
        <p:spPr>
          <a:xfrm>
            <a:off x="274320" y="960120"/>
            <a:ext cx="1508760" cy="1828800"/>
          </a:xfrm>
          <a:prstGeom prst="rect">
            <a:avLst/>
          </a:prstGeom>
          <a:solidFill>
            <a:srgbClr val="FFFFFF"/>
          </a:solidFill>
          <a:ln/>
          <a:effectLst>
            <a:outerShdw blurRad="50800" dist="25400" dir="8100000" algn="bl" rotWithShape="0">
              <a:srgbClr val="000000">
                <a:alpha val="10000"/>
              </a:srgbClr>
            </a:outerShdw>
          </a:effectLst>
        </p:spPr>
      </p:sp>
      <p:sp>
        <p:nvSpPr>
          <p:cNvPr id="7" name="Shape 5"/>
          <p:cNvSpPr/>
          <p:nvPr/>
        </p:nvSpPr>
        <p:spPr>
          <a:xfrm>
            <a:off x="274320" y="960120"/>
            <a:ext cx="1508760" cy="365760"/>
          </a:xfrm>
          <a:prstGeom prst="rect">
            <a:avLst/>
          </a:prstGeom>
          <a:solidFill>
            <a:srgbClr val="475569"/>
          </a:solidFill>
          <a:ln/>
        </p:spPr>
      </p:sp>
      <p:sp>
        <p:nvSpPr>
          <p:cNvPr id="8" name="Text 6"/>
          <p:cNvSpPr/>
          <p:nvPr/>
        </p:nvSpPr>
        <p:spPr>
          <a:xfrm>
            <a:off x="274320" y="960120"/>
            <a:ext cx="1508760" cy="365760"/>
          </a:xfrm>
          <a:prstGeom prst="rect">
            <a:avLst/>
          </a:prstGeom>
          <a:noFill/>
          <a:ln/>
        </p:spPr>
        <p:txBody>
          <a:bodyPr wrap="square" rtlCol="0" anchor="ctr"/>
          <a:lstStyle/>
          <a:p>
            <a:pPr marL="0" indent="0" algn="ctr">
              <a:buNone/>
            </a:pPr>
            <a:r>
              <a:rPr lang="en-US" sz="1100" b="1" dirty="0">
                <a:solidFill>
                  <a:srgbClr val="FFFFFF"/>
                </a:solidFill>
              </a:rPr>
              <a:t>Source</a:t>
            </a:r>
            <a:endParaRPr lang="en-US" sz="1100" dirty="0"/>
          </a:p>
        </p:txBody>
      </p:sp>
      <p:sp>
        <p:nvSpPr>
          <p:cNvPr id="9" name="Text 7"/>
          <p:cNvSpPr/>
          <p:nvPr/>
        </p:nvSpPr>
        <p:spPr>
          <a:xfrm>
            <a:off x="274320" y="1371600"/>
            <a:ext cx="1508760" cy="274320"/>
          </a:xfrm>
          <a:prstGeom prst="rect">
            <a:avLst/>
          </a:prstGeom>
          <a:noFill/>
          <a:ln/>
        </p:spPr>
        <p:txBody>
          <a:bodyPr wrap="square" rtlCol="0" anchor="ctr"/>
          <a:lstStyle/>
          <a:p>
            <a:pPr marL="0" indent="0" algn="ctr">
              <a:buNone/>
            </a:pPr>
            <a:r>
              <a:rPr lang="en-US" sz="850" b="1" dirty="0">
                <a:solidFill>
                  <a:srgbClr val="1B3A5C"/>
                </a:solidFill>
              </a:rPr>
              <a:t>TaxSystemDB</a:t>
            </a:r>
            <a:endParaRPr lang="en-US" sz="850" dirty="0"/>
          </a:p>
        </p:txBody>
      </p:sp>
      <p:sp>
        <p:nvSpPr>
          <p:cNvPr id="10" name="Text 8"/>
          <p:cNvSpPr/>
          <p:nvPr/>
        </p:nvSpPr>
        <p:spPr>
          <a:xfrm>
            <a:off x="320040" y="1691640"/>
            <a:ext cx="1417320" cy="914400"/>
          </a:xfrm>
          <a:prstGeom prst="rect">
            <a:avLst/>
          </a:prstGeom>
          <a:noFill/>
          <a:ln/>
        </p:spPr>
        <p:txBody>
          <a:bodyPr wrap="square" rtlCol="0" anchor="t"/>
          <a:lstStyle/>
          <a:p>
            <a:pPr marL="0" indent="0" algn="ctr">
              <a:buNone/>
            </a:pPr>
            <a:r>
              <a:rPr lang="en-US" sz="850" dirty="0">
                <a:solidFill>
                  <a:srgbClr val="64748B"/>
                </a:solidFill>
              </a:rPr>
              <a:t>9 tables</a:t>
            </a:r>
            <a:endParaRPr lang="en-US" sz="850" dirty="0"/>
          </a:p>
          <a:p>
            <a:pPr marL="0" indent="0" algn="ctr">
              <a:buNone/>
            </a:pPr>
            <a:r>
              <a:rPr lang="en-US" sz="850" dirty="0">
                <a:solidFill>
                  <a:srgbClr val="64748B"/>
                </a:solidFill>
              </a:rPr>
              <a:t>+ 3 lookups</a:t>
            </a:r>
            <a:endParaRPr lang="en-US" sz="850" dirty="0"/>
          </a:p>
        </p:txBody>
      </p:sp>
      <p:sp>
        <p:nvSpPr>
          <p:cNvPr id="11" name="Shape 9"/>
          <p:cNvSpPr/>
          <p:nvPr/>
        </p:nvSpPr>
        <p:spPr>
          <a:xfrm>
            <a:off x="1965960" y="960120"/>
            <a:ext cx="1508760" cy="1828800"/>
          </a:xfrm>
          <a:prstGeom prst="rect">
            <a:avLst/>
          </a:prstGeom>
          <a:solidFill>
            <a:srgbClr val="FFFFFF"/>
          </a:solidFill>
          <a:ln/>
          <a:effectLst>
            <a:outerShdw blurRad="50800" dist="25400" dir="8100000" algn="bl" rotWithShape="0">
              <a:srgbClr val="000000">
                <a:alpha val="10000"/>
              </a:srgbClr>
            </a:outerShdw>
          </a:effectLst>
        </p:spPr>
      </p:sp>
      <p:sp>
        <p:nvSpPr>
          <p:cNvPr id="12" name="Shape 10"/>
          <p:cNvSpPr/>
          <p:nvPr/>
        </p:nvSpPr>
        <p:spPr>
          <a:xfrm>
            <a:off x="1965960" y="960120"/>
            <a:ext cx="1508760" cy="365760"/>
          </a:xfrm>
          <a:prstGeom prst="rect">
            <a:avLst/>
          </a:prstGeom>
          <a:solidFill>
            <a:srgbClr val="94A3B8"/>
          </a:solidFill>
          <a:ln/>
        </p:spPr>
      </p:sp>
      <p:sp>
        <p:nvSpPr>
          <p:cNvPr id="13" name="Text 11"/>
          <p:cNvSpPr/>
          <p:nvPr/>
        </p:nvSpPr>
        <p:spPr>
          <a:xfrm>
            <a:off x="1965960" y="960120"/>
            <a:ext cx="1508760" cy="365760"/>
          </a:xfrm>
          <a:prstGeom prst="rect">
            <a:avLst/>
          </a:prstGeom>
          <a:noFill/>
          <a:ln/>
        </p:spPr>
        <p:txBody>
          <a:bodyPr wrap="square" rtlCol="0" anchor="ctr"/>
          <a:lstStyle/>
          <a:p>
            <a:pPr marL="0" indent="0" algn="ctr">
              <a:buNone/>
            </a:pPr>
            <a:r>
              <a:rPr lang="en-US" sz="1100" b="1" dirty="0">
                <a:solidFill>
                  <a:srgbClr val="FFFFFF"/>
                </a:solidFill>
              </a:rPr>
              <a:t>Staging</a:t>
            </a:r>
            <a:endParaRPr lang="en-US" sz="1100" dirty="0"/>
          </a:p>
        </p:txBody>
      </p:sp>
      <p:sp>
        <p:nvSpPr>
          <p:cNvPr id="14" name="Text 12"/>
          <p:cNvSpPr/>
          <p:nvPr/>
        </p:nvSpPr>
        <p:spPr>
          <a:xfrm>
            <a:off x="1965960" y="1371600"/>
            <a:ext cx="1508760" cy="274320"/>
          </a:xfrm>
          <a:prstGeom prst="rect">
            <a:avLst/>
          </a:prstGeom>
          <a:noFill/>
          <a:ln/>
        </p:spPr>
        <p:txBody>
          <a:bodyPr wrap="square" rtlCol="0" anchor="ctr"/>
          <a:lstStyle/>
          <a:p>
            <a:pPr marL="0" indent="0" algn="ctr">
              <a:buNone/>
            </a:pPr>
            <a:r>
              <a:rPr lang="en-US" sz="850" b="1" dirty="0">
                <a:solidFill>
                  <a:srgbClr val="1B3A5C"/>
                </a:solidFill>
              </a:rPr>
              <a:t>DV_Staging</a:t>
            </a:r>
            <a:endParaRPr lang="en-US" sz="850" dirty="0"/>
          </a:p>
        </p:txBody>
      </p:sp>
      <p:sp>
        <p:nvSpPr>
          <p:cNvPr id="15" name="Text 13"/>
          <p:cNvSpPr/>
          <p:nvPr/>
        </p:nvSpPr>
        <p:spPr>
          <a:xfrm>
            <a:off x="2011680" y="1691640"/>
            <a:ext cx="1417320" cy="914400"/>
          </a:xfrm>
          <a:prstGeom prst="rect">
            <a:avLst/>
          </a:prstGeom>
          <a:noFill/>
          <a:ln/>
        </p:spPr>
        <p:txBody>
          <a:bodyPr wrap="square" rtlCol="0" anchor="t"/>
          <a:lstStyle/>
          <a:p>
            <a:pPr marL="0" indent="0" algn="ctr">
              <a:buNone/>
            </a:pPr>
            <a:r>
              <a:rPr lang="en-US" sz="850" dirty="0">
                <a:solidFill>
                  <a:srgbClr val="64748B"/>
                </a:solidFill>
              </a:rPr>
              <a:t>9 STG</a:t>
            </a:r>
            <a:endParaRPr lang="en-US" sz="850" dirty="0"/>
          </a:p>
          <a:p>
            <a:pPr marL="0" indent="0" algn="ctr">
              <a:buNone/>
            </a:pPr>
            <a:r>
              <a:rPr lang="en-US" sz="850" dirty="0">
                <a:solidFill>
                  <a:srgbClr val="64748B"/>
                </a:solidFill>
              </a:rPr>
              <a:t>tables</a:t>
            </a:r>
            <a:endParaRPr lang="en-US" sz="850" dirty="0"/>
          </a:p>
        </p:txBody>
      </p:sp>
      <p:sp>
        <p:nvSpPr>
          <p:cNvPr id="16" name="Shape 14"/>
          <p:cNvSpPr/>
          <p:nvPr/>
        </p:nvSpPr>
        <p:spPr>
          <a:xfrm>
            <a:off x="3657600" y="960120"/>
            <a:ext cx="1508760" cy="1828800"/>
          </a:xfrm>
          <a:prstGeom prst="rect">
            <a:avLst/>
          </a:prstGeom>
          <a:solidFill>
            <a:srgbClr val="FFFFFF"/>
          </a:solidFill>
          <a:ln/>
          <a:effectLst>
            <a:outerShdw blurRad="50800" dist="25400" dir="8100000" algn="bl" rotWithShape="0">
              <a:srgbClr val="000000">
                <a:alpha val="10000"/>
              </a:srgbClr>
            </a:outerShdw>
          </a:effectLst>
        </p:spPr>
      </p:sp>
      <p:sp>
        <p:nvSpPr>
          <p:cNvPr id="17" name="Shape 15"/>
          <p:cNvSpPr/>
          <p:nvPr/>
        </p:nvSpPr>
        <p:spPr>
          <a:xfrm>
            <a:off x="3657600" y="960120"/>
            <a:ext cx="1508760" cy="365760"/>
          </a:xfrm>
          <a:prstGeom prst="rect">
            <a:avLst/>
          </a:prstGeom>
          <a:solidFill>
            <a:srgbClr val="CD7F32"/>
          </a:solidFill>
          <a:ln/>
        </p:spPr>
      </p:sp>
      <p:sp>
        <p:nvSpPr>
          <p:cNvPr id="18" name="Text 16"/>
          <p:cNvSpPr/>
          <p:nvPr/>
        </p:nvSpPr>
        <p:spPr>
          <a:xfrm>
            <a:off x="3657600" y="960120"/>
            <a:ext cx="1508760" cy="365760"/>
          </a:xfrm>
          <a:prstGeom prst="rect">
            <a:avLst/>
          </a:prstGeom>
          <a:noFill/>
          <a:ln/>
        </p:spPr>
        <p:txBody>
          <a:bodyPr wrap="square" rtlCol="0" anchor="ctr"/>
          <a:lstStyle/>
          <a:p>
            <a:pPr marL="0" indent="0" algn="ctr">
              <a:buNone/>
            </a:pPr>
            <a:r>
              <a:rPr lang="en-US" sz="1100" b="1" dirty="0">
                <a:solidFill>
                  <a:srgbClr val="FFFFFF"/>
                </a:solidFill>
              </a:rPr>
              <a:t>Bronze</a:t>
            </a:r>
            <a:endParaRPr lang="en-US" sz="1100" dirty="0"/>
          </a:p>
        </p:txBody>
      </p:sp>
      <p:sp>
        <p:nvSpPr>
          <p:cNvPr id="19" name="Text 17"/>
          <p:cNvSpPr/>
          <p:nvPr/>
        </p:nvSpPr>
        <p:spPr>
          <a:xfrm>
            <a:off x="3657600" y="1371600"/>
            <a:ext cx="1508760" cy="274320"/>
          </a:xfrm>
          <a:prstGeom prst="rect">
            <a:avLst/>
          </a:prstGeom>
          <a:noFill/>
          <a:ln/>
        </p:spPr>
        <p:txBody>
          <a:bodyPr wrap="square" rtlCol="0" anchor="ctr"/>
          <a:lstStyle/>
          <a:p>
            <a:pPr marL="0" indent="0" algn="ctr">
              <a:buNone/>
            </a:pPr>
            <a:r>
              <a:rPr lang="en-US" sz="850" b="1" dirty="0">
                <a:solidFill>
                  <a:srgbClr val="1B3A5C"/>
                </a:solidFill>
              </a:rPr>
              <a:t>DV_Bronze</a:t>
            </a:r>
            <a:endParaRPr lang="en-US" sz="850" dirty="0"/>
          </a:p>
        </p:txBody>
      </p:sp>
      <p:sp>
        <p:nvSpPr>
          <p:cNvPr id="20" name="Text 18"/>
          <p:cNvSpPr/>
          <p:nvPr/>
        </p:nvSpPr>
        <p:spPr>
          <a:xfrm>
            <a:off x="3703320" y="1691640"/>
            <a:ext cx="1417320" cy="914400"/>
          </a:xfrm>
          <a:prstGeom prst="rect">
            <a:avLst/>
          </a:prstGeom>
          <a:noFill/>
          <a:ln/>
        </p:spPr>
        <p:txBody>
          <a:bodyPr wrap="square" rtlCol="0" anchor="t"/>
          <a:lstStyle/>
          <a:p>
            <a:pPr marL="0" indent="0" algn="ctr">
              <a:buNone/>
            </a:pPr>
            <a:r>
              <a:rPr lang="en-US" sz="850" dirty="0">
                <a:solidFill>
                  <a:srgbClr val="64748B"/>
                </a:solidFill>
              </a:rPr>
              <a:t>9 Hub</a:t>
            </a:r>
            <a:endParaRPr lang="en-US" sz="850" dirty="0"/>
          </a:p>
          <a:p>
            <a:pPr marL="0" indent="0" algn="ctr">
              <a:buNone/>
            </a:pPr>
            <a:r>
              <a:rPr lang="en-US" sz="850" dirty="0">
                <a:solidFill>
                  <a:srgbClr val="64748B"/>
                </a:solidFill>
              </a:rPr>
              <a:t>9 SAT</a:t>
            </a:r>
            <a:endParaRPr lang="en-US" sz="850" dirty="0"/>
          </a:p>
          <a:p>
            <a:pPr marL="0" indent="0" algn="ctr">
              <a:buNone/>
            </a:pPr>
            <a:r>
              <a:rPr lang="en-US" sz="850" dirty="0">
                <a:solidFill>
                  <a:srgbClr val="64748B"/>
                </a:solidFill>
              </a:rPr>
              <a:t>5 Link</a:t>
            </a:r>
            <a:endParaRPr lang="en-US" sz="850" dirty="0"/>
          </a:p>
        </p:txBody>
      </p:sp>
      <p:sp>
        <p:nvSpPr>
          <p:cNvPr id="21" name="Shape 19"/>
          <p:cNvSpPr/>
          <p:nvPr/>
        </p:nvSpPr>
        <p:spPr>
          <a:xfrm>
            <a:off x="5349240" y="960120"/>
            <a:ext cx="1508760" cy="1828800"/>
          </a:xfrm>
          <a:prstGeom prst="rect">
            <a:avLst/>
          </a:prstGeom>
          <a:solidFill>
            <a:srgbClr val="FFFFFF"/>
          </a:solidFill>
          <a:ln/>
          <a:effectLst>
            <a:outerShdw blurRad="50800" dist="25400" dir="8100000" algn="bl" rotWithShape="0">
              <a:srgbClr val="000000">
                <a:alpha val="10000"/>
              </a:srgbClr>
            </a:outerShdw>
          </a:effectLst>
        </p:spPr>
      </p:sp>
      <p:sp>
        <p:nvSpPr>
          <p:cNvPr id="22" name="Shape 20"/>
          <p:cNvSpPr/>
          <p:nvPr/>
        </p:nvSpPr>
        <p:spPr>
          <a:xfrm>
            <a:off x="5349240" y="960120"/>
            <a:ext cx="1508760" cy="365760"/>
          </a:xfrm>
          <a:prstGeom prst="rect">
            <a:avLst/>
          </a:prstGeom>
          <a:solidFill>
            <a:srgbClr val="A8A8A8"/>
          </a:solidFill>
          <a:ln/>
        </p:spPr>
      </p:sp>
      <p:sp>
        <p:nvSpPr>
          <p:cNvPr id="23" name="Text 21"/>
          <p:cNvSpPr/>
          <p:nvPr/>
        </p:nvSpPr>
        <p:spPr>
          <a:xfrm>
            <a:off x="5349240" y="960120"/>
            <a:ext cx="1508760" cy="365760"/>
          </a:xfrm>
          <a:prstGeom prst="rect">
            <a:avLst/>
          </a:prstGeom>
          <a:noFill/>
          <a:ln/>
        </p:spPr>
        <p:txBody>
          <a:bodyPr wrap="square" rtlCol="0" anchor="ctr"/>
          <a:lstStyle/>
          <a:p>
            <a:pPr marL="0" indent="0" algn="ctr">
              <a:buNone/>
            </a:pPr>
            <a:r>
              <a:rPr lang="en-US" sz="1100" b="1" dirty="0">
                <a:solidFill>
                  <a:srgbClr val="FFFFFF"/>
                </a:solidFill>
              </a:rPr>
              <a:t>Silver</a:t>
            </a:r>
            <a:endParaRPr lang="en-US" sz="1100" dirty="0"/>
          </a:p>
        </p:txBody>
      </p:sp>
      <p:sp>
        <p:nvSpPr>
          <p:cNvPr id="24" name="Text 22"/>
          <p:cNvSpPr/>
          <p:nvPr/>
        </p:nvSpPr>
        <p:spPr>
          <a:xfrm>
            <a:off x="5349240" y="1371600"/>
            <a:ext cx="1508760" cy="274320"/>
          </a:xfrm>
          <a:prstGeom prst="rect">
            <a:avLst/>
          </a:prstGeom>
          <a:noFill/>
          <a:ln/>
        </p:spPr>
        <p:txBody>
          <a:bodyPr wrap="square" rtlCol="0" anchor="ctr"/>
          <a:lstStyle/>
          <a:p>
            <a:pPr marL="0" indent="0" algn="ctr">
              <a:buNone/>
            </a:pPr>
            <a:r>
              <a:rPr lang="en-US" sz="850" b="1" dirty="0">
                <a:solidFill>
                  <a:srgbClr val="1B3A5C"/>
                </a:solidFill>
              </a:rPr>
              <a:t>DV_Silver</a:t>
            </a:r>
            <a:endParaRPr lang="en-US" sz="850" dirty="0"/>
          </a:p>
        </p:txBody>
      </p:sp>
      <p:sp>
        <p:nvSpPr>
          <p:cNvPr id="25" name="Text 23"/>
          <p:cNvSpPr/>
          <p:nvPr/>
        </p:nvSpPr>
        <p:spPr>
          <a:xfrm>
            <a:off x="5394960" y="1691640"/>
            <a:ext cx="1417320" cy="914400"/>
          </a:xfrm>
          <a:prstGeom prst="rect">
            <a:avLst/>
          </a:prstGeom>
          <a:noFill/>
          <a:ln/>
        </p:spPr>
        <p:txBody>
          <a:bodyPr wrap="square" rtlCol="0" anchor="t"/>
          <a:lstStyle/>
          <a:p>
            <a:pPr marL="0" indent="0" algn="ctr">
              <a:buNone/>
            </a:pPr>
            <a:r>
              <a:rPr lang="en-US" sz="850" dirty="0">
                <a:solidFill>
                  <a:srgbClr val="64748B"/>
                </a:solidFill>
              </a:rPr>
              <a:t>3 PIT</a:t>
            </a:r>
            <a:endParaRPr lang="en-US" sz="850" dirty="0"/>
          </a:p>
          <a:p>
            <a:pPr marL="0" indent="0" algn="ctr">
              <a:buNone/>
            </a:pPr>
            <a:r>
              <a:rPr lang="en-US" sz="850" dirty="0">
                <a:solidFill>
                  <a:srgbClr val="64748B"/>
                </a:solidFill>
              </a:rPr>
              <a:t>1 BRG</a:t>
            </a:r>
            <a:endParaRPr lang="en-US" sz="850" dirty="0"/>
          </a:p>
          <a:p>
            <a:pPr marL="0" indent="0" algn="ctr">
              <a:buNone/>
            </a:pPr>
            <a:r>
              <a:rPr lang="en-US" sz="850" dirty="0">
                <a:solidFill>
                  <a:srgbClr val="64748B"/>
                </a:solidFill>
              </a:rPr>
              <a:t>2 BUS</a:t>
            </a:r>
            <a:endParaRPr lang="en-US" sz="850" dirty="0"/>
          </a:p>
        </p:txBody>
      </p:sp>
      <p:sp>
        <p:nvSpPr>
          <p:cNvPr id="26" name="Shape 24"/>
          <p:cNvSpPr/>
          <p:nvPr/>
        </p:nvSpPr>
        <p:spPr>
          <a:xfrm>
            <a:off x="7040880" y="960120"/>
            <a:ext cx="1508760" cy="1828800"/>
          </a:xfrm>
          <a:prstGeom prst="rect">
            <a:avLst/>
          </a:prstGeom>
          <a:solidFill>
            <a:srgbClr val="FFFFFF"/>
          </a:solidFill>
          <a:ln/>
          <a:effectLst>
            <a:outerShdw blurRad="50800" dist="25400" dir="8100000" algn="bl" rotWithShape="0">
              <a:srgbClr val="000000">
                <a:alpha val="10000"/>
              </a:srgbClr>
            </a:outerShdw>
          </a:effectLst>
        </p:spPr>
      </p:sp>
      <p:sp>
        <p:nvSpPr>
          <p:cNvPr id="27" name="Shape 25"/>
          <p:cNvSpPr/>
          <p:nvPr/>
        </p:nvSpPr>
        <p:spPr>
          <a:xfrm>
            <a:off x="7040880" y="960120"/>
            <a:ext cx="1508760" cy="365760"/>
          </a:xfrm>
          <a:prstGeom prst="rect">
            <a:avLst/>
          </a:prstGeom>
          <a:solidFill>
            <a:srgbClr val="D4A843"/>
          </a:solidFill>
          <a:ln/>
        </p:spPr>
      </p:sp>
      <p:sp>
        <p:nvSpPr>
          <p:cNvPr id="28" name="Text 26"/>
          <p:cNvSpPr/>
          <p:nvPr/>
        </p:nvSpPr>
        <p:spPr>
          <a:xfrm>
            <a:off x="7040880" y="960120"/>
            <a:ext cx="1508760" cy="365760"/>
          </a:xfrm>
          <a:prstGeom prst="rect">
            <a:avLst/>
          </a:prstGeom>
          <a:noFill/>
          <a:ln/>
        </p:spPr>
        <p:txBody>
          <a:bodyPr wrap="square" rtlCol="0" anchor="ctr"/>
          <a:lstStyle/>
          <a:p>
            <a:pPr marL="0" indent="0" algn="ctr">
              <a:buNone/>
            </a:pPr>
            <a:r>
              <a:rPr lang="en-US" sz="1100" b="1" dirty="0">
                <a:solidFill>
                  <a:srgbClr val="FFFFFF"/>
                </a:solidFill>
              </a:rPr>
              <a:t>Gold</a:t>
            </a:r>
            <a:endParaRPr lang="en-US" sz="1100" dirty="0"/>
          </a:p>
        </p:txBody>
      </p:sp>
      <p:sp>
        <p:nvSpPr>
          <p:cNvPr id="29" name="Text 27"/>
          <p:cNvSpPr/>
          <p:nvPr/>
        </p:nvSpPr>
        <p:spPr>
          <a:xfrm>
            <a:off x="7040880" y="1371600"/>
            <a:ext cx="1508760" cy="274320"/>
          </a:xfrm>
          <a:prstGeom prst="rect">
            <a:avLst/>
          </a:prstGeom>
          <a:noFill/>
          <a:ln/>
        </p:spPr>
        <p:txBody>
          <a:bodyPr wrap="square" rtlCol="0" anchor="ctr"/>
          <a:lstStyle/>
          <a:p>
            <a:pPr marL="0" indent="0" algn="ctr">
              <a:buNone/>
            </a:pPr>
            <a:r>
              <a:rPr lang="en-US" sz="850" b="1" dirty="0">
                <a:solidFill>
                  <a:srgbClr val="1B3A5C"/>
                </a:solidFill>
              </a:rPr>
              <a:t>DV_Gold</a:t>
            </a:r>
            <a:endParaRPr lang="en-US" sz="850" dirty="0"/>
          </a:p>
        </p:txBody>
      </p:sp>
      <p:sp>
        <p:nvSpPr>
          <p:cNvPr id="30" name="Text 28"/>
          <p:cNvSpPr/>
          <p:nvPr/>
        </p:nvSpPr>
        <p:spPr>
          <a:xfrm>
            <a:off x="7086600" y="1691640"/>
            <a:ext cx="1417320" cy="914400"/>
          </a:xfrm>
          <a:prstGeom prst="rect">
            <a:avLst/>
          </a:prstGeom>
          <a:noFill/>
          <a:ln/>
        </p:spPr>
        <p:txBody>
          <a:bodyPr wrap="square" rtlCol="0" anchor="t"/>
          <a:lstStyle/>
          <a:p>
            <a:pPr marL="0" indent="0" algn="ctr">
              <a:buNone/>
            </a:pPr>
            <a:r>
              <a:rPr lang="en-US" sz="850" dirty="0">
                <a:solidFill>
                  <a:srgbClr val="64748B"/>
                </a:solidFill>
              </a:rPr>
              <a:t>7 DIM</a:t>
            </a:r>
            <a:endParaRPr lang="en-US" sz="850" dirty="0"/>
          </a:p>
          <a:p>
            <a:pPr marL="0" indent="0" algn="ctr">
              <a:buNone/>
            </a:pPr>
            <a:r>
              <a:rPr lang="en-US" sz="850" dirty="0">
                <a:solidFill>
                  <a:srgbClr val="64748B"/>
                </a:solidFill>
              </a:rPr>
              <a:t>4 FACT</a:t>
            </a:r>
            <a:endParaRPr lang="en-US" sz="850" dirty="0"/>
          </a:p>
        </p:txBody>
      </p:sp>
      <p:sp>
        <p:nvSpPr>
          <p:cNvPr id="31" name="Text 29"/>
          <p:cNvSpPr/>
          <p:nvPr/>
        </p:nvSpPr>
        <p:spPr>
          <a:xfrm>
            <a:off x="1737360" y="1508760"/>
            <a:ext cx="274320" cy="365760"/>
          </a:xfrm>
          <a:prstGeom prst="rect">
            <a:avLst/>
          </a:prstGeom>
          <a:noFill/>
          <a:ln/>
        </p:spPr>
        <p:txBody>
          <a:bodyPr wrap="square" rtlCol="0" anchor="ctr"/>
          <a:lstStyle/>
          <a:p>
            <a:pPr marL="0" indent="0" algn="ctr">
              <a:buNone/>
            </a:pPr>
            <a:r>
              <a:rPr lang="en-US" sz="1800" dirty="0">
                <a:solidFill>
                  <a:srgbClr val="2A9D8F"/>
                </a:solidFill>
              </a:rPr>
              <a:t>→</a:t>
            </a:r>
            <a:endParaRPr lang="en-US" sz="1800" dirty="0"/>
          </a:p>
        </p:txBody>
      </p:sp>
      <p:sp>
        <p:nvSpPr>
          <p:cNvPr id="32" name="Text 30"/>
          <p:cNvSpPr/>
          <p:nvPr/>
        </p:nvSpPr>
        <p:spPr>
          <a:xfrm>
            <a:off x="3429000" y="1508760"/>
            <a:ext cx="274320" cy="365760"/>
          </a:xfrm>
          <a:prstGeom prst="rect">
            <a:avLst/>
          </a:prstGeom>
          <a:noFill/>
          <a:ln/>
        </p:spPr>
        <p:txBody>
          <a:bodyPr wrap="square" rtlCol="0" anchor="ctr"/>
          <a:lstStyle/>
          <a:p>
            <a:pPr marL="0" indent="0" algn="ctr">
              <a:buNone/>
            </a:pPr>
            <a:r>
              <a:rPr lang="en-US" sz="1800" dirty="0">
                <a:solidFill>
                  <a:srgbClr val="2A9D8F"/>
                </a:solidFill>
              </a:rPr>
              <a:t>→</a:t>
            </a:r>
            <a:endParaRPr lang="en-US" sz="1800" dirty="0"/>
          </a:p>
        </p:txBody>
      </p:sp>
      <p:sp>
        <p:nvSpPr>
          <p:cNvPr id="33" name="Text 31"/>
          <p:cNvSpPr/>
          <p:nvPr/>
        </p:nvSpPr>
        <p:spPr>
          <a:xfrm>
            <a:off x="5120640" y="1508760"/>
            <a:ext cx="274320" cy="365760"/>
          </a:xfrm>
          <a:prstGeom prst="rect">
            <a:avLst/>
          </a:prstGeom>
          <a:noFill/>
          <a:ln/>
        </p:spPr>
        <p:txBody>
          <a:bodyPr wrap="square" rtlCol="0" anchor="ctr"/>
          <a:lstStyle/>
          <a:p>
            <a:pPr marL="0" indent="0" algn="ctr">
              <a:buNone/>
            </a:pPr>
            <a:r>
              <a:rPr lang="en-US" sz="1800" dirty="0">
                <a:solidFill>
                  <a:srgbClr val="2A9D8F"/>
                </a:solidFill>
              </a:rPr>
              <a:t>→</a:t>
            </a:r>
            <a:endParaRPr lang="en-US" sz="1800" dirty="0"/>
          </a:p>
        </p:txBody>
      </p:sp>
      <p:sp>
        <p:nvSpPr>
          <p:cNvPr id="34" name="Text 32"/>
          <p:cNvSpPr/>
          <p:nvPr/>
        </p:nvSpPr>
        <p:spPr>
          <a:xfrm>
            <a:off x="6812280" y="1508760"/>
            <a:ext cx="274320" cy="365760"/>
          </a:xfrm>
          <a:prstGeom prst="rect">
            <a:avLst/>
          </a:prstGeom>
          <a:noFill/>
          <a:ln/>
        </p:spPr>
        <p:txBody>
          <a:bodyPr wrap="square" rtlCol="0" anchor="ctr"/>
          <a:lstStyle/>
          <a:p>
            <a:pPr marL="0" indent="0" algn="ctr">
              <a:buNone/>
            </a:pPr>
            <a:r>
              <a:rPr lang="en-US" sz="1800" dirty="0">
                <a:solidFill>
                  <a:srgbClr val="2A9D8F"/>
                </a:solidFill>
              </a:rPr>
              <a:t>→</a:t>
            </a:r>
            <a:endParaRPr lang="en-US" sz="1800" dirty="0"/>
          </a:p>
        </p:txBody>
      </p:sp>
      <p:sp>
        <p:nvSpPr>
          <p:cNvPr id="35" name="Shape 33"/>
          <p:cNvSpPr/>
          <p:nvPr/>
        </p:nvSpPr>
        <p:spPr>
          <a:xfrm>
            <a:off x="274320" y="3017520"/>
            <a:ext cx="4114800" cy="1737360"/>
          </a:xfrm>
          <a:prstGeom prst="rect">
            <a:avLst/>
          </a:prstGeom>
          <a:solidFill>
            <a:srgbClr val="FFFFFF"/>
          </a:solidFill>
          <a:ln/>
          <a:effectLst>
            <a:outerShdw blurRad="50800" dist="25400" dir="8100000" algn="bl" rotWithShape="0">
              <a:srgbClr val="000000">
                <a:alpha val="10000"/>
              </a:srgbClr>
            </a:outerShdw>
          </a:effectLst>
        </p:spPr>
      </p:sp>
      <p:sp>
        <p:nvSpPr>
          <p:cNvPr id="36" name="Shape 34"/>
          <p:cNvSpPr/>
          <p:nvPr/>
        </p:nvSpPr>
        <p:spPr>
          <a:xfrm>
            <a:off x="274320" y="3017520"/>
            <a:ext cx="54864" cy="1737360"/>
          </a:xfrm>
          <a:prstGeom prst="rect">
            <a:avLst/>
          </a:prstGeom>
          <a:solidFill>
            <a:srgbClr val="2A9D8F"/>
          </a:solidFill>
          <a:ln/>
        </p:spPr>
      </p:sp>
      <p:sp>
        <p:nvSpPr>
          <p:cNvPr id="37" name="Text 35"/>
          <p:cNvSpPr/>
          <p:nvPr/>
        </p:nvSpPr>
        <p:spPr>
          <a:xfrm>
            <a:off x="457200" y="3063240"/>
            <a:ext cx="3657600" cy="228600"/>
          </a:xfrm>
          <a:prstGeom prst="rect">
            <a:avLst/>
          </a:prstGeom>
          <a:noFill/>
          <a:ln/>
        </p:spPr>
        <p:txBody>
          <a:bodyPr wrap="square" rtlCol="0" anchor="ctr"/>
          <a:lstStyle/>
          <a:p>
            <a:pPr marL="0" indent="0">
              <a:buNone/>
            </a:pPr>
            <a:r>
              <a:rPr lang="en-US" sz="1100" b="1" dirty="0">
                <a:solidFill>
                  <a:srgbClr val="1B3A5C"/>
                </a:solidFill>
              </a:rPr>
              <a:t>ETL Control Framework</a:t>
            </a:r>
            <a:endParaRPr lang="en-US" sz="1100" dirty="0"/>
          </a:p>
        </p:txBody>
      </p:sp>
      <p:sp>
        <p:nvSpPr>
          <p:cNvPr id="38" name="Text 36"/>
          <p:cNvSpPr/>
          <p:nvPr/>
        </p:nvSpPr>
        <p:spPr>
          <a:xfrm>
            <a:off x="457200" y="3337560"/>
            <a:ext cx="3749040" cy="1280160"/>
          </a:xfrm>
          <a:prstGeom prst="rect">
            <a:avLst/>
          </a:prstGeom>
          <a:noFill/>
          <a:ln/>
        </p:spPr>
        <p:txBody>
          <a:bodyPr wrap="square" rtlCol="0" anchor="ctr"/>
          <a:lstStyle/>
          <a:p>
            <a:pPr marL="342900" indent="-342900">
              <a:spcAft>
                <a:spcPts val="400"/>
              </a:spcAft>
              <a:buSzPct val="100000"/>
              <a:buChar char="•"/>
            </a:pPr>
            <a:r>
              <a:rPr lang="en-US" sz="900" dirty="0">
                <a:solidFill>
                  <a:srgbClr val="1E293B"/>
                </a:solidFill>
              </a:rPr>
              <a:t>ETL_Configuration — Entity registry &amp; load order</a:t>
            </a:r>
            <a:endParaRPr lang="en-US" sz="900" dirty="0"/>
          </a:p>
          <a:p>
            <a:pPr marL="342900" indent="-342900">
              <a:spcAft>
                <a:spcPts val="400"/>
              </a:spcAft>
              <a:buSzPct val="100000"/>
              <a:buChar char="•"/>
            </a:pPr>
            <a:r>
              <a:rPr lang="en-US" sz="900" dirty="0">
                <a:solidFill>
                  <a:srgbClr val="1E293B"/>
                </a:solidFill>
              </a:rPr>
              <a:t>ETL_BatchLog / StepLog — Execution tracking</a:t>
            </a:r>
            <a:endParaRPr lang="en-US" sz="900" dirty="0"/>
          </a:p>
          <a:p>
            <a:pPr marL="342900" indent="-342900">
              <a:spcAft>
                <a:spcPts val="400"/>
              </a:spcAft>
              <a:buSzPct val="100000"/>
              <a:buChar char="•"/>
            </a:pPr>
            <a:r>
              <a:rPr lang="en-US" sz="900" dirty="0">
                <a:solidFill>
                  <a:srgbClr val="1E293B"/>
                </a:solidFill>
              </a:rPr>
              <a:t>ETL_Watermark — High-water mark per table</a:t>
            </a:r>
            <a:endParaRPr lang="en-US" sz="900" dirty="0"/>
          </a:p>
          <a:p>
            <a:pPr marL="342900" indent="-342900">
              <a:spcAft>
                <a:spcPts val="400"/>
              </a:spcAft>
              <a:buSzPct val="100000"/>
              <a:buChar char="•"/>
            </a:pPr>
            <a:r>
              <a:rPr lang="en-US" sz="900" dirty="0">
                <a:solidFill>
                  <a:srgbClr val="1E293B"/>
                </a:solidFill>
              </a:rPr>
              <a:t>ETL_ErrorLog / DataQualityLog — Error &amp; DQ</a:t>
            </a:r>
            <a:endParaRPr lang="en-US" sz="900" dirty="0"/>
          </a:p>
          <a:p>
            <a:pPr marL="342900" indent="-342900">
              <a:spcAft>
                <a:spcPts val="400"/>
              </a:spcAft>
              <a:buSzPct val="100000"/>
              <a:buChar char="•"/>
            </a:pPr>
            <a:r>
              <a:rPr lang="en-US" sz="900" b="1" dirty="0">
                <a:solidFill>
                  <a:srgbClr val="2A9D8F"/>
                </a:solidFill>
              </a:rPr>
              <a:t>Master: usp_MasterETL_FullLoad_Complete</a:t>
            </a:r>
            <a:endParaRPr lang="en-US" sz="900" dirty="0"/>
          </a:p>
        </p:txBody>
      </p:sp>
      <p:sp>
        <p:nvSpPr>
          <p:cNvPr id="39" name="Shape 37"/>
          <p:cNvSpPr/>
          <p:nvPr/>
        </p:nvSpPr>
        <p:spPr>
          <a:xfrm>
            <a:off x="4754880" y="3017520"/>
            <a:ext cx="4114800" cy="1737360"/>
          </a:xfrm>
          <a:prstGeom prst="rect">
            <a:avLst/>
          </a:prstGeom>
          <a:solidFill>
            <a:srgbClr val="FFFFFF"/>
          </a:solidFill>
          <a:ln/>
          <a:effectLst>
            <a:outerShdw blurRad="50800" dist="25400" dir="8100000" algn="bl" rotWithShape="0">
              <a:srgbClr val="000000">
                <a:alpha val="10000"/>
              </a:srgbClr>
            </a:outerShdw>
          </a:effectLst>
        </p:spPr>
      </p:sp>
      <p:sp>
        <p:nvSpPr>
          <p:cNvPr id="40" name="Shape 38"/>
          <p:cNvSpPr/>
          <p:nvPr/>
        </p:nvSpPr>
        <p:spPr>
          <a:xfrm>
            <a:off x="4754880" y="3017520"/>
            <a:ext cx="54864" cy="1737360"/>
          </a:xfrm>
          <a:prstGeom prst="rect">
            <a:avLst/>
          </a:prstGeom>
          <a:solidFill>
            <a:srgbClr val="1B3A5C"/>
          </a:solidFill>
          <a:ln/>
        </p:spPr>
      </p:sp>
      <p:sp>
        <p:nvSpPr>
          <p:cNvPr id="41" name="Text 39"/>
          <p:cNvSpPr/>
          <p:nvPr/>
        </p:nvSpPr>
        <p:spPr>
          <a:xfrm>
            <a:off x="4937760" y="3063240"/>
            <a:ext cx="3657600" cy="228600"/>
          </a:xfrm>
          <a:prstGeom prst="rect">
            <a:avLst/>
          </a:prstGeom>
          <a:noFill/>
          <a:ln/>
        </p:spPr>
        <p:txBody>
          <a:bodyPr wrap="square" rtlCol="0" anchor="ctr"/>
          <a:lstStyle/>
          <a:p>
            <a:pPr marL="0" indent="0">
              <a:buNone/>
            </a:pPr>
            <a:r>
              <a:rPr lang="en-US" sz="1100" b="1" dirty="0">
                <a:solidFill>
                  <a:srgbClr val="1B3A5C"/>
                </a:solidFill>
              </a:rPr>
              <a:t>Technology Stack</a:t>
            </a:r>
            <a:endParaRPr lang="en-US" sz="1100" dirty="0"/>
          </a:p>
        </p:txBody>
      </p:sp>
      <p:sp>
        <p:nvSpPr>
          <p:cNvPr id="42" name="Text 40"/>
          <p:cNvSpPr/>
          <p:nvPr/>
        </p:nvSpPr>
        <p:spPr>
          <a:xfrm>
            <a:off x="4937760" y="3337560"/>
            <a:ext cx="3749040" cy="1280160"/>
          </a:xfrm>
          <a:prstGeom prst="rect">
            <a:avLst/>
          </a:prstGeom>
          <a:noFill/>
          <a:ln/>
        </p:spPr>
        <p:txBody>
          <a:bodyPr wrap="square" rtlCol="0" anchor="ctr"/>
          <a:lstStyle/>
          <a:p>
            <a:pPr marL="342900" indent="-342900">
              <a:spcAft>
                <a:spcPts val="400"/>
              </a:spcAft>
              <a:buSzPct val="100000"/>
              <a:buChar char="•"/>
            </a:pPr>
            <a:r>
              <a:rPr lang="en-US" sz="900" dirty="0">
                <a:solidFill>
                  <a:srgbClr val="1E293B"/>
                </a:solidFill>
              </a:rPr>
              <a:t>SQL Server 2025 Developer Edition (v17)</a:t>
            </a:r>
            <a:endParaRPr lang="en-US" sz="900" dirty="0"/>
          </a:p>
          <a:p>
            <a:pPr marL="342900" indent="-342900">
              <a:spcAft>
                <a:spcPts val="400"/>
              </a:spcAft>
              <a:buSzPct val="100000"/>
              <a:buChar char="•"/>
            </a:pPr>
            <a:r>
              <a:rPr lang="en-US" sz="900" dirty="0">
                <a:solidFill>
                  <a:srgbClr val="1E293B"/>
                </a:solidFill>
              </a:rPr>
              <a:t>SSIS 2022+ — Project Deployment on SSISDB</a:t>
            </a:r>
            <a:endParaRPr lang="en-US" sz="900" dirty="0"/>
          </a:p>
          <a:p>
            <a:pPr marL="342900" indent="-342900">
              <a:spcAft>
                <a:spcPts val="400"/>
              </a:spcAft>
              <a:buSzPct val="100000"/>
              <a:buChar char="•"/>
            </a:pPr>
            <a:r>
              <a:rPr lang="en-US" sz="900" dirty="0">
                <a:solidFill>
                  <a:srgbClr val="1E293B"/>
                </a:solidFill>
              </a:rPr>
              <a:t>SHA-256 via HASHBYTES → VARBINARY(32)</a:t>
            </a:r>
            <a:endParaRPr lang="en-US" sz="900" dirty="0"/>
          </a:p>
          <a:p>
            <a:pPr marL="342900" indent="-342900">
              <a:spcAft>
                <a:spcPts val="400"/>
              </a:spcAft>
              <a:buSzPct val="100000"/>
              <a:buChar char="•"/>
            </a:pPr>
            <a:r>
              <a:rPr lang="en-US" sz="900" dirty="0">
                <a:solidFill>
                  <a:srgbClr val="1E293B"/>
                </a:solidFill>
              </a:rPr>
              <a:t>GCP e2-standard-4 (4 vCPU, 16GB, 128GB SSD)</a:t>
            </a:r>
            <a:endParaRPr lang="en-US" sz="900" dirty="0"/>
          </a:p>
          <a:p>
            <a:pPr marL="342900" indent="-342900">
              <a:spcAft>
                <a:spcPts val="400"/>
              </a:spcAft>
              <a:buSzPct val="100000"/>
              <a:buChar char="•"/>
            </a:pPr>
            <a:r>
              <a:rPr lang="en-US" sz="900" b="1" dirty="0">
                <a:solidFill>
                  <a:srgbClr val="2A9D8F"/>
                </a:solidFill>
              </a:rPr>
              <a:t>65 objects • 15 SPs • 49 ETL steps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8 / 18</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Implementation — Four Layers</a:t>
            </a:r>
            <a:endParaRPr lang="en-US" sz="2200" dirty="0"/>
          </a:p>
        </p:txBody>
      </p:sp>
      <p:sp>
        <p:nvSpPr>
          <p:cNvPr id="5" name="Shape 3"/>
          <p:cNvSpPr/>
          <p:nvPr/>
        </p:nvSpPr>
        <p:spPr>
          <a:xfrm>
            <a:off x="457200" y="731520"/>
            <a:ext cx="1097280" cy="36576"/>
          </a:xfrm>
          <a:prstGeom prst="rect">
            <a:avLst/>
          </a:prstGeom>
          <a:solidFill>
            <a:srgbClr val="2A9D8F"/>
          </a:solidFill>
          <a:ln/>
        </p:spPr>
      </p:sp>
      <p:sp>
        <p:nvSpPr>
          <p:cNvPr id="6" name="Shape 4"/>
          <p:cNvSpPr/>
          <p:nvPr/>
        </p:nvSpPr>
        <p:spPr>
          <a:xfrm>
            <a:off x="274320" y="914400"/>
            <a:ext cx="2011680" cy="2103120"/>
          </a:xfrm>
          <a:prstGeom prst="rect">
            <a:avLst/>
          </a:prstGeom>
          <a:solidFill>
            <a:srgbClr val="FFFFFF"/>
          </a:solidFill>
          <a:ln/>
          <a:effectLst>
            <a:outerShdw blurRad="50800" dist="25400" dir="8100000" algn="bl" rotWithShape="0">
              <a:srgbClr val="000000">
                <a:alpha val="10000"/>
              </a:srgbClr>
            </a:outerShdw>
          </a:effectLst>
        </p:spPr>
      </p:sp>
      <p:sp>
        <p:nvSpPr>
          <p:cNvPr id="7" name="Shape 5"/>
          <p:cNvSpPr/>
          <p:nvPr/>
        </p:nvSpPr>
        <p:spPr>
          <a:xfrm>
            <a:off x="274320" y="914400"/>
            <a:ext cx="2011680" cy="320040"/>
          </a:xfrm>
          <a:prstGeom prst="rect">
            <a:avLst/>
          </a:prstGeom>
          <a:solidFill>
            <a:srgbClr val="94A3B8"/>
          </a:solidFill>
          <a:ln/>
        </p:spPr>
      </p:sp>
      <p:sp>
        <p:nvSpPr>
          <p:cNvPr id="8" name="Text 6"/>
          <p:cNvSpPr/>
          <p:nvPr/>
        </p:nvSpPr>
        <p:spPr>
          <a:xfrm>
            <a:off x="274320" y="914400"/>
            <a:ext cx="2011680" cy="320040"/>
          </a:xfrm>
          <a:prstGeom prst="rect">
            <a:avLst/>
          </a:prstGeom>
          <a:noFill/>
          <a:ln/>
        </p:spPr>
        <p:txBody>
          <a:bodyPr wrap="square" rtlCol="0" anchor="ctr"/>
          <a:lstStyle/>
          <a:p>
            <a:pPr marL="0" indent="0" algn="ctr">
              <a:buNone/>
            </a:pPr>
            <a:r>
              <a:rPr lang="en-US" sz="1000" b="1" dirty="0">
                <a:solidFill>
                  <a:srgbClr val="FFFFFF"/>
                </a:solidFill>
              </a:rPr>
              <a:t>Staging (9)</a:t>
            </a:r>
            <a:endParaRPr lang="en-US" sz="1000" dirty="0"/>
          </a:p>
        </p:txBody>
      </p:sp>
      <p:sp>
        <p:nvSpPr>
          <p:cNvPr id="9" name="Text 7"/>
          <p:cNvSpPr/>
          <p:nvPr/>
        </p:nvSpPr>
        <p:spPr>
          <a:xfrm>
            <a:off x="365760" y="1325880"/>
            <a:ext cx="1828800" cy="1554480"/>
          </a:xfrm>
          <a:prstGeom prst="rect">
            <a:avLst/>
          </a:prstGeom>
          <a:noFill/>
          <a:ln/>
        </p:spPr>
        <p:txBody>
          <a:bodyPr wrap="square" rtlCol="0" anchor="ctr"/>
          <a:lstStyle/>
          <a:p>
            <a:pPr marL="342900" indent="-342900">
              <a:spcAft>
                <a:spcPts val="400"/>
              </a:spcAft>
              <a:buSzPct val="100000"/>
              <a:buChar char="•"/>
            </a:pPr>
            <a:r>
              <a:rPr lang="en-US" sz="850" dirty="0">
                <a:solidFill>
                  <a:srgbClr val="1E293B"/>
                </a:solidFill>
              </a:rPr>
              <a:t>Full: TRUNCATE → INSERT</a:t>
            </a:r>
            <a:endParaRPr lang="en-US" sz="850" dirty="0"/>
          </a:p>
          <a:p>
            <a:pPr marL="342900" indent="-342900">
              <a:spcAft>
                <a:spcPts val="400"/>
              </a:spcAft>
              <a:buSzPct val="100000"/>
              <a:buChar char="•"/>
            </a:pPr>
            <a:r>
              <a:rPr lang="en-US" sz="850" dirty="0">
                <a:solidFill>
                  <a:srgbClr val="1E293B"/>
                </a:solidFill>
              </a:rPr>
              <a:t>Incr: Watermark delta</a:t>
            </a:r>
            <a:endParaRPr lang="en-US" sz="850" dirty="0"/>
          </a:p>
          <a:p>
            <a:pPr marL="342900" indent="-342900">
              <a:spcAft>
                <a:spcPts val="400"/>
              </a:spcAft>
              <a:buSzPct val="100000"/>
              <a:buChar char="•"/>
            </a:pPr>
            <a:r>
              <a:rPr lang="en-US" sz="850" b="1" dirty="0">
                <a:solidFill>
                  <a:srgbClr val="2A9D8F"/>
                </a:solidFill>
              </a:rPr>
              <a:t>1:1 source mapping</a:t>
            </a:r>
            <a:endParaRPr lang="en-US" sz="850" dirty="0"/>
          </a:p>
        </p:txBody>
      </p:sp>
      <p:sp>
        <p:nvSpPr>
          <p:cNvPr id="10" name="Shape 8"/>
          <p:cNvSpPr/>
          <p:nvPr/>
        </p:nvSpPr>
        <p:spPr>
          <a:xfrm>
            <a:off x="2468880" y="914400"/>
            <a:ext cx="2011680" cy="2103120"/>
          </a:xfrm>
          <a:prstGeom prst="rect">
            <a:avLst/>
          </a:prstGeom>
          <a:solidFill>
            <a:srgbClr val="FFFFFF"/>
          </a:solidFill>
          <a:ln/>
          <a:effectLst>
            <a:outerShdw blurRad="50800" dist="25400" dir="8100000" algn="bl" rotWithShape="0">
              <a:srgbClr val="000000">
                <a:alpha val="10000"/>
              </a:srgbClr>
            </a:outerShdw>
          </a:effectLst>
        </p:spPr>
      </p:sp>
      <p:sp>
        <p:nvSpPr>
          <p:cNvPr id="11" name="Shape 9"/>
          <p:cNvSpPr/>
          <p:nvPr/>
        </p:nvSpPr>
        <p:spPr>
          <a:xfrm>
            <a:off x="2468880" y="914400"/>
            <a:ext cx="2011680" cy="320040"/>
          </a:xfrm>
          <a:prstGeom prst="rect">
            <a:avLst/>
          </a:prstGeom>
          <a:solidFill>
            <a:srgbClr val="CD7F32"/>
          </a:solidFill>
          <a:ln/>
        </p:spPr>
      </p:sp>
      <p:sp>
        <p:nvSpPr>
          <p:cNvPr id="12" name="Text 10"/>
          <p:cNvSpPr/>
          <p:nvPr/>
        </p:nvSpPr>
        <p:spPr>
          <a:xfrm>
            <a:off x="2468880" y="914400"/>
            <a:ext cx="2011680" cy="320040"/>
          </a:xfrm>
          <a:prstGeom prst="rect">
            <a:avLst/>
          </a:prstGeom>
          <a:noFill/>
          <a:ln/>
        </p:spPr>
        <p:txBody>
          <a:bodyPr wrap="square" rtlCol="0" anchor="ctr"/>
          <a:lstStyle/>
          <a:p>
            <a:pPr marL="0" indent="0" algn="ctr">
              <a:buNone/>
            </a:pPr>
            <a:r>
              <a:rPr lang="en-US" sz="1000" b="1" dirty="0">
                <a:solidFill>
                  <a:srgbClr val="FFFFFF"/>
                </a:solidFill>
              </a:rPr>
              <a:t>Bronze (23)</a:t>
            </a:r>
            <a:endParaRPr lang="en-US" sz="1000" dirty="0"/>
          </a:p>
        </p:txBody>
      </p:sp>
      <p:sp>
        <p:nvSpPr>
          <p:cNvPr id="13" name="Text 11"/>
          <p:cNvSpPr/>
          <p:nvPr/>
        </p:nvSpPr>
        <p:spPr>
          <a:xfrm>
            <a:off x="2560320" y="1325880"/>
            <a:ext cx="1828800" cy="1554480"/>
          </a:xfrm>
          <a:prstGeom prst="rect">
            <a:avLst/>
          </a:prstGeom>
          <a:noFill/>
          <a:ln/>
        </p:spPr>
        <p:txBody>
          <a:bodyPr wrap="square" rtlCol="0" anchor="ctr"/>
          <a:lstStyle/>
          <a:p>
            <a:pPr marL="342900" indent="-342900">
              <a:spcAft>
                <a:spcPts val="400"/>
              </a:spcAft>
              <a:buSzPct val="100000"/>
              <a:buChar char="•"/>
            </a:pPr>
            <a:r>
              <a:rPr lang="en-US" sz="850" dirty="0">
                <a:solidFill>
                  <a:srgbClr val="1E293B"/>
                </a:solidFill>
              </a:rPr>
              <a:t>9 Hubs: SHA-256 hash keys</a:t>
            </a:r>
            <a:endParaRPr lang="en-US" sz="850" dirty="0"/>
          </a:p>
          <a:p>
            <a:pPr marL="342900" indent="-342900">
              <a:spcAft>
                <a:spcPts val="400"/>
              </a:spcAft>
              <a:buSzPct val="100000"/>
              <a:buChar char="•"/>
            </a:pPr>
            <a:r>
              <a:rPr lang="en-US" sz="850" dirty="0">
                <a:solidFill>
                  <a:srgbClr val="1E293B"/>
                </a:solidFill>
              </a:rPr>
              <a:t>9 SATs: HashDiff + SCD2</a:t>
            </a:r>
            <a:endParaRPr lang="en-US" sz="850" dirty="0"/>
          </a:p>
          <a:p>
            <a:pPr marL="342900" indent="-342900">
              <a:spcAft>
                <a:spcPts val="400"/>
              </a:spcAft>
              <a:buSzPct val="100000"/>
              <a:buChar char="•"/>
            </a:pPr>
            <a:r>
              <a:rPr lang="en-US" sz="850" dirty="0">
                <a:solidFill>
                  <a:srgbClr val="1E293B"/>
                </a:solidFill>
              </a:rPr>
              <a:t>5 Links: Relationships</a:t>
            </a:r>
            <a:endParaRPr lang="en-US" sz="850" dirty="0"/>
          </a:p>
          <a:p>
            <a:pPr marL="342900" indent="-342900">
              <a:spcAft>
                <a:spcPts val="400"/>
              </a:spcAft>
              <a:buSzPct val="100000"/>
              <a:buChar char="•"/>
            </a:pPr>
            <a:r>
              <a:rPr lang="en-US" sz="850" b="1" dirty="0">
                <a:solidFill>
                  <a:srgbClr val="2A9D8F"/>
                </a:solidFill>
              </a:rPr>
              <a:t>Insert-only audit trail</a:t>
            </a:r>
            <a:endParaRPr lang="en-US" sz="850" dirty="0"/>
          </a:p>
        </p:txBody>
      </p:sp>
      <p:sp>
        <p:nvSpPr>
          <p:cNvPr id="14" name="Shape 12"/>
          <p:cNvSpPr/>
          <p:nvPr/>
        </p:nvSpPr>
        <p:spPr>
          <a:xfrm>
            <a:off x="4663440" y="914400"/>
            <a:ext cx="2011680" cy="2103120"/>
          </a:xfrm>
          <a:prstGeom prst="rect">
            <a:avLst/>
          </a:prstGeom>
          <a:solidFill>
            <a:srgbClr val="FFFFFF"/>
          </a:solidFill>
          <a:ln/>
          <a:effectLst>
            <a:outerShdw blurRad="50800" dist="25400" dir="8100000" algn="bl" rotWithShape="0">
              <a:srgbClr val="000000">
                <a:alpha val="10000"/>
              </a:srgbClr>
            </a:outerShdw>
          </a:effectLst>
        </p:spPr>
      </p:sp>
      <p:sp>
        <p:nvSpPr>
          <p:cNvPr id="15" name="Shape 13"/>
          <p:cNvSpPr/>
          <p:nvPr/>
        </p:nvSpPr>
        <p:spPr>
          <a:xfrm>
            <a:off x="4663440" y="914400"/>
            <a:ext cx="2011680" cy="320040"/>
          </a:xfrm>
          <a:prstGeom prst="rect">
            <a:avLst/>
          </a:prstGeom>
          <a:solidFill>
            <a:srgbClr val="A8A8A8"/>
          </a:solidFill>
          <a:ln/>
        </p:spPr>
      </p:sp>
      <p:sp>
        <p:nvSpPr>
          <p:cNvPr id="16" name="Text 14"/>
          <p:cNvSpPr/>
          <p:nvPr/>
        </p:nvSpPr>
        <p:spPr>
          <a:xfrm>
            <a:off x="4663440" y="914400"/>
            <a:ext cx="2011680" cy="320040"/>
          </a:xfrm>
          <a:prstGeom prst="rect">
            <a:avLst/>
          </a:prstGeom>
          <a:noFill/>
          <a:ln/>
        </p:spPr>
        <p:txBody>
          <a:bodyPr wrap="square" rtlCol="0" anchor="ctr"/>
          <a:lstStyle/>
          <a:p>
            <a:pPr marL="0" indent="0" algn="ctr">
              <a:buNone/>
            </a:pPr>
            <a:r>
              <a:rPr lang="en-US" sz="1000" b="1" dirty="0">
                <a:solidFill>
                  <a:srgbClr val="FFFFFF"/>
                </a:solidFill>
              </a:rPr>
              <a:t>Silver (6)</a:t>
            </a:r>
            <a:endParaRPr lang="en-US" sz="1000" dirty="0"/>
          </a:p>
        </p:txBody>
      </p:sp>
      <p:sp>
        <p:nvSpPr>
          <p:cNvPr id="17" name="Text 15"/>
          <p:cNvSpPr/>
          <p:nvPr/>
        </p:nvSpPr>
        <p:spPr>
          <a:xfrm>
            <a:off x="4754880" y="1325880"/>
            <a:ext cx="1828800" cy="1554480"/>
          </a:xfrm>
          <a:prstGeom prst="rect">
            <a:avLst/>
          </a:prstGeom>
          <a:noFill/>
          <a:ln/>
        </p:spPr>
        <p:txBody>
          <a:bodyPr wrap="square" rtlCol="0" anchor="ctr"/>
          <a:lstStyle/>
          <a:p>
            <a:pPr marL="342900" indent="-342900">
              <a:spcAft>
                <a:spcPts val="400"/>
              </a:spcAft>
              <a:buSzPct val="100000"/>
              <a:buChar char="•"/>
            </a:pPr>
            <a:r>
              <a:rPr lang="en-US" sz="850" dirty="0">
                <a:solidFill>
                  <a:srgbClr val="1E293B"/>
                </a:solidFill>
              </a:rPr>
              <a:t>3 PIT: Temporal snapshots</a:t>
            </a:r>
            <a:endParaRPr lang="en-US" sz="850" dirty="0"/>
          </a:p>
          <a:p>
            <a:pPr marL="342900" indent="-342900">
              <a:spcAft>
                <a:spcPts val="400"/>
              </a:spcAft>
              <a:buSzPct val="100000"/>
              <a:buChar char="•"/>
            </a:pPr>
            <a:r>
              <a:rPr lang="en-US" sz="850" dirty="0">
                <a:solidFill>
                  <a:srgbClr val="1E293B"/>
                </a:solidFill>
              </a:rPr>
              <a:t>1 Bridge: Pre-joined</a:t>
            </a:r>
            <a:endParaRPr lang="en-US" sz="850" dirty="0"/>
          </a:p>
          <a:p>
            <a:pPr marL="342900" indent="-342900">
              <a:spcAft>
                <a:spcPts val="400"/>
              </a:spcAft>
              <a:buSzPct val="100000"/>
              <a:buChar char="•"/>
            </a:pPr>
            <a:r>
              <a:rPr lang="en-US" sz="850" b="1" dirty="0">
                <a:solidFill>
                  <a:srgbClr val="2A9D8F"/>
                </a:solidFill>
              </a:rPr>
              <a:t>2 BUS: Compliance scores</a:t>
            </a:r>
            <a:endParaRPr lang="en-US" sz="850" dirty="0"/>
          </a:p>
        </p:txBody>
      </p:sp>
      <p:sp>
        <p:nvSpPr>
          <p:cNvPr id="18" name="Shape 16"/>
          <p:cNvSpPr/>
          <p:nvPr/>
        </p:nvSpPr>
        <p:spPr>
          <a:xfrm>
            <a:off x="6858000" y="914400"/>
            <a:ext cx="2011680" cy="2103120"/>
          </a:xfrm>
          <a:prstGeom prst="rect">
            <a:avLst/>
          </a:prstGeom>
          <a:solidFill>
            <a:srgbClr val="FFFFFF"/>
          </a:solidFill>
          <a:ln/>
          <a:effectLst>
            <a:outerShdw blurRad="50800" dist="25400" dir="8100000" algn="bl" rotWithShape="0">
              <a:srgbClr val="000000">
                <a:alpha val="10000"/>
              </a:srgbClr>
            </a:outerShdw>
          </a:effectLst>
        </p:spPr>
      </p:sp>
      <p:sp>
        <p:nvSpPr>
          <p:cNvPr id="19" name="Shape 17"/>
          <p:cNvSpPr/>
          <p:nvPr/>
        </p:nvSpPr>
        <p:spPr>
          <a:xfrm>
            <a:off x="6858000" y="914400"/>
            <a:ext cx="2011680" cy="320040"/>
          </a:xfrm>
          <a:prstGeom prst="rect">
            <a:avLst/>
          </a:prstGeom>
          <a:solidFill>
            <a:srgbClr val="D4A843"/>
          </a:solidFill>
          <a:ln/>
        </p:spPr>
      </p:sp>
      <p:sp>
        <p:nvSpPr>
          <p:cNvPr id="20" name="Text 18"/>
          <p:cNvSpPr/>
          <p:nvPr/>
        </p:nvSpPr>
        <p:spPr>
          <a:xfrm>
            <a:off x="6858000" y="914400"/>
            <a:ext cx="2011680" cy="320040"/>
          </a:xfrm>
          <a:prstGeom prst="rect">
            <a:avLst/>
          </a:prstGeom>
          <a:noFill/>
          <a:ln/>
        </p:spPr>
        <p:txBody>
          <a:bodyPr wrap="square" rtlCol="0" anchor="ctr"/>
          <a:lstStyle/>
          <a:p>
            <a:pPr marL="0" indent="0" algn="ctr">
              <a:buNone/>
            </a:pPr>
            <a:r>
              <a:rPr lang="en-US" sz="1000" b="1" dirty="0">
                <a:solidFill>
                  <a:srgbClr val="FFFFFF"/>
                </a:solidFill>
              </a:rPr>
              <a:t>Gold (11)</a:t>
            </a:r>
            <a:endParaRPr lang="en-US" sz="1000" dirty="0"/>
          </a:p>
        </p:txBody>
      </p:sp>
      <p:sp>
        <p:nvSpPr>
          <p:cNvPr id="21" name="Text 19"/>
          <p:cNvSpPr/>
          <p:nvPr/>
        </p:nvSpPr>
        <p:spPr>
          <a:xfrm>
            <a:off x="6949440" y="1325880"/>
            <a:ext cx="1828800" cy="1554480"/>
          </a:xfrm>
          <a:prstGeom prst="rect">
            <a:avLst/>
          </a:prstGeom>
          <a:noFill/>
          <a:ln/>
        </p:spPr>
        <p:txBody>
          <a:bodyPr wrap="square" rtlCol="0" anchor="ctr"/>
          <a:lstStyle/>
          <a:p>
            <a:pPr marL="342900" indent="-342900">
              <a:spcAft>
                <a:spcPts val="400"/>
              </a:spcAft>
              <a:buSzPct val="100000"/>
              <a:buChar char="•"/>
            </a:pPr>
            <a:r>
              <a:rPr lang="en-US" sz="850" dirty="0">
                <a:solidFill>
                  <a:srgbClr val="1E293B"/>
                </a:solidFill>
              </a:rPr>
              <a:t>7 DIMs: SCD1 + SCD2</a:t>
            </a:r>
            <a:endParaRPr lang="en-US" sz="850" dirty="0"/>
          </a:p>
          <a:p>
            <a:pPr marL="342900" indent="-342900">
              <a:spcAft>
                <a:spcPts val="400"/>
              </a:spcAft>
              <a:buSzPct val="100000"/>
              <a:buChar char="•"/>
            </a:pPr>
            <a:r>
              <a:rPr lang="en-US" sz="850" dirty="0">
                <a:solidFill>
                  <a:srgbClr val="1E293B"/>
                </a:solidFill>
              </a:rPr>
              <a:t>4 FACTs: Monthly, Payment</a:t>
            </a:r>
            <a:endParaRPr lang="en-US" sz="850" dirty="0"/>
          </a:p>
          <a:p>
            <a:pPr marL="342900" indent="-342900">
              <a:spcAft>
                <a:spcPts val="400"/>
              </a:spcAft>
              <a:buSzPct val="100000"/>
              <a:buChar char="•"/>
            </a:pPr>
            <a:r>
              <a:rPr lang="en-US" sz="850" dirty="0">
                <a:solidFill>
                  <a:srgbClr val="1E293B"/>
                </a:solidFill>
              </a:rPr>
              <a:t>Snapshot, Audit</a:t>
            </a:r>
            <a:endParaRPr lang="en-US" sz="850" dirty="0"/>
          </a:p>
          <a:p>
            <a:pPr marL="342900" indent="-342900">
              <a:spcAft>
                <a:spcPts val="400"/>
              </a:spcAft>
              <a:buSzPct val="100000"/>
              <a:buChar char="•"/>
            </a:pPr>
            <a:r>
              <a:rPr lang="en-US" sz="850" b="1" dirty="0">
                <a:solidFill>
                  <a:srgbClr val="2A9D8F"/>
                </a:solidFill>
              </a:rPr>
              <a:t>Star schema for BI</a:t>
            </a:r>
            <a:endParaRPr lang="en-US" sz="850" dirty="0"/>
          </a:p>
        </p:txBody>
      </p:sp>
      <p:sp>
        <p:nvSpPr>
          <p:cNvPr id="22" name="Shape 20"/>
          <p:cNvSpPr/>
          <p:nvPr/>
        </p:nvSpPr>
        <p:spPr>
          <a:xfrm>
            <a:off x="274320" y="3246120"/>
            <a:ext cx="8595360" cy="1508760"/>
          </a:xfrm>
          <a:prstGeom prst="rect">
            <a:avLst/>
          </a:prstGeom>
          <a:solidFill>
            <a:srgbClr val="FFFFFF"/>
          </a:solidFill>
          <a:ln/>
          <a:effectLst>
            <a:outerShdw blurRad="50800" dist="25400" dir="8100000" algn="bl" rotWithShape="0">
              <a:srgbClr val="000000">
                <a:alpha val="10000"/>
              </a:srgbClr>
            </a:outerShdw>
          </a:effectLst>
        </p:spPr>
      </p:sp>
      <p:sp>
        <p:nvSpPr>
          <p:cNvPr id="23" name="Shape 21"/>
          <p:cNvSpPr/>
          <p:nvPr/>
        </p:nvSpPr>
        <p:spPr>
          <a:xfrm>
            <a:off x="274320" y="3246120"/>
            <a:ext cx="8595360" cy="54864"/>
          </a:xfrm>
          <a:prstGeom prst="rect">
            <a:avLst/>
          </a:prstGeom>
          <a:solidFill>
            <a:srgbClr val="2A9D8F"/>
          </a:solidFill>
          <a:ln/>
        </p:spPr>
      </p:sp>
      <p:sp>
        <p:nvSpPr>
          <p:cNvPr id="24" name="Text 22"/>
          <p:cNvSpPr/>
          <p:nvPr/>
        </p:nvSpPr>
        <p:spPr>
          <a:xfrm>
            <a:off x="457200" y="3291840"/>
            <a:ext cx="4572000" cy="228600"/>
          </a:xfrm>
          <a:prstGeom prst="rect">
            <a:avLst/>
          </a:prstGeom>
          <a:noFill/>
          <a:ln/>
        </p:spPr>
        <p:txBody>
          <a:bodyPr wrap="square" rtlCol="0" anchor="ctr"/>
          <a:lstStyle/>
          <a:p>
            <a:pPr marL="0" indent="0">
              <a:buNone/>
            </a:pPr>
            <a:r>
              <a:rPr lang="en-US" sz="1100" b="1" dirty="0">
                <a:solidFill>
                  <a:srgbClr val="1B3A5C"/>
                </a:solidFill>
              </a:rPr>
              <a:t>Master Orchestration — 49 Steps</a:t>
            </a:r>
            <a:endParaRPr lang="en-US" sz="1100" dirty="0"/>
          </a:p>
        </p:txBody>
      </p:sp>
      <p:sp>
        <p:nvSpPr>
          <p:cNvPr id="25" name="Shape 23"/>
          <p:cNvSpPr/>
          <p:nvPr/>
        </p:nvSpPr>
        <p:spPr>
          <a:xfrm>
            <a:off x="411480" y="3657600"/>
            <a:ext cx="914400" cy="868680"/>
          </a:xfrm>
          <a:prstGeom prst="rect">
            <a:avLst/>
          </a:prstGeom>
          <a:solidFill>
            <a:srgbClr val="1B3A5C"/>
          </a:solidFill>
          <a:ln/>
          <a:effectLst>
            <a:outerShdw blurRad="50800" dist="25400" dir="8100000" algn="bl" rotWithShape="0">
              <a:srgbClr val="000000">
                <a:alpha val="10000"/>
              </a:srgbClr>
            </a:outerShdw>
          </a:effectLst>
        </p:spPr>
      </p:sp>
      <p:sp>
        <p:nvSpPr>
          <p:cNvPr id="26" name="Text 24"/>
          <p:cNvSpPr/>
          <p:nvPr/>
        </p:nvSpPr>
        <p:spPr>
          <a:xfrm>
            <a:off x="411480" y="3657600"/>
            <a:ext cx="914400" cy="868680"/>
          </a:xfrm>
          <a:prstGeom prst="rect">
            <a:avLst/>
          </a:prstGeom>
          <a:noFill/>
          <a:ln/>
        </p:spPr>
        <p:txBody>
          <a:bodyPr wrap="square" rtlCol="0" anchor="ctr"/>
          <a:lstStyle/>
          <a:p>
            <a:pPr marL="0" indent="0" algn="ctr">
              <a:buNone/>
            </a:pPr>
            <a:r>
              <a:rPr lang="en-US" sz="750" b="1" dirty="0">
                <a:solidFill>
                  <a:srgbClr val="FFFFFF"/>
                </a:solidFill>
              </a:rPr>
              <a:t>Init</a:t>
            </a:r>
            <a:endParaRPr lang="en-US" sz="750" dirty="0"/>
          </a:p>
          <a:p>
            <a:pPr marL="0" indent="0" algn="ctr">
              <a:buNone/>
            </a:pPr>
            <a:r>
              <a:rPr lang="en-US" sz="750" b="1" dirty="0">
                <a:solidFill>
                  <a:srgbClr val="FFFFFF"/>
                </a:solidFill>
              </a:rPr>
              <a:t>Batch</a:t>
            </a:r>
            <a:endParaRPr lang="en-US" sz="750" dirty="0"/>
          </a:p>
        </p:txBody>
      </p:sp>
      <p:sp>
        <p:nvSpPr>
          <p:cNvPr id="27" name="Text 25"/>
          <p:cNvSpPr/>
          <p:nvPr/>
        </p:nvSpPr>
        <p:spPr>
          <a:xfrm>
            <a:off x="1325880" y="3840480"/>
            <a:ext cx="137160" cy="365760"/>
          </a:xfrm>
          <a:prstGeom prst="rect">
            <a:avLst/>
          </a:prstGeom>
          <a:noFill/>
          <a:ln/>
        </p:spPr>
        <p:txBody>
          <a:bodyPr wrap="square" rtlCol="0" anchor="ctr"/>
          <a:lstStyle/>
          <a:p>
            <a:pPr marL="0" indent="0">
              <a:buNone/>
            </a:pPr>
            <a:r>
              <a:rPr lang="en-US" sz="1200" dirty="0">
                <a:solidFill>
                  <a:srgbClr val="2A9D8F"/>
                </a:solidFill>
              </a:rPr>
              <a:t>→</a:t>
            </a:r>
            <a:endParaRPr lang="en-US" sz="1200" dirty="0"/>
          </a:p>
        </p:txBody>
      </p:sp>
      <p:sp>
        <p:nvSpPr>
          <p:cNvPr id="28" name="Shape 26"/>
          <p:cNvSpPr/>
          <p:nvPr/>
        </p:nvSpPr>
        <p:spPr>
          <a:xfrm>
            <a:off x="1463040" y="3657600"/>
            <a:ext cx="914400" cy="868680"/>
          </a:xfrm>
          <a:prstGeom prst="rect">
            <a:avLst/>
          </a:prstGeom>
          <a:solidFill>
            <a:srgbClr val="94A3B8"/>
          </a:solidFill>
          <a:ln/>
          <a:effectLst>
            <a:outerShdw blurRad="50800" dist="25400" dir="8100000" algn="bl" rotWithShape="0">
              <a:srgbClr val="000000">
                <a:alpha val="10000"/>
              </a:srgbClr>
            </a:outerShdw>
          </a:effectLst>
        </p:spPr>
      </p:sp>
      <p:sp>
        <p:nvSpPr>
          <p:cNvPr id="29" name="Text 27"/>
          <p:cNvSpPr/>
          <p:nvPr/>
        </p:nvSpPr>
        <p:spPr>
          <a:xfrm>
            <a:off x="1463040" y="3657600"/>
            <a:ext cx="914400" cy="868680"/>
          </a:xfrm>
          <a:prstGeom prst="rect">
            <a:avLst/>
          </a:prstGeom>
          <a:noFill/>
          <a:ln/>
        </p:spPr>
        <p:txBody>
          <a:bodyPr wrap="square" rtlCol="0" anchor="ctr"/>
          <a:lstStyle/>
          <a:p>
            <a:pPr marL="0" indent="0" algn="ctr">
              <a:buNone/>
            </a:pPr>
            <a:r>
              <a:rPr lang="en-US" sz="750" b="1" dirty="0">
                <a:solidFill>
                  <a:srgbClr val="FFFFFF"/>
                </a:solidFill>
              </a:rPr>
              <a:t>Staging</a:t>
            </a:r>
            <a:endParaRPr lang="en-US" sz="750" dirty="0"/>
          </a:p>
          <a:p>
            <a:pPr marL="0" indent="0" algn="ctr">
              <a:buNone/>
            </a:pPr>
            <a:r>
              <a:rPr lang="en-US" sz="750" b="1" dirty="0">
                <a:solidFill>
                  <a:srgbClr val="FFFFFF"/>
                </a:solidFill>
              </a:rPr>
              <a:t>(9)</a:t>
            </a:r>
            <a:endParaRPr lang="en-US" sz="750" dirty="0"/>
          </a:p>
        </p:txBody>
      </p:sp>
      <p:sp>
        <p:nvSpPr>
          <p:cNvPr id="30" name="Text 28"/>
          <p:cNvSpPr/>
          <p:nvPr/>
        </p:nvSpPr>
        <p:spPr>
          <a:xfrm>
            <a:off x="2377440" y="3840480"/>
            <a:ext cx="137160" cy="365760"/>
          </a:xfrm>
          <a:prstGeom prst="rect">
            <a:avLst/>
          </a:prstGeom>
          <a:noFill/>
          <a:ln/>
        </p:spPr>
        <p:txBody>
          <a:bodyPr wrap="square" rtlCol="0" anchor="ctr"/>
          <a:lstStyle/>
          <a:p>
            <a:pPr marL="0" indent="0">
              <a:buNone/>
            </a:pPr>
            <a:r>
              <a:rPr lang="en-US" sz="1200" dirty="0">
                <a:solidFill>
                  <a:srgbClr val="2A9D8F"/>
                </a:solidFill>
              </a:rPr>
              <a:t>→</a:t>
            </a:r>
            <a:endParaRPr lang="en-US" sz="1200" dirty="0"/>
          </a:p>
        </p:txBody>
      </p:sp>
      <p:sp>
        <p:nvSpPr>
          <p:cNvPr id="31" name="Shape 29"/>
          <p:cNvSpPr/>
          <p:nvPr/>
        </p:nvSpPr>
        <p:spPr>
          <a:xfrm>
            <a:off x="2514600" y="3657600"/>
            <a:ext cx="914400" cy="868680"/>
          </a:xfrm>
          <a:prstGeom prst="rect">
            <a:avLst/>
          </a:prstGeom>
          <a:solidFill>
            <a:srgbClr val="CD7F32"/>
          </a:solidFill>
          <a:ln/>
          <a:effectLst>
            <a:outerShdw blurRad="50800" dist="25400" dir="8100000" algn="bl" rotWithShape="0">
              <a:srgbClr val="000000">
                <a:alpha val="10000"/>
              </a:srgbClr>
            </a:outerShdw>
          </a:effectLst>
        </p:spPr>
      </p:sp>
      <p:sp>
        <p:nvSpPr>
          <p:cNvPr id="32" name="Text 30"/>
          <p:cNvSpPr/>
          <p:nvPr/>
        </p:nvSpPr>
        <p:spPr>
          <a:xfrm>
            <a:off x="2514600" y="3657600"/>
            <a:ext cx="914400" cy="868680"/>
          </a:xfrm>
          <a:prstGeom prst="rect">
            <a:avLst/>
          </a:prstGeom>
          <a:noFill/>
          <a:ln/>
        </p:spPr>
        <p:txBody>
          <a:bodyPr wrap="square" rtlCol="0" anchor="ctr"/>
          <a:lstStyle/>
          <a:p>
            <a:pPr marL="0" indent="0" algn="ctr">
              <a:buNone/>
            </a:pPr>
            <a:r>
              <a:rPr lang="en-US" sz="750" b="1" dirty="0">
                <a:solidFill>
                  <a:srgbClr val="FFFFFF"/>
                </a:solidFill>
              </a:rPr>
              <a:t>Hubs</a:t>
            </a:r>
            <a:endParaRPr lang="en-US" sz="750" dirty="0"/>
          </a:p>
          <a:p>
            <a:pPr marL="0" indent="0" algn="ctr">
              <a:buNone/>
            </a:pPr>
            <a:r>
              <a:rPr lang="en-US" sz="750" b="1" dirty="0">
                <a:solidFill>
                  <a:srgbClr val="FFFFFF"/>
                </a:solidFill>
              </a:rPr>
              <a:t>(9)</a:t>
            </a:r>
            <a:endParaRPr lang="en-US" sz="750" dirty="0"/>
          </a:p>
        </p:txBody>
      </p:sp>
      <p:sp>
        <p:nvSpPr>
          <p:cNvPr id="33" name="Text 31"/>
          <p:cNvSpPr/>
          <p:nvPr/>
        </p:nvSpPr>
        <p:spPr>
          <a:xfrm>
            <a:off x="3429000" y="3840480"/>
            <a:ext cx="137160" cy="365760"/>
          </a:xfrm>
          <a:prstGeom prst="rect">
            <a:avLst/>
          </a:prstGeom>
          <a:noFill/>
          <a:ln/>
        </p:spPr>
        <p:txBody>
          <a:bodyPr wrap="square" rtlCol="0" anchor="ctr"/>
          <a:lstStyle/>
          <a:p>
            <a:pPr marL="0" indent="0">
              <a:buNone/>
            </a:pPr>
            <a:r>
              <a:rPr lang="en-US" sz="1200" dirty="0">
                <a:solidFill>
                  <a:srgbClr val="2A9D8F"/>
                </a:solidFill>
              </a:rPr>
              <a:t>→</a:t>
            </a:r>
            <a:endParaRPr lang="en-US" sz="1200" dirty="0"/>
          </a:p>
        </p:txBody>
      </p:sp>
      <p:sp>
        <p:nvSpPr>
          <p:cNvPr id="34" name="Shape 32"/>
          <p:cNvSpPr/>
          <p:nvPr/>
        </p:nvSpPr>
        <p:spPr>
          <a:xfrm>
            <a:off x="3566160" y="3657600"/>
            <a:ext cx="914400" cy="868680"/>
          </a:xfrm>
          <a:prstGeom prst="rect">
            <a:avLst/>
          </a:prstGeom>
          <a:solidFill>
            <a:srgbClr val="CD7F32"/>
          </a:solidFill>
          <a:ln/>
          <a:effectLst>
            <a:outerShdw blurRad="50800" dist="25400" dir="8100000" algn="bl" rotWithShape="0">
              <a:srgbClr val="000000">
                <a:alpha val="10000"/>
              </a:srgbClr>
            </a:outerShdw>
          </a:effectLst>
        </p:spPr>
      </p:sp>
      <p:sp>
        <p:nvSpPr>
          <p:cNvPr id="35" name="Text 33"/>
          <p:cNvSpPr/>
          <p:nvPr/>
        </p:nvSpPr>
        <p:spPr>
          <a:xfrm>
            <a:off x="3566160" y="3657600"/>
            <a:ext cx="914400" cy="868680"/>
          </a:xfrm>
          <a:prstGeom prst="rect">
            <a:avLst/>
          </a:prstGeom>
          <a:noFill/>
          <a:ln/>
        </p:spPr>
        <p:txBody>
          <a:bodyPr wrap="square" rtlCol="0" anchor="ctr"/>
          <a:lstStyle/>
          <a:p>
            <a:pPr marL="0" indent="0" algn="ctr">
              <a:buNone/>
            </a:pPr>
            <a:r>
              <a:rPr lang="en-US" sz="750" b="1" dirty="0">
                <a:solidFill>
                  <a:srgbClr val="FFFFFF"/>
                </a:solidFill>
              </a:rPr>
              <a:t>SATs</a:t>
            </a:r>
            <a:endParaRPr lang="en-US" sz="750" dirty="0"/>
          </a:p>
          <a:p>
            <a:pPr marL="0" indent="0" algn="ctr">
              <a:buNone/>
            </a:pPr>
            <a:r>
              <a:rPr lang="en-US" sz="750" b="1" dirty="0">
                <a:solidFill>
                  <a:srgbClr val="FFFFFF"/>
                </a:solidFill>
              </a:rPr>
              <a:t>(9)</a:t>
            </a:r>
            <a:endParaRPr lang="en-US" sz="750" dirty="0"/>
          </a:p>
        </p:txBody>
      </p:sp>
      <p:sp>
        <p:nvSpPr>
          <p:cNvPr id="36" name="Text 34"/>
          <p:cNvSpPr/>
          <p:nvPr/>
        </p:nvSpPr>
        <p:spPr>
          <a:xfrm>
            <a:off x="4480560" y="3840480"/>
            <a:ext cx="137160" cy="365760"/>
          </a:xfrm>
          <a:prstGeom prst="rect">
            <a:avLst/>
          </a:prstGeom>
          <a:noFill/>
          <a:ln/>
        </p:spPr>
        <p:txBody>
          <a:bodyPr wrap="square" rtlCol="0" anchor="ctr"/>
          <a:lstStyle/>
          <a:p>
            <a:pPr marL="0" indent="0">
              <a:buNone/>
            </a:pPr>
            <a:r>
              <a:rPr lang="en-US" sz="1200" dirty="0">
                <a:solidFill>
                  <a:srgbClr val="2A9D8F"/>
                </a:solidFill>
              </a:rPr>
              <a:t>→</a:t>
            </a:r>
            <a:endParaRPr lang="en-US" sz="1200" dirty="0"/>
          </a:p>
        </p:txBody>
      </p:sp>
      <p:sp>
        <p:nvSpPr>
          <p:cNvPr id="37" name="Shape 35"/>
          <p:cNvSpPr/>
          <p:nvPr/>
        </p:nvSpPr>
        <p:spPr>
          <a:xfrm>
            <a:off x="4617720" y="3657600"/>
            <a:ext cx="914400" cy="868680"/>
          </a:xfrm>
          <a:prstGeom prst="rect">
            <a:avLst/>
          </a:prstGeom>
          <a:solidFill>
            <a:srgbClr val="CD7F32"/>
          </a:solidFill>
          <a:ln/>
          <a:effectLst>
            <a:outerShdw blurRad="50800" dist="25400" dir="8100000" algn="bl" rotWithShape="0">
              <a:srgbClr val="000000">
                <a:alpha val="10000"/>
              </a:srgbClr>
            </a:outerShdw>
          </a:effectLst>
        </p:spPr>
      </p:sp>
      <p:sp>
        <p:nvSpPr>
          <p:cNvPr id="38" name="Text 36"/>
          <p:cNvSpPr/>
          <p:nvPr/>
        </p:nvSpPr>
        <p:spPr>
          <a:xfrm>
            <a:off x="4617720" y="3657600"/>
            <a:ext cx="914400" cy="868680"/>
          </a:xfrm>
          <a:prstGeom prst="rect">
            <a:avLst/>
          </a:prstGeom>
          <a:noFill/>
          <a:ln/>
        </p:spPr>
        <p:txBody>
          <a:bodyPr wrap="square" rtlCol="0" anchor="ctr"/>
          <a:lstStyle/>
          <a:p>
            <a:pPr marL="0" indent="0" algn="ctr">
              <a:buNone/>
            </a:pPr>
            <a:r>
              <a:rPr lang="en-US" sz="750" b="1" dirty="0">
                <a:solidFill>
                  <a:srgbClr val="FFFFFF"/>
                </a:solidFill>
              </a:rPr>
              <a:t>Links</a:t>
            </a:r>
            <a:endParaRPr lang="en-US" sz="750" dirty="0"/>
          </a:p>
          <a:p>
            <a:pPr marL="0" indent="0" algn="ctr">
              <a:buNone/>
            </a:pPr>
            <a:r>
              <a:rPr lang="en-US" sz="750" b="1" dirty="0">
                <a:solidFill>
                  <a:srgbClr val="FFFFFF"/>
                </a:solidFill>
              </a:rPr>
              <a:t>(5)</a:t>
            </a:r>
            <a:endParaRPr lang="en-US" sz="750" dirty="0"/>
          </a:p>
        </p:txBody>
      </p:sp>
      <p:sp>
        <p:nvSpPr>
          <p:cNvPr id="39" name="Text 37"/>
          <p:cNvSpPr/>
          <p:nvPr/>
        </p:nvSpPr>
        <p:spPr>
          <a:xfrm>
            <a:off x="5532120" y="3840480"/>
            <a:ext cx="137160" cy="365760"/>
          </a:xfrm>
          <a:prstGeom prst="rect">
            <a:avLst/>
          </a:prstGeom>
          <a:noFill/>
          <a:ln/>
        </p:spPr>
        <p:txBody>
          <a:bodyPr wrap="square" rtlCol="0" anchor="ctr"/>
          <a:lstStyle/>
          <a:p>
            <a:pPr marL="0" indent="0">
              <a:buNone/>
            </a:pPr>
            <a:r>
              <a:rPr lang="en-US" sz="1200" dirty="0">
                <a:solidFill>
                  <a:srgbClr val="2A9D8F"/>
                </a:solidFill>
              </a:rPr>
              <a:t>→</a:t>
            </a:r>
            <a:endParaRPr lang="en-US" sz="1200" dirty="0"/>
          </a:p>
        </p:txBody>
      </p:sp>
      <p:sp>
        <p:nvSpPr>
          <p:cNvPr id="40" name="Shape 38"/>
          <p:cNvSpPr/>
          <p:nvPr/>
        </p:nvSpPr>
        <p:spPr>
          <a:xfrm>
            <a:off x="5669280" y="3657600"/>
            <a:ext cx="914400" cy="868680"/>
          </a:xfrm>
          <a:prstGeom prst="rect">
            <a:avLst/>
          </a:prstGeom>
          <a:solidFill>
            <a:srgbClr val="A8A8A8"/>
          </a:solidFill>
          <a:ln/>
          <a:effectLst>
            <a:outerShdw blurRad="50800" dist="25400" dir="8100000" algn="bl" rotWithShape="0">
              <a:srgbClr val="000000">
                <a:alpha val="10000"/>
              </a:srgbClr>
            </a:outerShdw>
          </a:effectLst>
        </p:spPr>
      </p:sp>
      <p:sp>
        <p:nvSpPr>
          <p:cNvPr id="41" name="Text 39"/>
          <p:cNvSpPr/>
          <p:nvPr/>
        </p:nvSpPr>
        <p:spPr>
          <a:xfrm>
            <a:off x="5669280" y="3657600"/>
            <a:ext cx="914400" cy="868680"/>
          </a:xfrm>
          <a:prstGeom prst="rect">
            <a:avLst/>
          </a:prstGeom>
          <a:noFill/>
          <a:ln/>
        </p:spPr>
        <p:txBody>
          <a:bodyPr wrap="square" rtlCol="0" anchor="ctr"/>
          <a:lstStyle/>
          <a:p>
            <a:pPr marL="0" indent="0" algn="ctr">
              <a:buNone/>
            </a:pPr>
            <a:r>
              <a:rPr lang="en-US" sz="750" b="1" dirty="0">
                <a:solidFill>
                  <a:srgbClr val="FFFFFF"/>
                </a:solidFill>
              </a:rPr>
              <a:t>Silver</a:t>
            </a:r>
            <a:endParaRPr lang="en-US" sz="750" dirty="0"/>
          </a:p>
          <a:p>
            <a:pPr marL="0" indent="0" algn="ctr">
              <a:buNone/>
            </a:pPr>
            <a:r>
              <a:rPr lang="en-US" sz="750" b="1" dirty="0">
                <a:solidFill>
                  <a:srgbClr val="FFFFFF"/>
                </a:solidFill>
              </a:rPr>
              <a:t>(6)</a:t>
            </a:r>
            <a:endParaRPr lang="en-US" sz="750" dirty="0"/>
          </a:p>
        </p:txBody>
      </p:sp>
      <p:sp>
        <p:nvSpPr>
          <p:cNvPr id="42" name="Text 40"/>
          <p:cNvSpPr/>
          <p:nvPr/>
        </p:nvSpPr>
        <p:spPr>
          <a:xfrm>
            <a:off x="6583680" y="3840480"/>
            <a:ext cx="137160" cy="365760"/>
          </a:xfrm>
          <a:prstGeom prst="rect">
            <a:avLst/>
          </a:prstGeom>
          <a:noFill/>
          <a:ln/>
        </p:spPr>
        <p:txBody>
          <a:bodyPr wrap="square" rtlCol="0" anchor="ctr"/>
          <a:lstStyle/>
          <a:p>
            <a:pPr marL="0" indent="0">
              <a:buNone/>
            </a:pPr>
            <a:r>
              <a:rPr lang="en-US" sz="1200" dirty="0">
                <a:solidFill>
                  <a:srgbClr val="2A9D8F"/>
                </a:solidFill>
              </a:rPr>
              <a:t>→</a:t>
            </a:r>
            <a:endParaRPr lang="en-US" sz="1200" dirty="0"/>
          </a:p>
        </p:txBody>
      </p:sp>
      <p:sp>
        <p:nvSpPr>
          <p:cNvPr id="43" name="Shape 41"/>
          <p:cNvSpPr/>
          <p:nvPr/>
        </p:nvSpPr>
        <p:spPr>
          <a:xfrm>
            <a:off x="6720840" y="3657600"/>
            <a:ext cx="914400" cy="868680"/>
          </a:xfrm>
          <a:prstGeom prst="rect">
            <a:avLst/>
          </a:prstGeom>
          <a:solidFill>
            <a:srgbClr val="D4A843"/>
          </a:solidFill>
          <a:ln/>
          <a:effectLst>
            <a:outerShdw blurRad="50800" dist="25400" dir="8100000" algn="bl" rotWithShape="0">
              <a:srgbClr val="000000">
                <a:alpha val="10000"/>
              </a:srgbClr>
            </a:outerShdw>
          </a:effectLst>
        </p:spPr>
      </p:sp>
      <p:sp>
        <p:nvSpPr>
          <p:cNvPr id="44" name="Text 42"/>
          <p:cNvSpPr/>
          <p:nvPr/>
        </p:nvSpPr>
        <p:spPr>
          <a:xfrm>
            <a:off x="6720840" y="3657600"/>
            <a:ext cx="914400" cy="868680"/>
          </a:xfrm>
          <a:prstGeom prst="rect">
            <a:avLst/>
          </a:prstGeom>
          <a:noFill/>
          <a:ln/>
        </p:spPr>
        <p:txBody>
          <a:bodyPr wrap="square" rtlCol="0" anchor="ctr"/>
          <a:lstStyle/>
          <a:p>
            <a:pPr marL="0" indent="0" algn="ctr">
              <a:buNone/>
            </a:pPr>
            <a:r>
              <a:rPr lang="en-US" sz="750" b="1" dirty="0">
                <a:solidFill>
                  <a:srgbClr val="FFFFFF"/>
                </a:solidFill>
              </a:rPr>
              <a:t>Gold</a:t>
            </a:r>
            <a:endParaRPr lang="en-US" sz="750" dirty="0"/>
          </a:p>
          <a:p>
            <a:pPr marL="0" indent="0" algn="ctr">
              <a:buNone/>
            </a:pPr>
            <a:r>
              <a:rPr lang="en-US" sz="750" b="1" dirty="0">
                <a:solidFill>
                  <a:srgbClr val="FFFFFF"/>
                </a:solidFill>
              </a:rPr>
              <a:t>(11)</a:t>
            </a:r>
            <a:endParaRPr lang="en-US" sz="750" dirty="0"/>
          </a:p>
        </p:txBody>
      </p:sp>
      <p:sp>
        <p:nvSpPr>
          <p:cNvPr id="45" name="Text 43"/>
          <p:cNvSpPr/>
          <p:nvPr/>
        </p:nvSpPr>
        <p:spPr>
          <a:xfrm>
            <a:off x="7635240" y="3840480"/>
            <a:ext cx="137160" cy="365760"/>
          </a:xfrm>
          <a:prstGeom prst="rect">
            <a:avLst/>
          </a:prstGeom>
          <a:noFill/>
          <a:ln/>
        </p:spPr>
        <p:txBody>
          <a:bodyPr wrap="square" rtlCol="0" anchor="ctr"/>
          <a:lstStyle/>
          <a:p>
            <a:pPr marL="0" indent="0">
              <a:buNone/>
            </a:pPr>
            <a:r>
              <a:rPr lang="en-US" sz="1200" dirty="0">
                <a:solidFill>
                  <a:srgbClr val="2A9D8F"/>
                </a:solidFill>
              </a:rPr>
              <a:t>→</a:t>
            </a:r>
            <a:endParaRPr lang="en-US" sz="1200" dirty="0"/>
          </a:p>
        </p:txBody>
      </p:sp>
      <p:sp>
        <p:nvSpPr>
          <p:cNvPr id="46" name="Shape 44"/>
          <p:cNvSpPr/>
          <p:nvPr/>
        </p:nvSpPr>
        <p:spPr>
          <a:xfrm>
            <a:off x="7772400" y="3657600"/>
            <a:ext cx="914400" cy="868680"/>
          </a:xfrm>
          <a:prstGeom prst="rect">
            <a:avLst/>
          </a:prstGeom>
          <a:solidFill>
            <a:srgbClr val="1B3A5C"/>
          </a:solidFill>
          <a:ln/>
          <a:effectLst>
            <a:outerShdw blurRad="50800" dist="25400" dir="8100000" algn="bl" rotWithShape="0">
              <a:srgbClr val="000000">
                <a:alpha val="10000"/>
              </a:srgbClr>
            </a:outerShdw>
          </a:effectLst>
        </p:spPr>
      </p:sp>
      <p:sp>
        <p:nvSpPr>
          <p:cNvPr id="47" name="Text 45"/>
          <p:cNvSpPr/>
          <p:nvPr/>
        </p:nvSpPr>
        <p:spPr>
          <a:xfrm>
            <a:off x="7772400" y="3657600"/>
            <a:ext cx="914400" cy="868680"/>
          </a:xfrm>
          <a:prstGeom prst="rect">
            <a:avLst/>
          </a:prstGeom>
          <a:noFill/>
          <a:ln/>
        </p:spPr>
        <p:txBody>
          <a:bodyPr wrap="square" rtlCol="0" anchor="ctr"/>
          <a:lstStyle/>
          <a:p>
            <a:pPr marL="0" indent="0" algn="ctr">
              <a:buNone/>
            </a:pPr>
            <a:r>
              <a:rPr lang="en-US" sz="750" b="1" dirty="0">
                <a:solidFill>
                  <a:srgbClr val="FFFFFF"/>
                </a:solidFill>
              </a:rPr>
              <a:t>Close</a:t>
            </a:r>
            <a:endParaRPr lang="en-US" sz="750" dirty="0"/>
          </a:p>
          <a:p>
            <a:pPr marL="0" indent="0" algn="ctr">
              <a:buNone/>
            </a:pPr>
            <a:r>
              <a:rPr lang="en-US" sz="750" b="1" dirty="0">
                <a:solidFill>
                  <a:srgbClr val="FFFFFF"/>
                </a:solidFill>
              </a:rPr>
              <a:t>Batch</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9 / 18</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Source Database &amp; Sample Data</a:t>
            </a:r>
            <a:endParaRPr lang="en-US" sz="2200" dirty="0"/>
          </a:p>
        </p:txBody>
      </p:sp>
      <p:sp>
        <p:nvSpPr>
          <p:cNvPr id="5" name="Shape 3"/>
          <p:cNvSpPr/>
          <p:nvPr/>
        </p:nvSpPr>
        <p:spPr>
          <a:xfrm>
            <a:off x="457200" y="731520"/>
            <a:ext cx="1097280" cy="36576"/>
          </a:xfrm>
          <a:prstGeom prst="rect">
            <a:avLst/>
          </a:prstGeom>
          <a:solidFill>
            <a:srgbClr val="2A9D8F"/>
          </a:solidFill>
          <a:ln/>
        </p:spPr>
      </p:sp>
      <p:sp>
        <p:nvSpPr>
          <p:cNvPr id="6" name="Text 4"/>
          <p:cNvSpPr/>
          <p:nvPr/>
        </p:nvSpPr>
        <p:spPr>
          <a:xfrm>
            <a:off x="457200" y="914400"/>
            <a:ext cx="8229600" cy="274320"/>
          </a:xfrm>
          <a:prstGeom prst="rect">
            <a:avLst/>
          </a:prstGeom>
          <a:noFill/>
          <a:ln/>
        </p:spPr>
        <p:txBody>
          <a:bodyPr wrap="square" rtlCol="0" anchor="ctr"/>
          <a:lstStyle/>
          <a:p>
            <a:pPr marL="0" indent="0">
              <a:buNone/>
            </a:pPr>
            <a:r>
              <a:rPr lang="en-US" sz="1200" b="1" dirty="0">
                <a:solidFill>
                  <a:srgbClr val="1B3A5C"/>
                </a:solidFill>
              </a:rPr>
              <a:t>TaxSystemDB — 9 Source Tables (3 Lookup + 3 Reference + 3 Transaction)</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8595360" cy="1714500"/>
        </p:xfrm>
        <a:graphic>
          <a:graphicData uri="http://schemas.openxmlformats.org/drawingml/2006/table">
            <a:tbl>
              <a:tblPr/>
              <a:tblGrid>
                <a:gridCol w="20116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0">
                <a:tc>
                  <a:txBody>
                    <a:bodyPr/>
                    <a:lstStyle/>
                    <a:p>
                      <a:pPr marL="0" indent="0">
                        <a:buNone/>
                      </a:pPr>
                      <a:r>
                        <a:rPr lang="en-US" sz="850" b="1" dirty="0">
                          <a:solidFill>
                            <a:srgbClr val="FFFFFF"/>
                          </a:solidFill>
                        </a:rPr>
                        <a:t>Table</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850" b="1" dirty="0">
                          <a:solidFill>
                            <a:srgbClr val="FFFFFF"/>
                          </a:solidFill>
                        </a:rPr>
                        <a:t>Type</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850" b="1" dirty="0">
                          <a:solidFill>
                            <a:srgbClr val="FFFFFF"/>
                          </a:solidFill>
                        </a:rPr>
                        <a:t>Description</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850" b="1" dirty="0">
                          <a:solidFill>
                            <a:srgbClr val="FFFFFF"/>
                          </a:solidFill>
                        </a:rPr>
                        <a:t>Records</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0">
                <a:tc>
                  <a:txBody>
                    <a:bodyPr/>
                    <a:lstStyle/>
                    <a:p>
                      <a:pPr marL="0" indent="0">
                        <a:buNone/>
                      </a:pPr>
                      <a:r>
                        <a:rPr lang="en-US" sz="800" b="1" dirty="0">
                          <a:solidFill>
                            <a:srgbClr val="1B3A5C"/>
                          </a:solidFill>
                        </a:rPr>
                        <a:t>Taxpayer</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Reference</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Registered taxpayers with TaxID, business name</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b="1" dirty="0">
                          <a:solidFill>
                            <a:srgbClr val="2A9D8F"/>
                          </a:solidFill>
                        </a:rPr>
                        <a:t>1,002</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800" b="1" dirty="0">
                          <a:solidFill>
                            <a:srgbClr val="1B3A5C"/>
                          </a:solidFill>
                        </a:rPr>
                        <a:t>Officer</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Reference</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Tax collection officers with department</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b="1" dirty="0">
                          <a:solidFill>
                            <a:srgbClr val="2A9D8F"/>
                          </a:solidFill>
                        </a:rPr>
                        <a:t>10</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extLst>
                  <a:ext uri="{0D108BD9-81ED-4DB2-BD59-A6C34878D82A}">
                    <a16:rowId xmlns:a16="http://schemas.microsoft.com/office/drawing/2014/main" val="10002"/>
                  </a:ext>
                </a:extLst>
              </a:tr>
              <a:tr h="0">
                <a:tc>
                  <a:txBody>
                    <a:bodyPr/>
                    <a:lstStyle/>
                    <a:p>
                      <a:pPr marL="0" indent="0">
                        <a:buNone/>
                      </a:pPr>
                      <a:r>
                        <a:rPr lang="en-US" sz="800" b="1" dirty="0">
                          <a:solidFill>
                            <a:srgbClr val="1B3A5C"/>
                          </a:solidFill>
                        </a:rPr>
                        <a:t>Category</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Lookup</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Taxpayer categories (Individual, SME, Corp)</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b="1" dirty="0">
                          <a:solidFill>
                            <a:srgbClr val="2A9D8F"/>
                          </a:solidFill>
                        </a:rPr>
                        <a:t>5</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800" b="1" dirty="0">
                          <a:solidFill>
                            <a:srgbClr val="1B3A5C"/>
                          </a:solidFill>
                        </a:rPr>
                        <a:t>MonthlyDeclaration</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Transaction</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Monthly tax declarations with revenue, tax, penalties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b="1" dirty="0">
                          <a:solidFill>
                            <a:srgbClr val="2A9D8F"/>
                          </a:solidFill>
                        </a:rPr>
                        <a:t>~38,491</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extLst>
                  <a:ext uri="{0D108BD9-81ED-4DB2-BD59-A6C34878D82A}">
                    <a16:rowId xmlns:a16="http://schemas.microsoft.com/office/drawing/2014/main" val="10004"/>
                  </a:ext>
                </a:extLst>
              </a:tr>
              <a:tr h="0">
                <a:tc>
                  <a:txBody>
                    <a:bodyPr/>
                    <a:lstStyle/>
                    <a:p>
                      <a:pPr marL="0" indent="0">
                        <a:buNone/>
                      </a:pPr>
                      <a:r>
                        <a:rPr lang="en-US" sz="800" b="1" dirty="0">
                          <a:solidFill>
                            <a:srgbClr val="1B3A5C"/>
                          </a:solidFill>
                        </a:rPr>
                        <a:t>Payment</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Transaction</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Tax payments linked to declarations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b="1" dirty="0">
                          <a:solidFill>
                            <a:srgbClr val="2A9D8F"/>
                          </a:solidFill>
                        </a:rPr>
                        <a:t>~13,733</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800" b="1" dirty="0">
                          <a:solidFill>
                            <a:srgbClr val="1B3A5C"/>
                          </a:solidFill>
                        </a:rPr>
                        <a:t>AnnualDeclaration</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Transaction</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dirty="0">
                          <a:solidFill>
                            <a:srgbClr val="1E293B"/>
                          </a:solidFill>
                        </a:rPr>
                        <a:t>Annual tax declarations with yearly summaries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800" b="1" dirty="0">
                          <a:solidFill>
                            <a:srgbClr val="2A9D8F"/>
                          </a:solidFill>
                        </a:rPr>
                        <a:t>2,785</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extLst>
                  <a:ext uri="{0D108BD9-81ED-4DB2-BD59-A6C34878D82A}">
                    <a16:rowId xmlns:a16="http://schemas.microsoft.com/office/drawing/2014/main" val="10006"/>
                  </a:ext>
                </a:extLst>
              </a:tr>
              <a:tr h="0">
                <a:tc>
                  <a:txBody>
                    <a:bodyPr/>
                    <a:lstStyle/>
                    <a:p>
                      <a:pPr marL="0" indent="0">
                        <a:buNone/>
                      </a:pPr>
                      <a:r>
                        <a:rPr lang="en-US" sz="800" b="1" dirty="0">
                          <a:solidFill>
                            <a:srgbClr val="1B3A5C"/>
                          </a:solidFill>
                        </a:rPr>
                        <a:t>Owner</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Reference</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rPr>
                        <a:t>Business owners with ownership percentages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b="1" dirty="0">
                          <a:solidFill>
                            <a:srgbClr val="2A9D8F"/>
                          </a:solidFill>
                        </a:rPr>
                        <a:t>~1,956</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Text 5"/>
          <p:cNvSpPr/>
          <p:nvPr/>
        </p:nvSpPr>
        <p:spPr>
          <a:xfrm>
            <a:off x="457200" y="3931920"/>
            <a:ext cx="8229600" cy="457200"/>
          </a:xfrm>
          <a:prstGeom prst="rect">
            <a:avLst/>
          </a:prstGeom>
          <a:noFill/>
          <a:ln/>
        </p:spPr>
        <p:txBody>
          <a:bodyPr wrap="square" rtlCol="0" anchor="ctr"/>
          <a:lstStyle/>
          <a:p>
            <a:pPr marL="0" indent="0">
              <a:buNone/>
            </a:pPr>
            <a:r>
              <a:rPr lang="en-US" sz="1000" i="1" dirty="0">
                <a:solidFill>
                  <a:srgbClr val="64748B"/>
                </a:solidFill>
              </a:rPr>
              <a:t>Data Generator (02_TransactionData.sql): Also includes Structure (5) &amp; Activity (5) lookup tables. 1,002 taxpayers, 4 years (2020–2023), 99.8% filing coverage, 58,813 records. Verified: 10 FKs, 19 CHECK constraints, 37 indexes, 0 orphans, 0 NULLs (see Source Database Verification document).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10 / 18</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POC Evidence — 4 Challenges Addressed</a:t>
            </a:r>
            <a:endParaRPr lang="en-US" sz="2200" dirty="0"/>
          </a:p>
        </p:txBody>
      </p:sp>
      <p:sp>
        <p:nvSpPr>
          <p:cNvPr id="5" name="Shape 3"/>
          <p:cNvSpPr/>
          <p:nvPr/>
        </p:nvSpPr>
        <p:spPr>
          <a:xfrm>
            <a:off x="457200" y="731520"/>
            <a:ext cx="1097280" cy="36576"/>
          </a:xfrm>
          <a:prstGeom prst="rect">
            <a:avLst/>
          </a:prstGeom>
          <a:solidFill>
            <a:srgbClr val="2A9D8F"/>
          </a:solidFill>
          <a:ln/>
        </p:spPr>
      </p:sp>
      <p:sp>
        <p:nvSpPr>
          <p:cNvPr id="6" name="Shape 4"/>
          <p:cNvSpPr/>
          <p:nvPr/>
        </p:nvSpPr>
        <p:spPr>
          <a:xfrm>
            <a:off x="274320" y="914400"/>
            <a:ext cx="8595360" cy="822960"/>
          </a:xfrm>
          <a:prstGeom prst="rect">
            <a:avLst/>
          </a:prstGeom>
          <a:solidFill>
            <a:srgbClr val="FFFFFF"/>
          </a:solidFill>
          <a:ln/>
          <a:effectLst>
            <a:outerShdw blurRad="50800" dist="25400" dir="8100000" algn="bl" rotWithShape="0">
              <a:srgbClr val="000000">
                <a:alpha val="10000"/>
              </a:srgbClr>
            </a:outerShdw>
          </a:effectLst>
        </p:spPr>
      </p:sp>
      <p:sp>
        <p:nvSpPr>
          <p:cNvPr id="7" name="Shape 5"/>
          <p:cNvSpPr/>
          <p:nvPr/>
        </p:nvSpPr>
        <p:spPr>
          <a:xfrm>
            <a:off x="274320" y="914400"/>
            <a:ext cx="54864" cy="822960"/>
          </a:xfrm>
          <a:prstGeom prst="rect">
            <a:avLst/>
          </a:prstGeom>
          <a:solidFill>
            <a:srgbClr val="2A9D8F"/>
          </a:solidFill>
          <a:ln/>
        </p:spPr>
      </p:sp>
      <p:sp>
        <p:nvSpPr>
          <p:cNvPr id="8" name="Text 6"/>
          <p:cNvSpPr/>
          <p:nvPr/>
        </p:nvSpPr>
        <p:spPr>
          <a:xfrm>
            <a:off x="457200" y="914400"/>
            <a:ext cx="2011680" cy="822960"/>
          </a:xfrm>
          <a:prstGeom prst="rect">
            <a:avLst/>
          </a:prstGeom>
          <a:noFill/>
          <a:ln/>
        </p:spPr>
        <p:txBody>
          <a:bodyPr wrap="square" rtlCol="0" anchor="ctr"/>
          <a:lstStyle/>
          <a:p>
            <a:pPr marL="0" indent="0">
              <a:buNone/>
            </a:pPr>
            <a:r>
              <a:rPr lang="en-US" sz="1050" b="1" dirty="0">
                <a:solidFill>
                  <a:srgbClr val="1B3A5C"/>
                </a:solidFill>
                <a:latin typeface="Georgia" pitchFamily="34" charset="0"/>
                <a:ea typeface="Georgia" pitchFamily="34" charset="-122"/>
                <a:cs typeface="Georgia" pitchFamily="34" charset="-120"/>
              </a:rPr>
              <a:t>C1: Schema Rigidity</a:t>
            </a:r>
            <a:endParaRPr lang="en-US" sz="1050" dirty="0"/>
          </a:p>
        </p:txBody>
      </p:sp>
      <p:sp>
        <p:nvSpPr>
          <p:cNvPr id="9" name="Text 7"/>
          <p:cNvSpPr/>
          <p:nvPr/>
        </p:nvSpPr>
        <p:spPr>
          <a:xfrm>
            <a:off x="2560320" y="914400"/>
            <a:ext cx="2926080" cy="822960"/>
          </a:xfrm>
          <a:prstGeom prst="rect">
            <a:avLst/>
          </a:prstGeom>
          <a:noFill/>
          <a:ln/>
        </p:spPr>
        <p:txBody>
          <a:bodyPr wrap="square" rtlCol="0" anchor="ctr"/>
          <a:lstStyle/>
          <a:p>
            <a:pPr marL="0" indent="0">
              <a:buNone/>
            </a:pPr>
            <a:r>
              <a:rPr lang="en-US" sz="900" dirty="0">
                <a:solidFill>
                  <a:srgbClr val="DC2626"/>
                </a:solidFill>
              </a:rPr>
              <a:t>Before: ALTER TABLE + rebuild ETL</a:t>
            </a:r>
            <a:endParaRPr lang="en-US" sz="900" dirty="0"/>
          </a:p>
        </p:txBody>
      </p:sp>
      <p:sp>
        <p:nvSpPr>
          <p:cNvPr id="10" name="Text 8"/>
          <p:cNvSpPr/>
          <p:nvPr/>
        </p:nvSpPr>
        <p:spPr>
          <a:xfrm>
            <a:off x="5577840" y="914400"/>
            <a:ext cx="3200400" cy="822960"/>
          </a:xfrm>
          <a:prstGeom prst="rect">
            <a:avLst/>
          </a:prstGeom>
          <a:noFill/>
          <a:ln/>
        </p:spPr>
        <p:txBody>
          <a:bodyPr wrap="square" rtlCol="0" anchor="ctr"/>
          <a:lstStyle/>
          <a:p>
            <a:pPr marL="0" indent="0">
              <a:buNone/>
            </a:pPr>
            <a:r>
              <a:rPr lang="en-US" sz="900" dirty="0">
                <a:solidFill>
                  <a:srgbClr val="16A34A"/>
                </a:solidFill>
              </a:rPr>
              <a:t>After: Add new Satellite only — zero impact on Hubs/Links/Gold</a:t>
            </a:r>
            <a:endParaRPr lang="en-US" sz="900" dirty="0"/>
          </a:p>
        </p:txBody>
      </p:sp>
      <p:sp>
        <p:nvSpPr>
          <p:cNvPr id="11" name="Shape 9"/>
          <p:cNvSpPr/>
          <p:nvPr/>
        </p:nvSpPr>
        <p:spPr>
          <a:xfrm>
            <a:off x="274320" y="1874520"/>
            <a:ext cx="8595360" cy="822960"/>
          </a:xfrm>
          <a:prstGeom prst="rect">
            <a:avLst/>
          </a:prstGeom>
          <a:solidFill>
            <a:srgbClr val="FFFFFF"/>
          </a:solidFill>
          <a:ln/>
          <a:effectLst>
            <a:outerShdw blurRad="50800" dist="25400" dir="8100000" algn="bl" rotWithShape="0">
              <a:srgbClr val="000000">
                <a:alpha val="10000"/>
              </a:srgbClr>
            </a:outerShdw>
          </a:effectLst>
        </p:spPr>
      </p:sp>
      <p:sp>
        <p:nvSpPr>
          <p:cNvPr id="12" name="Shape 10"/>
          <p:cNvSpPr/>
          <p:nvPr/>
        </p:nvSpPr>
        <p:spPr>
          <a:xfrm>
            <a:off x="274320" y="1874520"/>
            <a:ext cx="54864" cy="822960"/>
          </a:xfrm>
          <a:prstGeom prst="rect">
            <a:avLst/>
          </a:prstGeom>
          <a:solidFill>
            <a:srgbClr val="1B3A5C"/>
          </a:solidFill>
          <a:ln/>
        </p:spPr>
      </p:sp>
      <p:sp>
        <p:nvSpPr>
          <p:cNvPr id="13" name="Text 11"/>
          <p:cNvSpPr/>
          <p:nvPr/>
        </p:nvSpPr>
        <p:spPr>
          <a:xfrm>
            <a:off x="457200" y="1874520"/>
            <a:ext cx="2011680" cy="822960"/>
          </a:xfrm>
          <a:prstGeom prst="rect">
            <a:avLst/>
          </a:prstGeom>
          <a:noFill/>
          <a:ln/>
        </p:spPr>
        <p:txBody>
          <a:bodyPr wrap="square" rtlCol="0" anchor="ctr"/>
          <a:lstStyle/>
          <a:p>
            <a:pPr marL="0" indent="0">
              <a:buNone/>
            </a:pPr>
            <a:r>
              <a:rPr lang="en-US" sz="1050" b="1" dirty="0">
                <a:solidFill>
                  <a:srgbClr val="1B3A5C"/>
                </a:solidFill>
                <a:latin typeface="Georgia" pitchFamily="34" charset="0"/>
                <a:ea typeface="Georgia" pitchFamily="34" charset="-122"/>
                <a:cs typeface="Georgia" pitchFamily="34" charset="-120"/>
              </a:rPr>
              <a:t>C2: Historical Tracking</a:t>
            </a:r>
            <a:endParaRPr lang="en-US" sz="1050" dirty="0"/>
          </a:p>
        </p:txBody>
      </p:sp>
      <p:sp>
        <p:nvSpPr>
          <p:cNvPr id="14" name="Text 12"/>
          <p:cNvSpPr/>
          <p:nvPr/>
        </p:nvSpPr>
        <p:spPr>
          <a:xfrm>
            <a:off x="2560320" y="1874520"/>
            <a:ext cx="2926080" cy="822960"/>
          </a:xfrm>
          <a:prstGeom prst="rect">
            <a:avLst/>
          </a:prstGeom>
          <a:noFill/>
          <a:ln/>
        </p:spPr>
        <p:txBody>
          <a:bodyPr wrap="square" rtlCol="0" anchor="ctr"/>
          <a:lstStyle/>
          <a:p>
            <a:pPr marL="0" indent="0">
              <a:buNone/>
            </a:pPr>
            <a:r>
              <a:rPr lang="en-US" sz="900" dirty="0">
                <a:solidFill>
                  <a:srgbClr val="DC2626"/>
                </a:solidFill>
              </a:rPr>
              <a:t>Before: SCD2 limited audit (current + previous only)</a:t>
            </a:r>
            <a:endParaRPr lang="en-US" sz="900" dirty="0"/>
          </a:p>
        </p:txBody>
      </p:sp>
      <p:sp>
        <p:nvSpPr>
          <p:cNvPr id="15" name="Text 13"/>
          <p:cNvSpPr/>
          <p:nvPr/>
        </p:nvSpPr>
        <p:spPr>
          <a:xfrm>
            <a:off x="5577840" y="1874520"/>
            <a:ext cx="3200400" cy="822960"/>
          </a:xfrm>
          <a:prstGeom prst="rect">
            <a:avLst/>
          </a:prstGeom>
          <a:noFill/>
          <a:ln/>
        </p:spPr>
        <p:txBody>
          <a:bodyPr wrap="square" rtlCol="0" anchor="ctr"/>
          <a:lstStyle/>
          <a:p>
            <a:pPr marL="0" indent="0">
              <a:buNone/>
            </a:pPr>
            <a:r>
              <a:rPr lang="en-US" sz="900" dirty="0">
                <a:solidFill>
                  <a:srgbClr val="16A34A"/>
                </a:solidFill>
              </a:rPr>
              <a:t>After: Insert-only SATs preserve ALL versions with timestamps</a:t>
            </a:r>
            <a:endParaRPr lang="en-US" sz="900" dirty="0"/>
          </a:p>
        </p:txBody>
      </p:sp>
      <p:sp>
        <p:nvSpPr>
          <p:cNvPr id="16" name="Shape 14"/>
          <p:cNvSpPr/>
          <p:nvPr/>
        </p:nvSpPr>
        <p:spPr>
          <a:xfrm>
            <a:off x="274320" y="2834640"/>
            <a:ext cx="8595360" cy="822960"/>
          </a:xfrm>
          <a:prstGeom prst="rect">
            <a:avLst/>
          </a:prstGeom>
          <a:solidFill>
            <a:srgbClr val="FFFFFF"/>
          </a:solidFill>
          <a:ln/>
          <a:effectLst>
            <a:outerShdw blurRad="50800" dist="25400" dir="8100000" algn="bl" rotWithShape="0">
              <a:srgbClr val="000000">
                <a:alpha val="10000"/>
              </a:srgbClr>
            </a:outerShdw>
          </a:effectLst>
        </p:spPr>
      </p:sp>
      <p:sp>
        <p:nvSpPr>
          <p:cNvPr id="17" name="Shape 15"/>
          <p:cNvSpPr/>
          <p:nvPr/>
        </p:nvSpPr>
        <p:spPr>
          <a:xfrm>
            <a:off x="274320" y="2834640"/>
            <a:ext cx="54864" cy="822960"/>
          </a:xfrm>
          <a:prstGeom prst="rect">
            <a:avLst/>
          </a:prstGeom>
          <a:solidFill>
            <a:srgbClr val="D4A843"/>
          </a:solidFill>
          <a:ln/>
        </p:spPr>
      </p:sp>
      <p:sp>
        <p:nvSpPr>
          <p:cNvPr id="18" name="Text 16"/>
          <p:cNvSpPr/>
          <p:nvPr/>
        </p:nvSpPr>
        <p:spPr>
          <a:xfrm>
            <a:off x="457200" y="2834640"/>
            <a:ext cx="2011680" cy="822960"/>
          </a:xfrm>
          <a:prstGeom prst="rect">
            <a:avLst/>
          </a:prstGeom>
          <a:noFill/>
          <a:ln/>
        </p:spPr>
        <p:txBody>
          <a:bodyPr wrap="square" rtlCol="0" anchor="ctr"/>
          <a:lstStyle/>
          <a:p>
            <a:pPr marL="0" indent="0">
              <a:buNone/>
            </a:pPr>
            <a:r>
              <a:rPr lang="en-US" sz="1050" b="1" dirty="0">
                <a:solidFill>
                  <a:srgbClr val="1B3A5C"/>
                </a:solidFill>
                <a:latin typeface="Georgia" pitchFamily="34" charset="0"/>
                <a:ea typeface="Georgia" pitchFamily="34" charset="-122"/>
                <a:cs typeface="Georgia" pitchFamily="34" charset="-120"/>
              </a:rPr>
              <a:t>C3: Scalable ETL</a:t>
            </a:r>
            <a:endParaRPr lang="en-US" sz="1050" dirty="0"/>
          </a:p>
        </p:txBody>
      </p:sp>
      <p:sp>
        <p:nvSpPr>
          <p:cNvPr id="19" name="Text 17"/>
          <p:cNvSpPr/>
          <p:nvPr/>
        </p:nvSpPr>
        <p:spPr>
          <a:xfrm>
            <a:off x="2560320" y="2834640"/>
            <a:ext cx="2926080" cy="822960"/>
          </a:xfrm>
          <a:prstGeom prst="rect">
            <a:avLst/>
          </a:prstGeom>
          <a:noFill/>
          <a:ln/>
        </p:spPr>
        <p:txBody>
          <a:bodyPr wrap="square" rtlCol="0" anchor="ctr"/>
          <a:lstStyle/>
          <a:p>
            <a:pPr marL="0" indent="0">
              <a:buNone/>
            </a:pPr>
            <a:r>
              <a:rPr lang="en-US" sz="900" dirty="0">
                <a:solidFill>
                  <a:srgbClr val="DC2626"/>
                </a:solidFill>
              </a:rPr>
              <a:t>Before: Manual scripts, no logging, no error recovery</a:t>
            </a:r>
            <a:endParaRPr lang="en-US" sz="900" dirty="0"/>
          </a:p>
        </p:txBody>
      </p:sp>
      <p:sp>
        <p:nvSpPr>
          <p:cNvPr id="20" name="Text 18"/>
          <p:cNvSpPr/>
          <p:nvPr/>
        </p:nvSpPr>
        <p:spPr>
          <a:xfrm>
            <a:off x="5577840" y="2834640"/>
            <a:ext cx="3200400" cy="822960"/>
          </a:xfrm>
          <a:prstGeom prst="rect">
            <a:avLst/>
          </a:prstGeom>
          <a:noFill/>
          <a:ln/>
        </p:spPr>
        <p:txBody>
          <a:bodyPr wrap="square" rtlCol="0" anchor="ctr"/>
          <a:lstStyle/>
          <a:p>
            <a:pPr marL="0" indent="0">
              <a:buNone/>
            </a:pPr>
            <a:r>
              <a:rPr lang="en-US" sz="900" dirty="0">
                <a:solidFill>
                  <a:srgbClr val="16A34A"/>
                </a:solidFill>
              </a:rPr>
              <a:t>After: ETL control: batch/step logs, per-step TRY-CATCH isolation</a:t>
            </a:r>
            <a:endParaRPr lang="en-US" sz="900" dirty="0"/>
          </a:p>
        </p:txBody>
      </p:sp>
      <p:sp>
        <p:nvSpPr>
          <p:cNvPr id="21" name="Shape 19"/>
          <p:cNvSpPr/>
          <p:nvPr/>
        </p:nvSpPr>
        <p:spPr>
          <a:xfrm>
            <a:off x="274320" y="3794760"/>
            <a:ext cx="8595360" cy="822960"/>
          </a:xfrm>
          <a:prstGeom prst="rect">
            <a:avLst/>
          </a:prstGeom>
          <a:solidFill>
            <a:srgbClr val="FFFFFF"/>
          </a:solidFill>
          <a:ln/>
          <a:effectLst>
            <a:outerShdw blurRad="50800" dist="25400" dir="8100000" algn="bl" rotWithShape="0">
              <a:srgbClr val="000000">
                <a:alpha val="10000"/>
              </a:srgbClr>
            </a:outerShdw>
          </a:effectLst>
        </p:spPr>
      </p:sp>
      <p:sp>
        <p:nvSpPr>
          <p:cNvPr id="22" name="Shape 20"/>
          <p:cNvSpPr/>
          <p:nvPr/>
        </p:nvSpPr>
        <p:spPr>
          <a:xfrm>
            <a:off x="274320" y="3794760"/>
            <a:ext cx="54864" cy="822960"/>
          </a:xfrm>
          <a:prstGeom prst="rect">
            <a:avLst/>
          </a:prstGeom>
          <a:solidFill>
            <a:srgbClr val="CD7F32"/>
          </a:solidFill>
          <a:ln/>
        </p:spPr>
      </p:sp>
      <p:sp>
        <p:nvSpPr>
          <p:cNvPr id="23" name="Text 21"/>
          <p:cNvSpPr/>
          <p:nvPr/>
        </p:nvSpPr>
        <p:spPr>
          <a:xfrm>
            <a:off x="457200" y="3794760"/>
            <a:ext cx="2011680" cy="822960"/>
          </a:xfrm>
          <a:prstGeom prst="rect">
            <a:avLst/>
          </a:prstGeom>
          <a:noFill/>
          <a:ln/>
        </p:spPr>
        <p:txBody>
          <a:bodyPr wrap="square" rtlCol="0" anchor="ctr"/>
          <a:lstStyle/>
          <a:p>
            <a:pPr marL="0" indent="0">
              <a:buNone/>
            </a:pPr>
            <a:r>
              <a:rPr lang="en-US" sz="1050" b="1" dirty="0">
                <a:solidFill>
                  <a:srgbClr val="1B3A5C"/>
                </a:solidFill>
                <a:latin typeface="Georgia" pitchFamily="34" charset="0"/>
                <a:ea typeface="Georgia" pitchFamily="34" charset="-122"/>
                <a:cs typeface="Georgia" pitchFamily="34" charset="-120"/>
              </a:rPr>
              <a:t>C4: Business Rules Gap</a:t>
            </a:r>
            <a:endParaRPr lang="en-US" sz="1050" dirty="0"/>
          </a:p>
        </p:txBody>
      </p:sp>
      <p:sp>
        <p:nvSpPr>
          <p:cNvPr id="24" name="Text 22"/>
          <p:cNvSpPr/>
          <p:nvPr/>
        </p:nvSpPr>
        <p:spPr>
          <a:xfrm>
            <a:off x="2560320" y="3794760"/>
            <a:ext cx="2926080" cy="822960"/>
          </a:xfrm>
          <a:prstGeom prst="rect">
            <a:avLst/>
          </a:prstGeom>
          <a:noFill/>
          <a:ln/>
        </p:spPr>
        <p:txBody>
          <a:bodyPr wrap="square" rtlCol="0" anchor="ctr"/>
          <a:lstStyle/>
          <a:p>
            <a:pPr marL="0" indent="0">
              <a:buNone/>
            </a:pPr>
            <a:r>
              <a:rPr lang="en-US" sz="900" dirty="0">
                <a:solidFill>
                  <a:srgbClr val="DC2626"/>
                </a:solidFill>
              </a:rPr>
              <a:t>Before: Raw data mixed with derived logic in star schema</a:t>
            </a:r>
            <a:endParaRPr lang="en-US" sz="900" dirty="0"/>
          </a:p>
        </p:txBody>
      </p:sp>
      <p:sp>
        <p:nvSpPr>
          <p:cNvPr id="25" name="Text 23"/>
          <p:cNvSpPr/>
          <p:nvPr/>
        </p:nvSpPr>
        <p:spPr>
          <a:xfrm>
            <a:off x="5577840" y="3794760"/>
            <a:ext cx="3200400" cy="822960"/>
          </a:xfrm>
          <a:prstGeom prst="rect">
            <a:avLst/>
          </a:prstGeom>
          <a:noFill/>
          <a:ln/>
        </p:spPr>
        <p:txBody>
          <a:bodyPr wrap="square" rtlCol="0" anchor="ctr"/>
          <a:lstStyle/>
          <a:p>
            <a:pPr marL="0" indent="0">
              <a:buNone/>
            </a:pPr>
            <a:r>
              <a:rPr lang="en-US" sz="900" dirty="0">
                <a:solidFill>
                  <a:srgbClr val="16A34A"/>
                </a:solidFill>
              </a:rPr>
              <a:t>After: Silver separates business rules; Bronze preserves raw data</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11 / 18</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ETL Load Time Benchmarks</a:t>
            </a:r>
            <a:endParaRPr lang="en-US" sz="2200" dirty="0"/>
          </a:p>
        </p:txBody>
      </p:sp>
      <p:sp>
        <p:nvSpPr>
          <p:cNvPr id="5" name="Shape 3"/>
          <p:cNvSpPr/>
          <p:nvPr/>
        </p:nvSpPr>
        <p:spPr>
          <a:xfrm>
            <a:off x="457200" y="731520"/>
            <a:ext cx="1097280" cy="36576"/>
          </a:xfrm>
          <a:prstGeom prst="rect">
            <a:avLst/>
          </a:prstGeom>
          <a:solidFill>
            <a:srgbClr val="2A9D8F"/>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1005840"/>
          <a:ext cx="8595360" cy="1371600"/>
        </p:xfrm>
        <a:graphic>
          <a:graphicData uri="http://schemas.openxmlformats.org/drawingml/2006/table">
            <a:tbl>
              <a:tblPr/>
              <a:tblGrid>
                <a:gridCol w="18288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0">
                <a:tc>
                  <a:txBody>
                    <a:bodyPr/>
                    <a:lstStyle/>
                    <a:p>
                      <a:pPr marL="0" indent="0">
                        <a:buNone/>
                      </a:pPr>
                      <a:r>
                        <a:rPr lang="en-US" sz="900" b="1" dirty="0">
                          <a:solidFill>
                            <a:srgbClr val="FFFFFF"/>
                          </a:solidFill>
                        </a:rPr>
                        <a:t>Layer</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900" b="1" dirty="0">
                          <a:solidFill>
                            <a:srgbClr val="FFFFFF"/>
                          </a:solidFill>
                        </a:rPr>
                        <a:t>Objects (Steps)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900" b="1" dirty="0">
                          <a:solidFill>
                            <a:srgbClr val="FFFFFF"/>
                          </a:solidFill>
                        </a:rPr>
                        <a:t>Full Load (s)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900" b="1" dirty="0">
                          <a:solidFill>
                            <a:srgbClr val="FFFFFF"/>
                          </a:solidFill>
                        </a:rPr>
                        <a:t>Incremental (s)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900" b="1" dirty="0">
                          <a:solidFill>
                            <a:srgbClr val="FFFFFF"/>
                          </a:solidFill>
                        </a:rPr>
                        <a:t>Records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0">
                <a:tc>
                  <a:txBody>
                    <a:bodyPr/>
                    <a:lstStyle/>
                    <a:p>
                      <a:pPr marL="0" indent="0">
                        <a:buNone/>
                      </a:pPr>
                      <a:r>
                        <a:rPr lang="en-US" sz="900" b="1" dirty="0">
                          <a:solidFill>
                            <a:srgbClr val="1B3A5C"/>
                          </a:solidFill>
                        </a:rPr>
                        <a:t>Staging</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rPr>
                        <a:t>9 tables (9 steps)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rPr>
                        <a:t>22.8</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rPr>
                        <a:t>6.0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rPr>
                        <a:t>58,813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00" b="1" dirty="0">
                          <a:solidFill>
                            <a:srgbClr val="1B3A5C"/>
                          </a:solidFill>
                        </a:rPr>
                        <a:t>Bronze (H+S+L)</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00" dirty="0">
                          <a:solidFill>
                            <a:srgbClr val="1E293B"/>
                          </a:solidFill>
                        </a:rPr>
                        <a:t>23 objects (23 steps)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00" dirty="0">
                          <a:solidFill>
                            <a:srgbClr val="1E293B"/>
                          </a:solidFill>
                        </a:rPr>
                        <a:t>39.5</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00" dirty="0">
                          <a:solidFill>
                            <a:srgbClr val="1E293B"/>
                          </a:solidFill>
                        </a:rPr>
                        <a:t>30.3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00" dirty="0">
                          <a:solidFill>
                            <a:srgbClr val="1E293B"/>
                          </a:solidFill>
                        </a:rPr>
                        <a:t>184,108</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extLst>
                  <a:ext uri="{0D108BD9-81ED-4DB2-BD59-A6C34878D82A}">
                    <a16:rowId xmlns:a16="http://schemas.microsoft.com/office/drawing/2014/main" val="10002"/>
                  </a:ext>
                </a:extLst>
              </a:tr>
              <a:tr h="0">
                <a:tc>
                  <a:txBody>
                    <a:bodyPr/>
                    <a:lstStyle/>
                    <a:p>
                      <a:pPr marL="0" indent="0">
                        <a:buNone/>
                      </a:pPr>
                      <a:r>
                        <a:rPr lang="en-US" sz="900" b="1" dirty="0">
                          <a:solidFill>
                            <a:srgbClr val="1B3A5C"/>
                          </a:solidFill>
                        </a:rPr>
                        <a:t>Silver (PIT+BRG+BUS)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rPr>
                        <a:t>6 objects (6 steps)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rPr>
                        <a:t>3.4</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rPr>
                        <a:t>3.5</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rPr>
                        <a:t>2,000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00" b="1" dirty="0">
                          <a:solidFill>
                            <a:srgbClr val="1B3A5C"/>
                          </a:solidFill>
                        </a:rPr>
                        <a:t>Gold (DIM+FACT)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00" dirty="0">
                          <a:solidFill>
                            <a:srgbClr val="1E293B"/>
                          </a:solidFill>
                        </a:rPr>
                        <a:t>11 objects (11 steps)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00" dirty="0">
                          <a:solidFill>
                            <a:srgbClr val="1E293B"/>
                          </a:solidFill>
                        </a:rPr>
                        <a:t>11.0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00" dirty="0">
                          <a:solidFill>
                            <a:srgbClr val="1E293B"/>
                          </a:solidFill>
                        </a:rPr>
                        <a:t>12.7</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00" dirty="0">
                          <a:solidFill>
                            <a:srgbClr val="1E293B"/>
                          </a:solidFill>
                        </a:rPr>
                        <a:t>91,752</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extLst>
                  <a:ext uri="{0D108BD9-81ED-4DB2-BD59-A6C34878D82A}">
                    <a16:rowId xmlns:a16="http://schemas.microsoft.com/office/drawing/2014/main" val="10004"/>
                  </a:ext>
                </a:extLst>
              </a:tr>
              <a:tr h="0">
                <a:tc>
                  <a:txBody>
                    <a:bodyPr/>
                    <a:lstStyle/>
                    <a:p>
                      <a:pPr marL="0" indent="0">
                        <a:buNone/>
                      </a:pPr>
                      <a:r>
                        <a:rPr lang="en-US" sz="900" b="1" dirty="0">
                          <a:solidFill>
                            <a:srgbClr val="1B3A5C"/>
                          </a:solidFill>
                        </a:rPr>
                        <a:t>Total Pipeline</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00" dirty="0">
                          <a:solidFill>
                            <a:srgbClr val="1E293B"/>
                          </a:solidFill>
                        </a:rPr>
                        <a:t>49 steps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00" b="1" dirty="0">
                          <a:solidFill>
                            <a:srgbClr val="2A9D8F"/>
                          </a:solidFill>
                        </a:rPr>
                        <a:t>120.9</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00" b="1" dirty="0">
                          <a:solidFill>
                            <a:srgbClr val="2A9D8F"/>
                          </a:solidFill>
                        </a:rPr>
                        <a:t>93.6</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00" b="1" dirty="0">
                          <a:solidFill>
                            <a:srgbClr val="2A9D8F"/>
                          </a:solidFill>
                        </a:rPr>
                        <a:t>336,677</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extLst>
                  <a:ext uri="{0D108BD9-81ED-4DB2-BD59-A6C34878D82A}">
                    <a16:rowId xmlns:a16="http://schemas.microsoft.com/office/drawing/2014/main" val="10005"/>
                  </a:ext>
                </a:extLst>
              </a:tr>
            </a:tbl>
          </a:graphicData>
        </a:graphic>
      </p:graphicFrame>
      <p:sp>
        <p:nvSpPr>
          <p:cNvPr id="7" name="Shape 4"/>
          <p:cNvSpPr/>
          <p:nvPr/>
        </p:nvSpPr>
        <p:spPr>
          <a:xfrm>
            <a:off x="274320" y="2880360"/>
            <a:ext cx="8595360" cy="457200"/>
          </a:xfrm>
          <a:prstGeom prst="rect">
            <a:avLst/>
          </a:prstGeom>
          <a:solidFill>
            <a:srgbClr val="FEF3C7"/>
          </a:solidFill>
          <a:ln/>
        </p:spPr>
      </p:sp>
      <p:sp>
        <p:nvSpPr>
          <p:cNvPr id="8" name="Shape 5"/>
          <p:cNvSpPr/>
          <p:nvPr/>
        </p:nvSpPr>
        <p:spPr>
          <a:xfrm>
            <a:off x="274320" y="2880360"/>
            <a:ext cx="54864" cy="457200"/>
          </a:xfrm>
          <a:prstGeom prst="rect">
            <a:avLst/>
          </a:prstGeom>
          <a:solidFill>
            <a:srgbClr val="D4A843"/>
          </a:solidFill>
          <a:ln/>
        </p:spPr>
      </p:sp>
      <p:sp>
        <p:nvSpPr>
          <p:cNvPr id="9" name="Text 6"/>
          <p:cNvSpPr/>
          <p:nvPr/>
        </p:nvSpPr>
        <p:spPr>
          <a:xfrm>
            <a:off x="457200" y="2880360"/>
            <a:ext cx="8229600" cy="457200"/>
          </a:xfrm>
          <a:prstGeom prst="rect">
            <a:avLst/>
          </a:prstGeom>
          <a:noFill/>
          <a:ln/>
        </p:spPr>
        <p:txBody>
          <a:bodyPr wrap="square" rtlCol="0" anchor="ctr"/>
          <a:lstStyle/>
          <a:p>
            <a:pPr marL="0" indent="0">
              <a:buNone/>
            </a:pPr>
            <a:r>
              <a:rPr lang="en-US" sz="1050" b="1" dirty="0">
                <a:solidFill>
                  <a:srgbClr val="1B3A5C"/>
                </a:solidFill>
              </a:rPr>
              <a:t>Why is incremental (93.6s) slower than full load (120.9s)?</a:t>
            </a:r>
            <a:endParaRPr lang="en-US" sz="1050" dirty="0"/>
          </a:p>
        </p:txBody>
      </p:sp>
      <p:sp>
        <p:nvSpPr>
          <p:cNvPr id="10" name="Text 7"/>
          <p:cNvSpPr/>
          <p:nvPr/>
        </p:nvSpPr>
        <p:spPr>
          <a:xfrm>
            <a:off x="457200" y="3383280"/>
            <a:ext cx="8229600" cy="1371600"/>
          </a:xfrm>
          <a:prstGeom prst="rect">
            <a:avLst/>
          </a:prstGeom>
          <a:noFill/>
          <a:ln/>
        </p:spPr>
        <p:txBody>
          <a:bodyPr wrap="square" rtlCol="0" anchor="ctr"/>
          <a:lstStyle/>
          <a:p>
            <a:pPr marL="342900" indent="-342900">
              <a:spcAft>
                <a:spcPts val="500"/>
              </a:spcAft>
              <a:buSzPct val="100000"/>
              <a:buChar char="•"/>
            </a:pPr>
            <a:r>
              <a:rPr lang="en-US" sz="900" dirty="0">
                <a:solidFill>
                  <a:srgbClr val="1E293B"/>
                </a:solidFill>
              </a:rPr>
              <a:t>Staging: watermark queries (WHERE ModifiedDate &gt; @LastRun) add filtering overhead per table (23.8s vs 10.6s)</a:t>
            </a:r>
            <a:endParaRPr lang="en-US" sz="900" dirty="0"/>
          </a:p>
          <a:p>
            <a:pPr marL="342900" indent="-342900">
              <a:spcAft>
                <a:spcPts val="500"/>
              </a:spcAft>
              <a:buSzPct val="100000"/>
              <a:buChar char="•"/>
            </a:pPr>
            <a:r>
              <a:rPr lang="en-US" sz="900" dirty="0">
                <a:solidFill>
                  <a:srgbClr val="1E293B"/>
                </a:solidFill>
              </a:rPr>
              <a:t>Bronze: hash diff comparison on every record to detect changes adds CPU-intensive hashing (39.4s vs 43.3s — actually faster)</a:t>
            </a:r>
            <a:endParaRPr lang="en-US" sz="900" dirty="0"/>
          </a:p>
          <a:p>
            <a:pPr marL="342900" indent="-342900">
              <a:spcAft>
                <a:spcPts val="500"/>
              </a:spcAft>
              <a:buSzPct val="100000"/>
              <a:buChar char="•"/>
            </a:pPr>
            <a:r>
              <a:rPr lang="en-US" sz="900" dirty="0">
                <a:solidFill>
                  <a:srgbClr val="1E293B"/>
                </a:solidFill>
              </a:rPr>
              <a:t>Silver/Gold: rebuild computed tables regardless of load type (similar times)</a:t>
            </a:r>
            <a:endParaRPr lang="en-US" sz="900" dirty="0"/>
          </a:p>
          <a:p>
            <a:pPr marL="342900" indent="-342900">
              <a:spcAft>
                <a:spcPts val="500"/>
              </a:spcAft>
              <a:buSzPct val="100000"/>
              <a:buChar char="•"/>
            </a:pPr>
            <a:r>
              <a:rPr lang="en-US" sz="900" b="1" dirty="0">
                <a:solidFill>
                  <a:srgbClr val="2A9D8F"/>
                </a:solidFill>
              </a:rPr>
              <a:t>Net: staging watermark overhead (+13.2s) exceeds Bronze savings (−3.9s), resulting in +6.1s total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12 / 18</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Query Performance — Gold vs Raw Vault</a:t>
            </a:r>
            <a:endParaRPr lang="en-US" sz="2200" dirty="0"/>
          </a:p>
        </p:txBody>
      </p:sp>
      <p:sp>
        <p:nvSpPr>
          <p:cNvPr id="5" name="Shape 3"/>
          <p:cNvSpPr/>
          <p:nvPr/>
        </p:nvSpPr>
        <p:spPr>
          <a:xfrm>
            <a:off x="457200" y="731520"/>
            <a:ext cx="1097280" cy="36576"/>
          </a:xfrm>
          <a:prstGeom prst="rect">
            <a:avLst/>
          </a:prstGeom>
          <a:solidFill>
            <a:srgbClr val="2A9D8F"/>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74320" y="1005840"/>
          <a:ext cx="8595360" cy="975360"/>
        </p:xfrm>
        <a:graphic>
          <a:graphicData uri="http://schemas.openxmlformats.org/drawingml/2006/table">
            <a:tbl>
              <a:tblPr/>
              <a:tblGrid>
                <a:gridCol w="11887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0">
                <a:tc>
                  <a:txBody>
                    <a:bodyPr/>
                    <a:lstStyle/>
                    <a:p>
                      <a:pPr marL="0" indent="0">
                        <a:buNone/>
                      </a:pPr>
                      <a:r>
                        <a:rPr lang="en-US" sz="1000" b="1" dirty="0">
                          <a:solidFill>
                            <a:srgbClr val="FFFFFF"/>
                          </a:solidFill>
                        </a:rPr>
                        <a:t>Complexity</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rPr>
                        <a:t>Query Description</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rPr>
                        <a:t>Gold (ms)</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rPr>
                        <a:t>Raw Vault (ms)</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rPr>
                        <a:t>Speedup</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1B3A5C"/>
                          </a:solidFill>
                        </a:rPr>
                        <a:t>Simple</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Total tax by category (2-table join)</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6A34A"/>
                          </a:solidFill>
                        </a:rPr>
                        <a:t>24</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DC2626"/>
                          </a:solidFill>
                        </a:rPr>
                        <a:t>199</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2A9D8F"/>
                          </a:solidFill>
                        </a:rPr>
                        <a:t>8.3x</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1B3A5C"/>
                          </a:solidFill>
                        </a:rPr>
                        <a:t>Medium</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50" dirty="0">
                          <a:solidFill>
                            <a:srgbClr val="1E293B"/>
                          </a:solidFill>
                        </a:rPr>
                        <a:t>Top 10 by payment (4-table join)</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1000" b="1" dirty="0">
                          <a:solidFill>
                            <a:srgbClr val="16A34A"/>
                          </a:solidFill>
                        </a:rPr>
                        <a:t>18</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1000" dirty="0">
                          <a:solidFill>
                            <a:srgbClr val="DC2626"/>
                          </a:solidFill>
                        </a:rPr>
                        <a:t>123</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1000" b="1" dirty="0">
                          <a:solidFill>
                            <a:srgbClr val="2A9D8F"/>
                          </a:solidFill>
                        </a:rPr>
                        <a:t>6.8x</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1B3A5C"/>
                          </a:solidFill>
                        </a:rPr>
                        <a:t>Complex</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Monthly revenue trend (6-table join)</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6A34A"/>
                          </a:solidFill>
                        </a:rPr>
                        <a:t>771</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DC2626"/>
                          </a:solidFill>
                        </a:rPr>
                        <a:t>798</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2A9D8F"/>
                          </a:solidFill>
                        </a:rPr>
                        <a:t>1.03x</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274320" y="2743200"/>
            <a:ext cx="8595360" cy="457200"/>
          </a:xfrm>
          <a:prstGeom prst="rect">
            <a:avLst/>
          </a:prstGeom>
          <a:solidFill>
            <a:srgbClr val="E8F4F2"/>
          </a:solidFill>
          <a:ln/>
        </p:spPr>
      </p:sp>
      <p:sp>
        <p:nvSpPr>
          <p:cNvPr id="8" name="Text 5"/>
          <p:cNvSpPr/>
          <p:nvPr/>
        </p:nvSpPr>
        <p:spPr>
          <a:xfrm>
            <a:off x="457200" y="2743200"/>
            <a:ext cx="8229600" cy="457200"/>
          </a:xfrm>
          <a:prstGeom prst="rect">
            <a:avLst/>
          </a:prstGeom>
          <a:noFill/>
          <a:ln/>
        </p:spPr>
        <p:txBody>
          <a:bodyPr wrap="square" rtlCol="0" anchor="ctr"/>
          <a:lstStyle/>
          <a:p>
            <a:pPr marL="0" indent="0">
              <a:buNone/>
            </a:pPr>
            <a:r>
              <a:rPr lang="en-US" sz="1050" b="1" dirty="0">
                <a:solidFill>
                  <a:srgbClr val="1B3A5C"/>
                </a:solidFill>
              </a:rPr>
              <a:t>Gold layer star schema delivers query response times under 130ms for complex queries. Raw Vault equivalent requires 12+ table joins and is 6.8x–1.03x slower — validating the medallion approach.</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13 / 18</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Scalability Analysis</a:t>
            </a:r>
            <a:endParaRPr lang="en-US" sz="2200" dirty="0"/>
          </a:p>
        </p:txBody>
      </p:sp>
      <p:sp>
        <p:nvSpPr>
          <p:cNvPr id="5" name="Shape 3"/>
          <p:cNvSpPr/>
          <p:nvPr/>
        </p:nvSpPr>
        <p:spPr>
          <a:xfrm>
            <a:off x="457200" y="731520"/>
            <a:ext cx="1097280" cy="36576"/>
          </a:xfrm>
          <a:prstGeom prst="rect">
            <a:avLst/>
          </a:prstGeom>
          <a:solidFill>
            <a:srgbClr val="2A9D8F"/>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274320" y="1005840"/>
          <a:ext cx="8595360" cy="1417320"/>
        </p:xfrm>
        <a:graphic>
          <a:graphicData uri="http://schemas.openxmlformats.org/drawingml/2006/table">
            <a:tbl>
              <a:tblPr/>
              <a:tblGrid>
                <a:gridCol w="13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0">
                <a:tc>
                  <a:txBody>
                    <a:bodyPr/>
                    <a:lstStyle/>
                    <a:p>
                      <a:pPr marL="0" indent="0">
                        <a:buNone/>
                      </a:pPr>
                      <a:r>
                        <a:rPr lang="en-US" sz="950" b="1" dirty="0">
                          <a:solidFill>
                            <a:srgbClr val="FFFFFF"/>
                          </a:solidFill>
                        </a:rPr>
                        <a:t>Taxpayers</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950" b="1" dirty="0">
                          <a:solidFill>
                            <a:srgbClr val="FFFFFF"/>
                          </a:solidFill>
                        </a:rPr>
                        <a:t>Total Records</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950" b="1" dirty="0">
                          <a:solidFill>
                            <a:srgbClr val="FFFFFF"/>
                          </a:solidFill>
                        </a:rPr>
                        <a:t>Full Load (s)</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950" b="1" dirty="0">
                          <a:solidFill>
                            <a:srgbClr val="FFFFFF"/>
                          </a:solidFill>
                        </a:rPr>
                        <a:t>Records/Sec</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950" b="1" dirty="0">
                          <a:solidFill>
                            <a:srgbClr val="FFFFFF"/>
                          </a:solidFill>
                        </a:rPr>
                        <a:t>Linear Proj.</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0">
                <a:tc>
                  <a:txBody>
                    <a:bodyPr/>
                    <a:lstStyle/>
                    <a:p>
                      <a:pPr marL="0" indent="0">
                        <a:buNone/>
                      </a:pPr>
                      <a:r>
                        <a:rPr lang="en-US" sz="950" b="1" dirty="0">
                          <a:solidFill>
                            <a:srgbClr val="1B3A5C"/>
                          </a:solidFill>
                        </a:rPr>
                        <a:t>250</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~15,000</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6.8</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b="1" dirty="0">
                          <a:solidFill>
                            <a:srgbClr val="2A9D8F"/>
                          </a:solidFill>
                        </a:rPr>
                        <a:t>2,206</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64748B"/>
                          </a:solidFill>
                        </a:rPr>
                        <a:t>—</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50" b="1" dirty="0">
                          <a:solidFill>
                            <a:srgbClr val="1B3A5C"/>
                          </a:solidFill>
                        </a:rPr>
                        <a:t>500</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50" dirty="0">
                          <a:solidFill>
                            <a:srgbClr val="1E293B"/>
                          </a:solidFill>
                        </a:rPr>
                        <a:t>~30,000</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50" dirty="0">
                          <a:solidFill>
                            <a:srgbClr val="1E293B"/>
                          </a:solidFill>
                        </a:rPr>
                        <a:t>13.2</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50" b="1" dirty="0">
                          <a:solidFill>
                            <a:srgbClr val="2A9D8F"/>
                          </a:solidFill>
                        </a:rPr>
                        <a:t>2,273</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50" dirty="0">
                          <a:solidFill>
                            <a:srgbClr val="64748B"/>
                          </a:solidFill>
                        </a:rPr>
                        <a:t>13.6</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extLst>
                  <a:ext uri="{0D108BD9-81ED-4DB2-BD59-A6C34878D82A}">
                    <a16:rowId xmlns:a16="http://schemas.microsoft.com/office/drawing/2014/main" val="10002"/>
                  </a:ext>
                </a:extLst>
              </a:tr>
              <a:tr h="0">
                <a:tc>
                  <a:txBody>
                    <a:bodyPr/>
                    <a:lstStyle/>
                    <a:p>
                      <a:pPr marL="0" indent="0">
                        <a:buNone/>
                      </a:pPr>
                      <a:r>
                        <a:rPr lang="en-US" sz="950" b="1" dirty="0">
                          <a:solidFill>
                            <a:srgbClr val="1B3A5C"/>
                          </a:solidFill>
                        </a:rPr>
                        <a:t>1,000</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~57,000</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120.9</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b="1" dirty="0">
                          <a:solidFill>
                            <a:srgbClr val="2A9D8F"/>
                          </a:solidFill>
                        </a:rPr>
                        <a:t>2,785</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64748B"/>
                          </a:solidFill>
                        </a:rPr>
                        <a:t>—</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50" b="1" dirty="0">
                          <a:solidFill>
                            <a:srgbClr val="1B3A5C"/>
                          </a:solidFill>
                        </a:rPr>
                        <a:t>2,000</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50" dirty="0">
                          <a:solidFill>
                            <a:srgbClr val="1E293B"/>
                          </a:solidFill>
                        </a:rPr>
                        <a:t>~120,000</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50" dirty="0">
                          <a:solidFill>
                            <a:srgbClr val="1E293B"/>
                          </a:solidFill>
                        </a:rPr>
                        <a:t>54.8</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50" b="1" dirty="0">
                          <a:solidFill>
                            <a:srgbClr val="2A9D8F"/>
                          </a:solidFill>
                        </a:rPr>
                        <a:t>2,190</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tc>
                  <a:txBody>
                    <a:bodyPr/>
                    <a:lstStyle/>
                    <a:p>
                      <a:pPr marL="0" indent="0">
                        <a:buNone/>
                      </a:pPr>
                      <a:r>
                        <a:rPr lang="en-US" sz="950" dirty="0">
                          <a:solidFill>
                            <a:srgbClr val="64748B"/>
                          </a:solidFill>
                        </a:rPr>
                        <a:t>54.4</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4F2"/>
                    </a:solidFill>
                  </a:tcPr>
                </a:tc>
                <a:extLst>
                  <a:ext uri="{0D108BD9-81ED-4DB2-BD59-A6C34878D82A}">
                    <a16:rowId xmlns:a16="http://schemas.microsoft.com/office/drawing/2014/main" val="10004"/>
                  </a:ext>
                </a:extLst>
              </a:tr>
              <a:tr h="0">
                <a:tc>
                  <a:txBody>
                    <a:bodyPr/>
                    <a:lstStyle/>
                    <a:p>
                      <a:pPr marL="0" indent="0">
                        <a:buNone/>
                      </a:pPr>
                      <a:r>
                        <a:rPr lang="en-US" sz="950" b="1" dirty="0">
                          <a:solidFill>
                            <a:srgbClr val="1B3A5C"/>
                          </a:solidFill>
                        </a:rPr>
                        <a:t>5,000</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~300,000</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142.3</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b="1" dirty="0">
                          <a:solidFill>
                            <a:srgbClr val="2A9D8F"/>
                          </a:solidFill>
                        </a:rPr>
                        <a:t>2,109</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64748B"/>
                          </a:solidFill>
                        </a:rPr>
                        <a:t>136.0</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p:nvPr/>
        </p:nvSpPr>
        <p:spPr>
          <a:xfrm>
            <a:off x="457200" y="3200400"/>
            <a:ext cx="8229600" cy="1371600"/>
          </a:xfrm>
          <a:prstGeom prst="rect">
            <a:avLst/>
          </a:prstGeom>
          <a:noFill/>
          <a:ln/>
        </p:spPr>
        <p:txBody>
          <a:bodyPr wrap="square" rtlCol="0" anchor="ctr"/>
          <a:lstStyle/>
          <a:p>
            <a:pPr marL="342900" indent="-342900">
              <a:spcAft>
                <a:spcPts val="600"/>
              </a:spcAft>
              <a:buSzPct val="100000"/>
              <a:buChar char="•"/>
            </a:pPr>
            <a:r>
              <a:rPr lang="en-US" sz="1000" dirty="0">
                <a:solidFill>
                  <a:srgbClr val="1E293B"/>
                </a:solidFill>
              </a:rPr>
              <a:t>Near-linear scalability up to 2,000 taxpayers (~120K records)</a:t>
            </a:r>
            <a:endParaRPr lang="en-US" sz="1000" dirty="0"/>
          </a:p>
          <a:p>
            <a:pPr marL="342900" indent="-342900">
              <a:spcAft>
                <a:spcPts val="600"/>
              </a:spcAft>
              <a:buSzPct val="100000"/>
              <a:buChar char="•"/>
            </a:pPr>
            <a:r>
              <a:rPr lang="en-US" sz="1000" dirty="0">
                <a:solidFill>
                  <a:srgbClr val="1E293B"/>
                </a:solidFill>
              </a:rPr>
              <a:t>~2,200 records/second sustained throughput across all layers</a:t>
            </a:r>
            <a:endParaRPr lang="en-US" sz="1000" dirty="0"/>
          </a:p>
          <a:p>
            <a:pPr marL="342900" indent="-342900">
              <a:spcAft>
                <a:spcPts val="600"/>
              </a:spcAft>
              <a:buSzPct val="100000"/>
              <a:buChar char="•"/>
            </a:pPr>
            <a:r>
              <a:rPr lang="en-US" sz="1000" dirty="0">
                <a:solidFill>
                  <a:srgbClr val="1E293B"/>
                </a:solidFill>
              </a:rPr>
              <a:t>At 5,000 taxpayers: only 4.7% overhead vs linear projection</a:t>
            </a:r>
            <a:endParaRPr lang="en-US" sz="1000" dirty="0"/>
          </a:p>
          <a:p>
            <a:pPr marL="342900" indent="-342900">
              <a:spcAft>
                <a:spcPts val="600"/>
              </a:spcAft>
              <a:buSzPct val="100000"/>
              <a:buChar char="•"/>
            </a:pPr>
            <a:r>
              <a:rPr lang="en-US" sz="1000" dirty="0">
                <a:solidFill>
                  <a:srgbClr val="1E293B"/>
                </a:solidFill>
              </a:rPr>
              <a:t>Degradation attributed to hash key lookup operations in Bronze layer</a:t>
            </a:r>
            <a:endParaRPr lang="en-US" sz="1000" dirty="0"/>
          </a:p>
          <a:p>
            <a:pPr marL="342900" indent="-342900">
              <a:spcAft>
                <a:spcPts val="600"/>
              </a:spcAft>
              <a:buSzPct val="100000"/>
              <a:buChar char="•"/>
            </a:pPr>
            <a:r>
              <a:rPr lang="en-US" sz="1000" b="1" dirty="0">
                <a:solidFill>
                  <a:srgbClr val="2A9D8F"/>
                </a:solidFill>
              </a:rPr>
              <a:t>Production: columnstore indexes + partition switching recommended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14 / 18</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Discussion — Key Insights</a:t>
            </a:r>
            <a:endParaRPr lang="en-US" sz="2200" dirty="0"/>
          </a:p>
        </p:txBody>
      </p:sp>
      <p:sp>
        <p:nvSpPr>
          <p:cNvPr id="5" name="Shape 3"/>
          <p:cNvSpPr/>
          <p:nvPr/>
        </p:nvSpPr>
        <p:spPr>
          <a:xfrm>
            <a:off x="457200" y="731520"/>
            <a:ext cx="1097280" cy="36576"/>
          </a:xfrm>
          <a:prstGeom prst="rect">
            <a:avLst/>
          </a:prstGeom>
          <a:solidFill>
            <a:srgbClr val="2A9D8F"/>
          </a:solidFill>
          <a:ln/>
        </p:spPr>
      </p:sp>
      <p:sp>
        <p:nvSpPr>
          <p:cNvPr id="6" name="Shape 4"/>
          <p:cNvSpPr/>
          <p:nvPr/>
        </p:nvSpPr>
        <p:spPr>
          <a:xfrm>
            <a:off x="274320" y="914400"/>
            <a:ext cx="2834640" cy="3749040"/>
          </a:xfrm>
          <a:prstGeom prst="rect">
            <a:avLst/>
          </a:prstGeom>
          <a:solidFill>
            <a:srgbClr val="FFFFFF"/>
          </a:solidFill>
          <a:ln/>
          <a:effectLst>
            <a:outerShdw blurRad="50800" dist="25400" dir="8100000" algn="bl" rotWithShape="0">
              <a:srgbClr val="000000">
                <a:alpha val="10000"/>
              </a:srgbClr>
            </a:outerShdw>
          </a:effectLst>
        </p:spPr>
      </p:sp>
      <p:sp>
        <p:nvSpPr>
          <p:cNvPr id="7" name="Shape 5"/>
          <p:cNvSpPr/>
          <p:nvPr/>
        </p:nvSpPr>
        <p:spPr>
          <a:xfrm>
            <a:off x="274320" y="914400"/>
            <a:ext cx="54864" cy="3749040"/>
          </a:xfrm>
          <a:prstGeom prst="rect">
            <a:avLst/>
          </a:prstGeom>
          <a:solidFill>
            <a:srgbClr val="2A9D8F"/>
          </a:solidFill>
          <a:ln/>
        </p:spPr>
      </p:sp>
      <p:sp>
        <p:nvSpPr>
          <p:cNvPr id="8" name="Text 6"/>
          <p:cNvSpPr/>
          <p:nvPr/>
        </p:nvSpPr>
        <p:spPr>
          <a:xfrm>
            <a:off x="411480" y="960120"/>
            <a:ext cx="2560320" cy="228600"/>
          </a:xfrm>
          <a:prstGeom prst="rect">
            <a:avLst/>
          </a:prstGeom>
          <a:noFill/>
          <a:ln/>
        </p:spPr>
        <p:txBody>
          <a:bodyPr wrap="square" rtlCol="0" anchor="ctr"/>
          <a:lstStyle/>
          <a:p>
            <a:pPr marL="0" indent="0">
              <a:buNone/>
            </a:pPr>
            <a:r>
              <a:rPr lang="en-US" sz="1100" b="1" dirty="0">
                <a:solidFill>
                  <a:srgbClr val="1B3A5C"/>
                </a:solidFill>
                <a:latin typeface="Georgia" pitchFamily="34" charset="0"/>
                <a:ea typeface="Georgia" pitchFamily="34" charset="-122"/>
                <a:cs typeface="Georgia" pitchFamily="34" charset="-120"/>
              </a:rPr>
              <a:t>5.2.5 Flexibility &amp; Scalability</a:t>
            </a:r>
            <a:endParaRPr lang="en-US" sz="1100" dirty="0"/>
          </a:p>
        </p:txBody>
      </p:sp>
      <p:sp>
        <p:nvSpPr>
          <p:cNvPr id="9" name="Text 7"/>
          <p:cNvSpPr/>
          <p:nvPr/>
        </p:nvSpPr>
        <p:spPr>
          <a:xfrm>
            <a:off x="411480" y="1280160"/>
            <a:ext cx="2560320" cy="1645920"/>
          </a:xfrm>
          <a:prstGeom prst="rect">
            <a:avLst/>
          </a:prstGeom>
          <a:noFill/>
          <a:ln/>
        </p:spPr>
        <p:txBody>
          <a:bodyPr wrap="square" rtlCol="0" anchor="ctr"/>
          <a:lstStyle/>
          <a:p>
            <a:pPr marL="342900" indent="-342900">
              <a:spcAft>
                <a:spcPts val="500"/>
              </a:spcAft>
              <a:buSzPct val="100000"/>
              <a:buChar char="•"/>
            </a:pPr>
            <a:r>
              <a:rPr lang="en-US" sz="900" dirty="0">
                <a:solidFill>
                  <a:srgbClr val="1E293B"/>
                </a:solidFill>
              </a:rPr>
              <a:t>New attributes → add Satellite only (no Hub/Link impact)</a:t>
            </a:r>
            <a:endParaRPr lang="en-US" sz="900" dirty="0"/>
          </a:p>
          <a:p>
            <a:pPr marL="342900" indent="-342900">
              <a:spcAft>
                <a:spcPts val="500"/>
              </a:spcAft>
              <a:buSzPct val="100000"/>
              <a:buChar char="•"/>
            </a:pPr>
            <a:r>
              <a:rPr lang="en-US" sz="900" dirty="0">
                <a:solidFill>
                  <a:srgbClr val="1E293B"/>
                </a:solidFill>
              </a:rPr>
              <a:t>New business rules → modify Silver layer only</a:t>
            </a:r>
            <a:endParaRPr lang="en-US" sz="900" dirty="0"/>
          </a:p>
          <a:p>
            <a:pPr marL="342900" indent="-342900">
              <a:spcAft>
                <a:spcPts val="500"/>
              </a:spcAft>
              <a:buSzPct val="100000"/>
              <a:buChar char="•"/>
            </a:pPr>
            <a:r>
              <a:rPr lang="en-US" sz="900" dirty="0">
                <a:solidFill>
                  <a:srgbClr val="1E293B"/>
                </a:solidFill>
              </a:rPr>
              <a:t>New reporting → add Gold dims/facts independently</a:t>
            </a:r>
            <a:endParaRPr lang="en-US" sz="900" dirty="0"/>
          </a:p>
          <a:p>
            <a:pPr marL="342900" indent="-342900">
              <a:spcAft>
                <a:spcPts val="500"/>
              </a:spcAft>
              <a:buSzPct val="100000"/>
              <a:buChar char="•"/>
            </a:pPr>
            <a:r>
              <a:rPr lang="en-US" sz="900" b="1" dirty="0">
                <a:solidFill>
                  <a:srgbClr val="2A9D8F"/>
                </a:solidFill>
              </a:rPr>
              <a:t>Verified: 23/23 objects UNCHANGED after adding SAT_Taxpayer_RiskLevel</a:t>
            </a:r>
            <a:endParaRPr lang="en-US" sz="900" dirty="0"/>
          </a:p>
        </p:txBody>
      </p:sp>
      <p:sp>
        <p:nvSpPr>
          <p:cNvPr id="10" name="Shape 8"/>
          <p:cNvSpPr/>
          <p:nvPr/>
        </p:nvSpPr>
        <p:spPr>
          <a:xfrm>
            <a:off x="411480" y="3931920"/>
            <a:ext cx="2560320" cy="548640"/>
          </a:xfrm>
          <a:prstGeom prst="rect">
            <a:avLst/>
          </a:prstGeom>
          <a:solidFill>
            <a:srgbClr val="E8F4F2"/>
          </a:solidFill>
          <a:ln/>
        </p:spPr>
      </p:sp>
      <p:sp>
        <p:nvSpPr>
          <p:cNvPr id="11" name="Text 9"/>
          <p:cNvSpPr/>
          <p:nvPr/>
        </p:nvSpPr>
        <p:spPr>
          <a:xfrm>
            <a:off x="502920" y="3931920"/>
            <a:ext cx="2377440" cy="548640"/>
          </a:xfrm>
          <a:prstGeom prst="rect">
            <a:avLst/>
          </a:prstGeom>
          <a:noFill/>
          <a:ln/>
        </p:spPr>
        <p:txBody>
          <a:bodyPr wrap="square" rtlCol="0" anchor="ctr"/>
          <a:lstStyle/>
          <a:p>
            <a:pPr marL="0" indent="0">
              <a:buNone/>
            </a:pPr>
            <a:r>
              <a:rPr lang="en-US" sz="850" b="1" dirty="0">
                <a:solidFill>
                  <a:srgbClr val="2A9D8F"/>
                </a:solidFill>
              </a:rPr>
              <a:t>✓ 10 risk records loaded, zero impact on existing structures</a:t>
            </a:r>
            <a:endParaRPr lang="en-US" sz="850" dirty="0"/>
          </a:p>
        </p:txBody>
      </p:sp>
      <p:sp>
        <p:nvSpPr>
          <p:cNvPr id="12" name="Shape 10"/>
          <p:cNvSpPr/>
          <p:nvPr/>
        </p:nvSpPr>
        <p:spPr>
          <a:xfrm>
            <a:off x="3291840" y="914400"/>
            <a:ext cx="2834640" cy="3749040"/>
          </a:xfrm>
          <a:prstGeom prst="rect">
            <a:avLst/>
          </a:prstGeom>
          <a:solidFill>
            <a:srgbClr val="FFFFFF"/>
          </a:solidFill>
          <a:ln/>
          <a:effectLst>
            <a:outerShdw blurRad="50800" dist="25400" dir="8100000" algn="bl" rotWithShape="0">
              <a:srgbClr val="000000">
                <a:alpha val="10000"/>
              </a:srgbClr>
            </a:outerShdw>
          </a:effectLst>
        </p:spPr>
      </p:sp>
      <p:sp>
        <p:nvSpPr>
          <p:cNvPr id="13" name="Shape 11"/>
          <p:cNvSpPr/>
          <p:nvPr/>
        </p:nvSpPr>
        <p:spPr>
          <a:xfrm>
            <a:off x="3291840" y="914400"/>
            <a:ext cx="54864" cy="3749040"/>
          </a:xfrm>
          <a:prstGeom prst="rect">
            <a:avLst/>
          </a:prstGeom>
          <a:solidFill>
            <a:srgbClr val="D4A843"/>
          </a:solidFill>
          <a:ln/>
        </p:spPr>
      </p:sp>
      <p:sp>
        <p:nvSpPr>
          <p:cNvPr id="14" name="Text 12"/>
          <p:cNvSpPr/>
          <p:nvPr/>
        </p:nvSpPr>
        <p:spPr>
          <a:xfrm>
            <a:off x="3429000" y="960120"/>
            <a:ext cx="2560320" cy="228600"/>
          </a:xfrm>
          <a:prstGeom prst="rect">
            <a:avLst/>
          </a:prstGeom>
          <a:noFill/>
          <a:ln/>
        </p:spPr>
        <p:txBody>
          <a:bodyPr wrap="square" rtlCol="0" anchor="ctr"/>
          <a:lstStyle/>
          <a:p>
            <a:pPr marL="0" indent="0">
              <a:buNone/>
            </a:pPr>
            <a:r>
              <a:rPr lang="en-US" sz="1100" b="1" dirty="0">
                <a:solidFill>
                  <a:srgbClr val="1B3A5C"/>
                </a:solidFill>
                <a:latin typeface="Georgia" pitchFamily="34" charset="0"/>
                <a:ea typeface="Georgia" pitchFamily="34" charset="-122"/>
                <a:cs typeface="Georgia" pitchFamily="34" charset="-120"/>
              </a:rPr>
              <a:t>5.2.6 Materialized Views</a:t>
            </a:r>
            <a:endParaRPr lang="en-US" sz="1100" dirty="0"/>
          </a:p>
        </p:txBody>
      </p:sp>
      <p:sp>
        <p:nvSpPr>
          <p:cNvPr id="15" name="Text 13"/>
          <p:cNvSpPr/>
          <p:nvPr/>
        </p:nvSpPr>
        <p:spPr>
          <a:xfrm>
            <a:off x="3429000" y="1280160"/>
            <a:ext cx="2560320" cy="1645920"/>
          </a:xfrm>
          <a:prstGeom prst="rect">
            <a:avLst/>
          </a:prstGeom>
          <a:noFill/>
          <a:ln/>
        </p:spPr>
        <p:txBody>
          <a:bodyPr wrap="square" rtlCol="0" anchor="ctr"/>
          <a:lstStyle/>
          <a:p>
            <a:pPr marL="342900" indent="-342900">
              <a:spcAft>
                <a:spcPts val="500"/>
              </a:spcAft>
              <a:buSzPct val="100000"/>
              <a:buChar char="•"/>
            </a:pPr>
            <a:r>
              <a:rPr lang="en-US" sz="900" dirty="0">
                <a:solidFill>
                  <a:srgbClr val="1E293B"/>
                </a:solidFill>
              </a:rPr>
              <a:t>vw_GoldMonthlyRevenue implemented:</a:t>
            </a:r>
            <a:endParaRPr lang="en-US" sz="900" dirty="0"/>
          </a:p>
          <a:p>
            <a:pPr marL="342900" indent="-342900">
              <a:spcAft>
                <a:spcPts val="500"/>
              </a:spcAft>
              <a:buSzPct val="100000"/>
              <a:buChar char="•"/>
            </a:pPr>
            <a:r>
              <a:rPr lang="en-US" sz="900" dirty="0">
                <a:solidFill>
                  <a:srgbClr val="1E293B"/>
                </a:solidFill>
              </a:rPr>
              <a:t>• Baseline: 73ms elapsed (62ms CPU)</a:t>
            </a:r>
            <a:endParaRPr lang="en-US" sz="900" dirty="0"/>
          </a:p>
          <a:p>
            <a:pPr marL="342900" indent="-342900">
              <a:spcAft>
                <a:spcPts val="500"/>
              </a:spcAft>
              <a:buSzPct val="100000"/>
              <a:buChar char="•"/>
            </a:pPr>
            <a:r>
              <a:rPr lang="en-US" sz="900" dirty="0">
                <a:solidFill>
                  <a:srgbClr val="1E293B"/>
                </a:solidFill>
              </a:rPr>
              <a:t>• NOEXPAND: 34ms elapsed — 2.1× faster</a:t>
            </a:r>
            <a:endParaRPr lang="en-US" sz="900" dirty="0"/>
          </a:p>
          <a:p>
            <a:pPr marL="342900" indent="-342900">
              <a:spcAft>
                <a:spcPts val="500"/>
              </a:spcAft>
              <a:buSzPct val="100000"/>
              <a:buChar char="•"/>
            </a:pPr>
            <a:r>
              <a:rPr lang="en-US" sz="900" dirty="0">
                <a:solidFill>
                  <a:srgbClr val="1E293B"/>
                </a:solidFill>
              </a:rPr>
              <a:t>• SCHEMABINDING + unique clustered index</a:t>
            </a:r>
            <a:endParaRPr lang="en-US" sz="900" dirty="0"/>
          </a:p>
          <a:p>
            <a:pPr marL="342900" indent="-342900">
              <a:spcAft>
                <a:spcPts val="500"/>
              </a:spcAft>
              <a:buSzPct val="100000"/>
              <a:buChar char="•"/>
            </a:pPr>
            <a:r>
              <a:rPr lang="en-US" sz="900" b="1" dirty="0">
                <a:solidFill>
                  <a:srgbClr val="2A9D8F"/>
                </a:solidFill>
              </a:rPr>
              <a:t>Hybrid: indexed views + SPs for cross-DB</a:t>
            </a:r>
            <a:endParaRPr lang="en-US" sz="900" dirty="0"/>
          </a:p>
        </p:txBody>
      </p:sp>
      <p:sp>
        <p:nvSpPr>
          <p:cNvPr id="16" name="Shape 14"/>
          <p:cNvSpPr/>
          <p:nvPr/>
        </p:nvSpPr>
        <p:spPr>
          <a:xfrm>
            <a:off x="3429000" y="3931920"/>
            <a:ext cx="2560320" cy="548640"/>
          </a:xfrm>
          <a:prstGeom prst="rect">
            <a:avLst/>
          </a:prstGeom>
          <a:solidFill>
            <a:srgbClr val="E8F4F2"/>
          </a:solidFill>
          <a:ln/>
        </p:spPr>
      </p:sp>
      <p:sp>
        <p:nvSpPr>
          <p:cNvPr id="17" name="Text 15"/>
          <p:cNvSpPr/>
          <p:nvPr/>
        </p:nvSpPr>
        <p:spPr>
          <a:xfrm>
            <a:off x="3520440" y="3931920"/>
            <a:ext cx="2377440" cy="548640"/>
          </a:xfrm>
          <a:prstGeom prst="rect">
            <a:avLst/>
          </a:prstGeom>
          <a:noFill/>
          <a:ln/>
        </p:spPr>
        <p:txBody>
          <a:bodyPr wrap="square" rtlCol="0" anchor="ctr"/>
          <a:lstStyle/>
          <a:p>
            <a:pPr marL="0" indent="0">
              <a:buNone/>
            </a:pPr>
            <a:r>
              <a:rPr lang="en-US" sz="850" b="1" dirty="0">
                <a:solidFill>
                  <a:srgbClr val="2A9D8F"/>
                </a:solidFill>
              </a:rPr>
              <a:t>✓ Verified 2.1× speedup (73ms→34ms); production: 4×–6× projected</a:t>
            </a:r>
            <a:endParaRPr lang="en-US" sz="850" dirty="0"/>
          </a:p>
        </p:txBody>
      </p:sp>
      <p:sp>
        <p:nvSpPr>
          <p:cNvPr id="18" name="Shape 16"/>
          <p:cNvSpPr/>
          <p:nvPr/>
        </p:nvSpPr>
        <p:spPr>
          <a:xfrm>
            <a:off x="6309360" y="914400"/>
            <a:ext cx="2834640" cy="3749040"/>
          </a:xfrm>
          <a:prstGeom prst="rect">
            <a:avLst/>
          </a:prstGeom>
          <a:solidFill>
            <a:srgbClr val="FFFFFF"/>
          </a:solidFill>
          <a:ln/>
          <a:effectLst>
            <a:outerShdw blurRad="50800" dist="25400" dir="8100000" algn="bl" rotWithShape="0">
              <a:srgbClr val="000000">
                <a:alpha val="10000"/>
              </a:srgbClr>
            </a:outerShdw>
          </a:effectLst>
        </p:spPr>
      </p:sp>
      <p:sp>
        <p:nvSpPr>
          <p:cNvPr id="19" name="Shape 17"/>
          <p:cNvSpPr/>
          <p:nvPr/>
        </p:nvSpPr>
        <p:spPr>
          <a:xfrm>
            <a:off x="6309360" y="914400"/>
            <a:ext cx="54864" cy="3749040"/>
          </a:xfrm>
          <a:prstGeom prst="rect">
            <a:avLst/>
          </a:prstGeom>
          <a:solidFill>
            <a:srgbClr val="1B3A5C"/>
          </a:solidFill>
          <a:ln/>
        </p:spPr>
      </p:sp>
      <p:sp>
        <p:nvSpPr>
          <p:cNvPr id="20" name="Text 18"/>
          <p:cNvSpPr/>
          <p:nvPr/>
        </p:nvSpPr>
        <p:spPr>
          <a:xfrm>
            <a:off x="6446520" y="960120"/>
            <a:ext cx="2560320" cy="228600"/>
          </a:xfrm>
          <a:prstGeom prst="rect">
            <a:avLst/>
          </a:prstGeom>
          <a:noFill/>
          <a:ln/>
        </p:spPr>
        <p:txBody>
          <a:bodyPr wrap="square" rtlCol="0" anchor="ctr"/>
          <a:lstStyle/>
          <a:p>
            <a:pPr marL="0" indent="0">
              <a:buNone/>
            </a:pPr>
            <a:r>
              <a:rPr lang="en-US" sz="1100" b="1" dirty="0">
                <a:solidFill>
                  <a:srgbClr val="1B3A5C"/>
                </a:solidFill>
                <a:latin typeface="Georgia" pitchFamily="34" charset="0"/>
                <a:ea typeface="Georgia" pitchFamily="34" charset="-122"/>
                <a:cs typeface="Georgia" pitchFamily="34" charset="-120"/>
              </a:rPr>
              <a:t>5.2.7 Early Arriving Facts</a:t>
            </a:r>
            <a:endParaRPr lang="en-US" sz="1100" dirty="0"/>
          </a:p>
        </p:txBody>
      </p:sp>
      <p:sp>
        <p:nvSpPr>
          <p:cNvPr id="21" name="Text 19"/>
          <p:cNvSpPr/>
          <p:nvPr/>
        </p:nvSpPr>
        <p:spPr>
          <a:xfrm>
            <a:off x="6446520" y="1280160"/>
            <a:ext cx="2560320" cy="1645920"/>
          </a:xfrm>
          <a:prstGeom prst="rect">
            <a:avLst/>
          </a:prstGeom>
          <a:noFill/>
          <a:ln/>
        </p:spPr>
        <p:txBody>
          <a:bodyPr wrap="square" rtlCol="0" anchor="ctr"/>
          <a:lstStyle/>
          <a:p>
            <a:pPr marL="342900" indent="-342900">
              <a:spcAft>
                <a:spcPts val="500"/>
              </a:spcAft>
              <a:buSzPct val="100000"/>
              <a:buChar char="•"/>
            </a:pPr>
            <a:r>
              <a:rPr lang="en-US" sz="900" dirty="0">
                <a:solidFill>
                  <a:srgbClr val="1E293B"/>
                </a:solidFill>
              </a:rPr>
              <a:t>Verified with TAX-2026-EARLY test case:</a:t>
            </a:r>
            <a:endParaRPr lang="en-US" sz="900" dirty="0"/>
          </a:p>
          <a:p>
            <a:pPr marL="342900" indent="-342900">
              <a:spcAft>
                <a:spcPts val="500"/>
              </a:spcAft>
              <a:buSzPct val="100000"/>
              <a:buChar char="•"/>
            </a:pPr>
            <a:r>
              <a:rPr lang="en-US" sz="900" dirty="0">
                <a:solidFill>
                  <a:srgbClr val="1E293B"/>
                </a:solidFill>
              </a:rPr>
              <a:t>1. Hub created 06:40:14 (business key only)</a:t>
            </a:r>
            <a:endParaRPr lang="en-US" sz="900" dirty="0"/>
          </a:p>
          <a:p>
            <a:pPr marL="342900" indent="-342900">
              <a:spcAft>
                <a:spcPts val="500"/>
              </a:spcAft>
              <a:buSzPct val="100000"/>
              <a:buChar char="•"/>
            </a:pPr>
            <a:r>
              <a:rPr lang="en-US" sz="900" dirty="0">
                <a:solidFill>
                  <a:srgbClr val="1E293B"/>
                </a:solidFill>
              </a:rPr>
              <a:t>2. Link loaded 06:40:15 (no SAT needed)</a:t>
            </a:r>
            <a:endParaRPr lang="en-US" sz="900" dirty="0"/>
          </a:p>
          <a:p>
            <a:pPr marL="342900" indent="-342900">
              <a:spcAft>
                <a:spcPts val="500"/>
              </a:spcAft>
              <a:buSzPct val="100000"/>
              <a:buChar char="•"/>
            </a:pPr>
            <a:r>
              <a:rPr lang="en-US" sz="900" dirty="0">
                <a:solidFill>
                  <a:srgbClr val="1E293B"/>
                </a:solidFill>
              </a:rPr>
              <a:t>3. SAT arrived 06:44:37 (263s later, INSERT only)</a:t>
            </a:r>
            <a:endParaRPr lang="en-US" sz="900" dirty="0"/>
          </a:p>
          <a:p>
            <a:pPr marL="342900" indent="-342900">
              <a:spcAft>
                <a:spcPts val="500"/>
              </a:spcAft>
              <a:buSzPct val="100000"/>
              <a:buChar char="•"/>
            </a:pPr>
            <a:r>
              <a:rPr lang="en-US" sz="900" b="1" dirty="0">
                <a:solidFill>
                  <a:srgbClr val="2A9D8F"/>
                </a:solidFill>
              </a:rPr>
              <a:t>Zero placeholders, zero UPDATEs, zero reconciliation</a:t>
            </a:r>
            <a:endParaRPr lang="en-US" sz="900" dirty="0"/>
          </a:p>
        </p:txBody>
      </p:sp>
      <p:sp>
        <p:nvSpPr>
          <p:cNvPr id="22" name="Shape 20"/>
          <p:cNvSpPr/>
          <p:nvPr/>
        </p:nvSpPr>
        <p:spPr>
          <a:xfrm>
            <a:off x="6446520" y="3931920"/>
            <a:ext cx="2560320" cy="548640"/>
          </a:xfrm>
          <a:prstGeom prst="rect">
            <a:avLst/>
          </a:prstGeom>
          <a:solidFill>
            <a:srgbClr val="E8F4F2"/>
          </a:solidFill>
          <a:ln/>
        </p:spPr>
      </p:sp>
      <p:sp>
        <p:nvSpPr>
          <p:cNvPr id="23" name="Text 21"/>
          <p:cNvSpPr/>
          <p:nvPr/>
        </p:nvSpPr>
        <p:spPr>
          <a:xfrm>
            <a:off x="6537960" y="3931920"/>
            <a:ext cx="2377440" cy="548640"/>
          </a:xfrm>
          <a:prstGeom prst="rect">
            <a:avLst/>
          </a:prstGeom>
          <a:noFill/>
          <a:ln/>
        </p:spPr>
        <p:txBody>
          <a:bodyPr wrap="square" rtlCol="0" anchor="ctr"/>
          <a:lstStyle/>
          <a:p>
            <a:pPr marL="0" indent="0">
              <a:buNone/>
            </a:pPr>
            <a:r>
              <a:rPr lang="en-US" sz="850" b="1" dirty="0">
                <a:solidFill>
                  <a:srgbClr val="2A9D8F"/>
                </a:solidFill>
              </a:rPr>
              <a:t>✓ 4-step timeline proves Hub/SAT separation handles it naturally</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15 / 18</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Threats to Validity</a:t>
            </a:r>
            <a:endParaRPr lang="en-US" sz="2200" dirty="0"/>
          </a:p>
        </p:txBody>
      </p:sp>
      <p:sp>
        <p:nvSpPr>
          <p:cNvPr id="5" name="Shape 3"/>
          <p:cNvSpPr/>
          <p:nvPr/>
        </p:nvSpPr>
        <p:spPr>
          <a:xfrm>
            <a:off x="457200" y="731520"/>
            <a:ext cx="1097280" cy="36576"/>
          </a:xfrm>
          <a:prstGeom prst="rect">
            <a:avLst/>
          </a:prstGeom>
          <a:solidFill>
            <a:srgbClr val="2A9D8F"/>
          </a:solidFill>
          <a:ln/>
        </p:spPr>
      </p:sp>
      <p:sp>
        <p:nvSpPr>
          <p:cNvPr id="6" name="Shape 4"/>
          <p:cNvSpPr/>
          <p:nvPr/>
        </p:nvSpPr>
        <p:spPr>
          <a:xfrm>
            <a:off x="457200" y="1005840"/>
            <a:ext cx="8229600" cy="1051560"/>
          </a:xfrm>
          <a:prstGeom prst="rect">
            <a:avLst/>
          </a:prstGeom>
          <a:solidFill>
            <a:srgbClr val="FFFFFF"/>
          </a:solidFill>
          <a:ln/>
          <a:effectLst>
            <a:outerShdw blurRad="50800" dist="25400" dir="8100000" algn="bl" rotWithShape="0">
              <a:srgbClr val="000000">
                <a:alpha val="10000"/>
              </a:srgbClr>
            </a:outerShdw>
          </a:effectLst>
        </p:spPr>
      </p:sp>
      <p:sp>
        <p:nvSpPr>
          <p:cNvPr id="7" name="Shape 5"/>
          <p:cNvSpPr/>
          <p:nvPr/>
        </p:nvSpPr>
        <p:spPr>
          <a:xfrm>
            <a:off x="457200" y="1005840"/>
            <a:ext cx="54864" cy="1051560"/>
          </a:xfrm>
          <a:prstGeom prst="rect">
            <a:avLst/>
          </a:prstGeom>
          <a:solidFill>
            <a:srgbClr val="2A9D8F"/>
          </a:solidFill>
          <a:ln/>
        </p:spPr>
      </p:sp>
      <p:sp>
        <p:nvSpPr>
          <p:cNvPr id="8" name="Text 6"/>
          <p:cNvSpPr/>
          <p:nvPr/>
        </p:nvSpPr>
        <p:spPr>
          <a:xfrm>
            <a:off x="685800" y="1051560"/>
            <a:ext cx="1828800" cy="274320"/>
          </a:xfrm>
          <a:prstGeom prst="rect">
            <a:avLst/>
          </a:prstGeom>
          <a:noFill/>
          <a:ln/>
        </p:spPr>
        <p:txBody>
          <a:bodyPr wrap="square"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Internal Validity</a:t>
            </a:r>
            <a:endParaRPr lang="en-US" sz="1300" dirty="0"/>
          </a:p>
        </p:txBody>
      </p:sp>
      <p:sp>
        <p:nvSpPr>
          <p:cNvPr id="9" name="Text 7"/>
          <p:cNvSpPr/>
          <p:nvPr/>
        </p:nvSpPr>
        <p:spPr>
          <a:xfrm>
            <a:off x="685800" y="1325880"/>
            <a:ext cx="7772400" cy="640080"/>
          </a:xfrm>
          <a:prstGeom prst="rect">
            <a:avLst/>
          </a:prstGeom>
          <a:noFill/>
          <a:ln/>
        </p:spPr>
        <p:txBody>
          <a:bodyPr wrap="square" rtlCol="0" anchor="t"/>
          <a:lstStyle/>
          <a:p>
            <a:pPr marL="0" indent="0">
              <a:buNone/>
            </a:pPr>
            <a:r>
              <a:rPr lang="en-US" sz="1050" dirty="0">
                <a:solidFill>
                  <a:srgbClr val="1E293B"/>
                </a:solidFill>
              </a:rPr>
              <a:t>Single dev environment; hardware/config variations could affect absolute timing. Mitigated by running all comparisons under identical conditions on the same hardware.</a:t>
            </a:r>
            <a:endParaRPr lang="en-US" sz="1050" dirty="0"/>
          </a:p>
        </p:txBody>
      </p:sp>
      <p:sp>
        <p:nvSpPr>
          <p:cNvPr id="10" name="Shape 8"/>
          <p:cNvSpPr/>
          <p:nvPr/>
        </p:nvSpPr>
        <p:spPr>
          <a:xfrm>
            <a:off x="457200" y="2240280"/>
            <a:ext cx="8229600" cy="1051560"/>
          </a:xfrm>
          <a:prstGeom prst="rect">
            <a:avLst/>
          </a:prstGeom>
          <a:solidFill>
            <a:srgbClr val="FFFFFF"/>
          </a:solidFill>
          <a:ln/>
          <a:effectLst>
            <a:outerShdw blurRad="50800" dist="25400" dir="8100000" algn="bl" rotWithShape="0">
              <a:srgbClr val="000000">
                <a:alpha val="10000"/>
              </a:srgbClr>
            </a:outerShdw>
          </a:effectLst>
        </p:spPr>
      </p:sp>
      <p:sp>
        <p:nvSpPr>
          <p:cNvPr id="11" name="Shape 9"/>
          <p:cNvSpPr/>
          <p:nvPr/>
        </p:nvSpPr>
        <p:spPr>
          <a:xfrm>
            <a:off x="457200" y="2240280"/>
            <a:ext cx="54864" cy="1051560"/>
          </a:xfrm>
          <a:prstGeom prst="rect">
            <a:avLst/>
          </a:prstGeom>
          <a:solidFill>
            <a:srgbClr val="1B3A5C"/>
          </a:solidFill>
          <a:ln/>
        </p:spPr>
      </p:sp>
      <p:sp>
        <p:nvSpPr>
          <p:cNvPr id="12" name="Text 10"/>
          <p:cNvSpPr/>
          <p:nvPr/>
        </p:nvSpPr>
        <p:spPr>
          <a:xfrm>
            <a:off x="685800" y="2286000"/>
            <a:ext cx="1828800" cy="274320"/>
          </a:xfrm>
          <a:prstGeom prst="rect">
            <a:avLst/>
          </a:prstGeom>
          <a:noFill/>
          <a:ln/>
        </p:spPr>
        <p:txBody>
          <a:bodyPr wrap="square"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External Validity</a:t>
            </a:r>
            <a:endParaRPr lang="en-US" sz="1300" dirty="0"/>
          </a:p>
        </p:txBody>
      </p:sp>
      <p:sp>
        <p:nvSpPr>
          <p:cNvPr id="13" name="Text 11"/>
          <p:cNvSpPr/>
          <p:nvPr/>
        </p:nvSpPr>
        <p:spPr>
          <a:xfrm>
            <a:off x="685800" y="2560320"/>
            <a:ext cx="7772400" cy="640080"/>
          </a:xfrm>
          <a:prstGeom prst="rect">
            <a:avLst/>
          </a:prstGeom>
          <a:noFill/>
          <a:ln/>
        </p:spPr>
        <p:txBody>
          <a:bodyPr wrap="square" rtlCol="0" anchor="t"/>
          <a:lstStyle/>
          <a:p>
            <a:pPr marL="0" indent="0">
              <a:buNone/>
            </a:pPr>
            <a:r>
              <a:rPr lang="en-US" sz="1050" dirty="0">
                <a:solidFill>
                  <a:srgbClr val="1E293B"/>
                </a:solidFill>
              </a:rPr>
              <a:t>Simulated data verified in companion document (12-point checklist: 9 tables, 58,813 records, 0 orphans, 0 NULLs, realistic distributions). Real-world data introduces missing values and encoding issues not evaluated.</a:t>
            </a:r>
            <a:endParaRPr lang="en-US" sz="1050" dirty="0"/>
          </a:p>
        </p:txBody>
      </p:sp>
      <p:sp>
        <p:nvSpPr>
          <p:cNvPr id="14" name="Shape 12"/>
          <p:cNvSpPr/>
          <p:nvPr/>
        </p:nvSpPr>
        <p:spPr>
          <a:xfrm>
            <a:off x="457200" y="3474720"/>
            <a:ext cx="8229600" cy="1051560"/>
          </a:xfrm>
          <a:prstGeom prst="rect">
            <a:avLst/>
          </a:prstGeom>
          <a:solidFill>
            <a:srgbClr val="FFFFFF"/>
          </a:solidFill>
          <a:ln/>
          <a:effectLst>
            <a:outerShdw blurRad="50800" dist="25400" dir="8100000" algn="bl" rotWithShape="0">
              <a:srgbClr val="000000">
                <a:alpha val="10000"/>
              </a:srgbClr>
            </a:outerShdw>
          </a:effectLst>
        </p:spPr>
      </p:sp>
      <p:sp>
        <p:nvSpPr>
          <p:cNvPr id="15" name="Shape 13"/>
          <p:cNvSpPr/>
          <p:nvPr/>
        </p:nvSpPr>
        <p:spPr>
          <a:xfrm>
            <a:off x="457200" y="3474720"/>
            <a:ext cx="54864" cy="1051560"/>
          </a:xfrm>
          <a:prstGeom prst="rect">
            <a:avLst/>
          </a:prstGeom>
          <a:solidFill>
            <a:srgbClr val="D4A843"/>
          </a:solidFill>
          <a:ln/>
        </p:spPr>
      </p:sp>
      <p:sp>
        <p:nvSpPr>
          <p:cNvPr id="16" name="Text 14"/>
          <p:cNvSpPr/>
          <p:nvPr/>
        </p:nvSpPr>
        <p:spPr>
          <a:xfrm>
            <a:off x="685800" y="3520440"/>
            <a:ext cx="1828800" cy="274320"/>
          </a:xfrm>
          <a:prstGeom prst="rect">
            <a:avLst/>
          </a:prstGeom>
          <a:noFill/>
          <a:ln/>
        </p:spPr>
        <p:txBody>
          <a:bodyPr wrap="square"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Construct Validity</a:t>
            </a:r>
            <a:endParaRPr lang="en-US" sz="1300" dirty="0"/>
          </a:p>
        </p:txBody>
      </p:sp>
      <p:sp>
        <p:nvSpPr>
          <p:cNvPr id="17" name="Text 15"/>
          <p:cNvSpPr/>
          <p:nvPr/>
        </p:nvSpPr>
        <p:spPr>
          <a:xfrm>
            <a:off x="685800" y="3794760"/>
            <a:ext cx="7772400" cy="640080"/>
          </a:xfrm>
          <a:prstGeom prst="rect">
            <a:avLst/>
          </a:prstGeom>
          <a:noFill/>
          <a:ln/>
        </p:spPr>
        <p:txBody>
          <a:bodyPr wrap="square" rtlCol="0" anchor="t"/>
          <a:lstStyle/>
          <a:p>
            <a:pPr marL="0" indent="0">
              <a:buNone/>
            </a:pPr>
            <a:r>
              <a:rPr lang="en-US" sz="1050" dirty="0">
                <a:solidFill>
                  <a:srgbClr val="1E293B"/>
                </a:solidFill>
              </a:rPr>
              <a:t>Evaluation criteria selected from problem statement and prior studies [9][10][11]. Additional criteria such as data governance, real-time processing, and team skill requirements may also be relevant.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16 / 18</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Conclusion</a:t>
            </a:r>
            <a:endParaRPr lang="en-US" sz="2200" dirty="0"/>
          </a:p>
        </p:txBody>
      </p:sp>
      <p:sp>
        <p:nvSpPr>
          <p:cNvPr id="5" name="Shape 3"/>
          <p:cNvSpPr/>
          <p:nvPr/>
        </p:nvSpPr>
        <p:spPr>
          <a:xfrm>
            <a:off x="457200" y="731520"/>
            <a:ext cx="1097280" cy="36576"/>
          </a:xfrm>
          <a:prstGeom prst="rect">
            <a:avLst/>
          </a:prstGeom>
          <a:solidFill>
            <a:srgbClr val="2A9D8F"/>
          </a:solidFill>
          <a:ln/>
        </p:spPr>
      </p:sp>
      <p:sp>
        <p:nvSpPr>
          <p:cNvPr id="6" name="Text 4"/>
          <p:cNvSpPr/>
          <p:nvPr/>
        </p:nvSpPr>
        <p:spPr>
          <a:xfrm>
            <a:off x="457200" y="914400"/>
            <a:ext cx="8229600" cy="457200"/>
          </a:xfrm>
          <a:prstGeom prst="rect">
            <a:avLst/>
          </a:prstGeom>
          <a:noFill/>
          <a:ln/>
        </p:spPr>
        <p:txBody>
          <a:bodyPr wrap="square" rtlCol="0" anchor="ctr"/>
          <a:lstStyle/>
          <a:p>
            <a:pPr marL="0" indent="0">
              <a:buNone/>
            </a:pPr>
            <a:r>
              <a:rPr lang="en-US" sz="1100" i="1" dirty="0">
                <a:solidFill>
                  <a:srgbClr val="1E293B"/>
                </a:solidFill>
              </a:rPr>
              <a:t>This research successfully designed, implemented, and evaluated a complete Data Vault 2.0 data warehouse for the Cambodia tax system using medallion architecture on Microsoft SQL Server.</a:t>
            </a:r>
            <a:endParaRPr lang="en-US" sz="1100" dirty="0"/>
          </a:p>
        </p:txBody>
      </p:sp>
      <p:pic>
        <p:nvPicPr>
          <p:cNvPr id="7" name="Image 0" descr="preencoded.png"/>
          <p:cNvPicPr>
            <a:picLocks noChangeAspect="1"/>
          </p:cNvPicPr>
          <p:nvPr/>
        </p:nvPicPr>
        <p:blipFill>
          <a:blip r:embed="rId3"/>
          <a:stretch>
            <a:fillRect/>
          </a:stretch>
        </p:blipFill>
        <p:spPr>
          <a:xfrm>
            <a:off x="457200" y="1581912"/>
            <a:ext cx="201168" cy="201168"/>
          </a:xfrm>
          <a:prstGeom prst="rect">
            <a:avLst/>
          </a:prstGeom>
        </p:spPr>
      </p:pic>
      <p:sp>
        <p:nvSpPr>
          <p:cNvPr id="8" name="Text 5"/>
          <p:cNvSpPr/>
          <p:nvPr/>
        </p:nvSpPr>
        <p:spPr>
          <a:xfrm>
            <a:off x="777240" y="1508760"/>
            <a:ext cx="7955280" cy="457200"/>
          </a:xfrm>
          <a:prstGeom prst="rect">
            <a:avLst/>
          </a:prstGeom>
          <a:noFill/>
          <a:ln/>
        </p:spPr>
        <p:txBody>
          <a:bodyPr wrap="square" rtlCol="0" anchor="ctr"/>
          <a:lstStyle/>
          <a:p>
            <a:pPr marL="0" indent="0">
              <a:buNone/>
            </a:pPr>
            <a:r>
              <a:rPr lang="en-US" sz="1000" dirty="0">
                <a:solidFill>
                  <a:srgbClr val="1E293B"/>
                </a:solidFill>
              </a:rPr>
              <a:t>Complete 4-layer architecture: 65 objects, 15 stored procedures, 49 ETL steps across 5 databases</a:t>
            </a:r>
            <a:endParaRPr lang="en-US" sz="1000" dirty="0"/>
          </a:p>
        </p:txBody>
      </p:sp>
      <p:pic>
        <p:nvPicPr>
          <p:cNvPr id="9" name="Image 1" descr="preencoded.png"/>
          <p:cNvPicPr>
            <a:picLocks noChangeAspect="1"/>
          </p:cNvPicPr>
          <p:nvPr/>
        </p:nvPicPr>
        <p:blipFill>
          <a:blip r:embed="rId3"/>
          <a:stretch>
            <a:fillRect/>
          </a:stretch>
        </p:blipFill>
        <p:spPr>
          <a:xfrm>
            <a:off x="457200" y="2103120"/>
            <a:ext cx="201168" cy="201168"/>
          </a:xfrm>
          <a:prstGeom prst="rect">
            <a:avLst/>
          </a:prstGeom>
        </p:spPr>
      </p:pic>
      <p:sp>
        <p:nvSpPr>
          <p:cNvPr id="10" name="Text 6"/>
          <p:cNvSpPr/>
          <p:nvPr/>
        </p:nvSpPr>
        <p:spPr>
          <a:xfrm>
            <a:off x="777240" y="2029968"/>
            <a:ext cx="7955280" cy="457200"/>
          </a:xfrm>
          <a:prstGeom prst="rect">
            <a:avLst/>
          </a:prstGeom>
          <a:noFill/>
          <a:ln/>
        </p:spPr>
        <p:txBody>
          <a:bodyPr wrap="square" rtlCol="0" anchor="ctr"/>
          <a:lstStyle/>
          <a:p>
            <a:pPr marL="0" indent="0">
              <a:buNone/>
            </a:pPr>
            <a:r>
              <a:rPr lang="en-US" sz="1000" dirty="0">
                <a:solidFill>
                  <a:srgbClr val="1E293B"/>
                </a:solidFill>
              </a:rPr>
              <a:t>ETL pipeline: 120.9s full load / 93.6s incremental for 336,677 records with per-step error isolation</a:t>
            </a:r>
            <a:endParaRPr lang="en-US" sz="1000" dirty="0"/>
          </a:p>
        </p:txBody>
      </p:sp>
      <p:pic>
        <p:nvPicPr>
          <p:cNvPr id="11" name="Image 2" descr="preencoded.png"/>
          <p:cNvPicPr>
            <a:picLocks noChangeAspect="1"/>
          </p:cNvPicPr>
          <p:nvPr/>
        </p:nvPicPr>
        <p:blipFill>
          <a:blip r:embed="rId3"/>
          <a:stretch>
            <a:fillRect/>
          </a:stretch>
        </p:blipFill>
        <p:spPr>
          <a:xfrm>
            <a:off x="457200" y="2624328"/>
            <a:ext cx="201168" cy="201168"/>
          </a:xfrm>
          <a:prstGeom prst="rect">
            <a:avLst/>
          </a:prstGeom>
        </p:spPr>
      </p:pic>
      <p:sp>
        <p:nvSpPr>
          <p:cNvPr id="12" name="Text 7"/>
          <p:cNvSpPr/>
          <p:nvPr/>
        </p:nvSpPr>
        <p:spPr>
          <a:xfrm>
            <a:off x="777240" y="2551176"/>
            <a:ext cx="7955280" cy="457200"/>
          </a:xfrm>
          <a:prstGeom prst="rect">
            <a:avLst/>
          </a:prstGeom>
          <a:noFill/>
          <a:ln/>
        </p:spPr>
        <p:txBody>
          <a:bodyPr wrap="square" rtlCol="0" anchor="ctr"/>
          <a:lstStyle/>
          <a:p>
            <a:pPr marL="0" indent="0">
              <a:buNone/>
            </a:pPr>
            <a:r>
              <a:rPr lang="en-US" sz="1000" dirty="0">
                <a:solidFill>
                  <a:srgbClr val="1E293B"/>
                </a:solidFill>
              </a:rPr>
              <a:t>Gold layer query performance: 24ms–771ms with 6.8x–1.03x speedup over Raw Vault queries</a:t>
            </a:r>
            <a:endParaRPr lang="en-US" sz="1000" dirty="0"/>
          </a:p>
        </p:txBody>
      </p:sp>
      <p:pic>
        <p:nvPicPr>
          <p:cNvPr id="13" name="Image 3" descr="preencoded.png"/>
          <p:cNvPicPr>
            <a:picLocks noChangeAspect="1"/>
          </p:cNvPicPr>
          <p:nvPr/>
        </p:nvPicPr>
        <p:blipFill>
          <a:blip r:embed="rId3"/>
          <a:stretch>
            <a:fillRect/>
          </a:stretch>
        </p:blipFill>
        <p:spPr>
          <a:xfrm>
            <a:off x="457200" y="3145536"/>
            <a:ext cx="201168" cy="201168"/>
          </a:xfrm>
          <a:prstGeom prst="rect">
            <a:avLst/>
          </a:prstGeom>
        </p:spPr>
      </p:pic>
      <p:sp>
        <p:nvSpPr>
          <p:cNvPr id="14" name="Text 8"/>
          <p:cNvSpPr/>
          <p:nvPr/>
        </p:nvSpPr>
        <p:spPr>
          <a:xfrm>
            <a:off x="777240" y="3072384"/>
            <a:ext cx="7955280" cy="457200"/>
          </a:xfrm>
          <a:prstGeom prst="rect">
            <a:avLst/>
          </a:prstGeom>
          <a:noFill/>
          <a:ln/>
        </p:spPr>
        <p:txBody>
          <a:bodyPr wrap="square" rtlCol="0" anchor="ctr"/>
          <a:lstStyle/>
          <a:p>
            <a:pPr marL="0" indent="0">
              <a:buNone/>
            </a:pPr>
            <a:r>
              <a:rPr lang="en-US" sz="1000" dirty="0">
                <a:solidFill>
                  <a:srgbClr val="1E293B"/>
                </a:solidFill>
              </a:rPr>
              <a:t>Near-linear scalability to 300K records (~2,200 rec/sec) with 4.7% overhead at 5K taxpayers</a:t>
            </a:r>
            <a:endParaRPr lang="en-US" sz="1000" dirty="0"/>
          </a:p>
        </p:txBody>
      </p:sp>
      <p:pic>
        <p:nvPicPr>
          <p:cNvPr id="15" name="Image 4" descr="preencoded.png"/>
          <p:cNvPicPr>
            <a:picLocks noChangeAspect="1"/>
          </p:cNvPicPr>
          <p:nvPr/>
        </p:nvPicPr>
        <p:blipFill>
          <a:blip r:embed="rId3"/>
          <a:stretch>
            <a:fillRect/>
          </a:stretch>
        </p:blipFill>
        <p:spPr>
          <a:xfrm>
            <a:off x="457200" y="3666744"/>
            <a:ext cx="201168" cy="201168"/>
          </a:xfrm>
          <a:prstGeom prst="rect">
            <a:avLst/>
          </a:prstGeom>
        </p:spPr>
      </p:pic>
      <p:sp>
        <p:nvSpPr>
          <p:cNvPr id="16" name="Text 9"/>
          <p:cNvSpPr/>
          <p:nvPr/>
        </p:nvSpPr>
        <p:spPr>
          <a:xfrm>
            <a:off x="777240" y="3593592"/>
            <a:ext cx="7955280" cy="457200"/>
          </a:xfrm>
          <a:prstGeom prst="rect">
            <a:avLst/>
          </a:prstGeom>
          <a:noFill/>
          <a:ln/>
        </p:spPr>
        <p:txBody>
          <a:bodyPr wrap="square" rtlCol="0" anchor="ctr"/>
          <a:lstStyle/>
          <a:p>
            <a:pPr marL="0" indent="0">
              <a:buNone/>
            </a:pPr>
            <a:r>
              <a:rPr lang="en-US" sz="1000" dirty="0">
                <a:solidFill>
                  <a:srgbClr val="1E293B"/>
                </a:solidFill>
              </a:rPr>
              <a:t>POC validation: All 4 challenges (schema rigidity, history, scalable ETL, business rules) addressed</a:t>
            </a:r>
            <a:endParaRPr lang="en-US" sz="1000" dirty="0"/>
          </a:p>
        </p:txBody>
      </p:sp>
      <p:pic>
        <p:nvPicPr>
          <p:cNvPr id="17" name="Image 5" descr="preencoded.png"/>
          <p:cNvPicPr>
            <a:picLocks noChangeAspect="1"/>
          </p:cNvPicPr>
          <p:nvPr/>
        </p:nvPicPr>
        <p:blipFill>
          <a:blip r:embed="rId3"/>
          <a:stretch>
            <a:fillRect/>
          </a:stretch>
        </p:blipFill>
        <p:spPr>
          <a:xfrm>
            <a:off x="457200" y="4187952"/>
            <a:ext cx="201168" cy="201168"/>
          </a:xfrm>
          <a:prstGeom prst="rect">
            <a:avLst/>
          </a:prstGeom>
        </p:spPr>
      </p:pic>
      <p:sp>
        <p:nvSpPr>
          <p:cNvPr id="18" name="Text 10"/>
          <p:cNvSpPr/>
          <p:nvPr/>
        </p:nvSpPr>
        <p:spPr>
          <a:xfrm>
            <a:off x="777240" y="4114800"/>
            <a:ext cx="7955280" cy="457200"/>
          </a:xfrm>
          <a:prstGeom prst="rect">
            <a:avLst/>
          </a:prstGeom>
          <a:noFill/>
          <a:ln/>
        </p:spPr>
        <p:txBody>
          <a:bodyPr wrap="square" rtlCol="0" anchor="ctr"/>
          <a:lstStyle/>
          <a:p>
            <a:pPr marL="0" indent="0">
              <a:buNone/>
            </a:pPr>
            <a:r>
              <a:rPr lang="en-US" sz="1000" dirty="0">
                <a:solidFill>
                  <a:srgbClr val="1E293B"/>
                </a:solidFill>
              </a:rPr>
              <a:t>3 companion documents [32][33][34] provide full reproducibility with SQL scripts and SSMS screenshots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A9D8F"/>
          </a:solidFill>
          <a:ln/>
        </p:spPr>
      </p:sp>
      <p:sp>
        <p:nvSpPr>
          <p:cNvPr id="3" name="Text 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17 / 18</a:t>
            </a:r>
            <a:endParaRPr lang="en-US" sz="900" dirty="0"/>
          </a:p>
        </p:txBody>
      </p:sp>
      <p:sp>
        <p:nvSpPr>
          <p:cNvPr id="4" name="Text 2"/>
          <p:cNvSpPr/>
          <p:nvPr/>
        </p:nvSpPr>
        <p:spPr>
          <a:xfrm>
            <a:off x="457200" y="182880"/>
            <a:ext cx="8229600" cy="502920"/>
          </a:xfrm>
          <a:prstGeom prst="rect">
            <a:avLst/>
          </a:prstGeom>
          <a:noFill/>
          <a:ln/>
        </p:spPr>
        <p:txBody>
          <a:bodyPr wrap="square" rtlCol="0" anchor="ctr"/>
          <a:lstStyle/>
          <a:p>
            <a:pPr marL="0" indent="0">
              <a:buNone/>
            </a:pPr>
            <a:r>
              <a:rPr lang="en-US" sz="2200" b="1" dirty="0">
                <a:solidFill>
                  <a:srgbClr val="1B3A5C"/>
                </a:solidFill>
                <a:latin typeface="Georgia" pitchFamily="34" charset="0"/>
                <a:ea typeface="Georgia" pitchFamily="34" charset="-122"/>
                <a:cs typeface="Georgia" pitchFamily="34" charset="-120"/>
              </a:rPr>
              <a:t>Future Work &amp; Recommendations</a:t>
            </a:r>
            <a:endParaRPr lang="en-US" sz="2200" dirty="0"/>
          </a:p>
        </p:txBody>
      </p:sp>
      <p:sp>
        <p:nvSpPr>
          <p:cNvPr id="5" name="Shape 3"/>
          <p:cNvSpPr/>
          <p:nvPr/>
        </p:nvSpPr>
        <p:spPr>
          <a:xfrm>
            <a:off x="457200" y="731520"/>
            <a:ext cx="1097280" cy="36576"/>
          </a:xfrm>
          <a:prstGeom prst="rect">
            <a:avLst/>
          </a:prstGeom>
          <a:solidFill>
            <a:srgbClr val="2A9D8F"/>
          </a:solidFill>
          <a:ln/>
        </p:spPr>
      </p:sp>
      <p:sp>
        <p:nvSpPr>
          <p:cNvPr id="6" name="Shape 4"/>
          <p:cNvSpPr/>
          <p:nvPr/>
        </p:nvSpPr>
        <p:spPr>
          <a:xfrm>
            <a:off x="457200" y="1005840"/>
            <a:ext cx="8229600" cy="548640"/>
          </a:xfrm>
          <a:prstGeom prst="rect">
            <a:avLst/>
          </a:prstGeom>
          <a:solidFill>
            <a:srgbClr val="FFFFFF"/>
          </a:solidFill>
          <a:ln/>
          <a:effectLst>
            <a:outerShdw blurRad="50800" dist="25400" dir="8100000" algn="bl" rotWithShape="0">
              <a:srgbClr val="000000">
                <a:alpha val="10000"/>
              </a:srgbClr>
            </a:outerShdw>
          </a:effectLst>
        </p:spPr>
      </p:sp>
      <p:sp>
        <p:nvSpPr>
          <p:cNvPr id="7" name="Shape 5"/>
          <p:cNvSpPr/>
          <p:nvPr/>
        </p:nvSpPr>
        <p:spPr>
          <a:xfrm>
            <a:off x="457200" y="1005840"/>
            <a:ext cx="54864" cy="548640"/>
          </a:xfrm>
          <a:prstGeom prst="rect">
            <a:avLst/>
          </a:prstGeom>
          <a:solidFill>
            <a:srgbClr val="2A9D8F"/>
          </a:solidFill>
          <a:ln/>
        </p:spPr>
      </p:sp>
      <p:sp>
        <p:nvSpPr>
          <p:cNvPr id="8" name="Text 6"/>
          <p:cNvSpPr/>
          <p:nvPr/>
        </p:nvSpPr>
        <p:spPr>
          <a:xfrm>
            <a:off x="685800" y="1005840"/>
            <a:ext cx="7772400" cy="548640"/>
          </a:xfrm>
          <a:prstGeom prst="rect">
            <a:avLst/>
          </a:prstGeom>
          <a:noFill/>
          <a:ln/>
        </p:spPr>
        <p:txBody>
          <a:bodyPr wrap="square" rtlCol="0" anchor="ctr"/>
          <a:lstStyle/>
          <a:p>
            <a:pPr marL="0" indent="0">
              <a:buNone/>
            </a:pPr>
            <a:r>
              <a:rPr lang="en-US" sz="1050" dirty="0">
                <a:solidFill>
                  <a:srgbClr val="1E293B"/>
                </a:solidFill>
              </a:rPr>
              <a:t>1. Real-time processing with CDC (Change Data Capture) for critical compliance monitoring tables</a:t>
            </a:r>
            <a:endParaRPr lang="en-US" sz="1050" dirty="0"/>
          </a:p>
        </p:txBody>
      </p:sp>
      <p:sp>
        <p:nvSpPr>
          <p:cNvPr id="9" name="Shape 7"/>
          <p:cNvSpPr/>
          <p:nvPr/>
        </p:nvSpPr>
        <p:spPr>
          <a:xfrm>
            <a:off x="457200" y="1645920"/>
            <a:ext cx="8229600" cy="548640"/>
          </a:xfrm>
          <a:prstGeom prst="rect">
            <a:avLst/>
          </a:prstGeom>
          <a:solidFill>
            <a:srgbClr val="E8F4F2"/>
          </a:solidFill>
          <a:ln/>
          <a:effectLst>
            <a:outerShdw blurRad="50800" dist="25400" dir="8100000" algn="bl" rotWithShape="0">
              <a:srgbClr val="000000">
                <a:alpha val="10000"/>
              </a:srgbClr>
            </a:outerShdw>
          </a:effectLst>
        </p:spPr>
      </p:sp>
      <p:sp>
        <p:nvSpPr>
          <p:cNvPr id="10" name="Shape 8"/>
          <p:cNvSpPr/>
          <p:nvPr/>
        </p:nvSpPr>
        <p:spPr>
          <a:xfrm>
            <a:off x="457200" y="1645920"/>
            <a:ext cx="54864" cy="548640"/>
          </a:xfrm>
          <a:prstGeom prst="rect">
            <a:avLst/>
          </a:prstGeom>
          <a:solidFill>
            <a:srgbClr val="2A9D8F"/>
          </a:solidFill>
          <a:ln/>
        </p:spPr>
      </p:sp>
      <p:sp>
        <p:nvSpPr>
          <p:cNvPr id="11" name="Text 9"/>
          <p:cNvSpPr/>
          <p:nvPr/>
        </p:nvSpPr>
        <p:spPr>
          <a:xfrm>
            <a:off x="685800" y="1645920"/>
            <a:ext cx="7772400" cy="548640"/>
          </a:xfrm>
          <a:prstGeom prst="rect">
            <a:avLst/>
          </a:prstGeom>
          <a:noFill/>
          <a:ln/>
        </p:spPr>
        <p:txBody>
          <a:bodyPr wrap="square" rtlCol="0" anchor="ctr"/>
          <a:lstStyle/>
          <a:p>
            <a:pPr marL="0" indent="0">
              <a:buNone/>
            </a:pPr>
            <a:r>
              <a:rPr lang="en-US" sz="1050" dirty="0">
                <a:solidFill>
                  <a:srgbClr val="1E293B"/>
                </a:solidFill>
              </a:rPr>
              <a:t>2. Production deployment with real GDT data — data quality validation, security classification, access controls</a:t>
            </a:r>
            <a:endParaRPr lang="en-US" sz="1050" dirty="0"/>
          </a:p>
        </p:txBody>
      </p:sp>
      <p:sp>
        <p:nvSpPr>
          <p:cNvPr id="12" name="Shape 10"/>
          <p:cNvSpPr/>
          <p:nvPr/>
        </p:nvSpPr>
        <p:spPr>
          <a:xfrm>
            <a:off x="457200" y="2286000"/>
            <a:ext cx="8229600" cy="548640"/>
          </a:xfrm>
          <a:prstGeom prst="rect">
            <a:avLst/>
          </a:prstGeom>
          <a:solidFill>
            <a:srgbClr val="FFFFFF"/>
          </a:solidFill>
          <a:ln/>
          <a:effectLst>
            <a:outerShdw blurRad="50800" dist="25400" dir="8100000" algn="bl" rotWithShape="0">
              <a:srgbClr val="000000">
                <a:alpha val="10000"/>
              </a:srgbClr>
            </a:outerShdw>
          </a:effectLst>
        </p:spPr>
      </p:sp>
      <p:sp>
        <p:nvSpPr>
          <p:cNvPr id="13" name="Shape 11"/>
          <p:cNvSpPr/>
          <p:nvPr/>
        </p:nvSpPr>
        <p:spPr>
          <a:xfrm>
            <a:off x="457200" y="2286000"/>
            <a:ext cx="54864" cy="548640"/>
          </a:xfrm>
          <a:prstGeom prst="rect">
            <a:avLst/>
          </a:prstGeom>
          <a:solidFill>
            <a:srgbClr val="2A9D8F"/>
          </a:solidFill>
          <a:ln/>
        </p:spPr>
      </p:sp>
      <p:sp>
        <p:nvSpPr>
          <p:cNvPr id="14" name="Text 12"/>
          <p:cNvSpPr/>
          <p:nvPr/>
        </p:nvSpPr>
        <p:spPr>
          <a:xfrm>
            <a:off x="685800" y="2286000"/>
            <a:ext cx="7772400" cy="548640"/>
          </a:xfrm>
          <a:prstGeom prst="rect">
            <a:avLst/>
          </a:prstGeom>
          <a:noFill/>
          <a:ln/>
        </p:spPr>
        <p:txBody>
          <a:bodyPr wrap="square" rtlCol="0" anchor="ctr"/>
          <a:lstStyle/>
          <a:p>
            <a:pPr marL="0" indent="0">
              <a:buNone/>
            </a:pPr>
            <a:r>
              <a:rPr lang="en-US" sz="1050" dirty="0">
                <a:solidFill>
                  <a:srgbClr val="1E293B"/>
                </a:solidFill>
              </a:rPr>
              <a:t>3. Columnstore indexes and table partitioning for million-scale taxpayer volumes and production performance</a:t>
            </a:r>
            <a:endParaRPr lang="en-US" sz="1050" dirty="0"/>
          </a:p>
        </p:txBody>
      </p:sp>
      <p:sp>
        <p:nvSpPr>
          <p:cNvPr id="15" name="Shape 13"/>
          <p:cNvSpPr/>
          <p:nvPr/>
        </p:nvSpPr>
        <p:spPr>
          <a:xfrm>
            <a:off x="457200" y="2926080"/>
            <a:ext cx="8229600" cy="548640"/>
          </a:xfrm>
          <a:prstGeom prst="rect">
            <a:avLst/>
          </a:prstGeom>
          <a:solidFill>
            <a:srgbClr val="E8F4F2"/>
          </a:solidFill>
          <a:ln/>
          <a:effectLst>
            <a:outerShdw blurRad="50800" dist="25400" dir="8100000" algn="bl" rotWithShape="0">
              <a:srgbClr val="000000">
                <a:alpha val="10000"/>
              </a:srgbClr>
            </a:outerShdw>
          </a:effectLst>
        </p:spPr>
      </p:sp>
      <p:sp>
        <p:nvSpPr>
          <p:cNvPr id="16" name="Shape 14"/>
          <p:cNvSpPr/>
          <p:nvPr/>
        </p:nvSpPr>
        <p:spPr>
          <a:xfrm>
            <a:off x="457200" y="2926080"/>
            <a:ext cx="54864" cy="548640"/>
          </a:xfrm>
          <a:prstGeom prst="rect">
            <a:avLst/>
          </a:prstGeom>
          <a:solidFill>
            <a:srgbClr val="2A9D8F"/>
          </a:solidFill>
          <a:ln/>
        </p:spPr>
      </p:sp>
      <p:sp>
        <p:nvSpPr>
          <p:cNvPr id="17" name="Text 15"/>
          <p:cNvSpPr/>
          <p:nvPr/>
        </p:nvSpPr>
        <p:spPr>
          <a:xfrm>
            <a:off x="685800" y="2926080"/>
            <a:ext cx="7772400" cy="548640"/>
          </a:xfrm>
          <a:prstGeom prst="rect">
            <a:avLst/>
          </a:prstGeom>
          <a:noFill/>
          <a:ln/>
        </p:spPr>
        <p:txBody>
          <a:bodyPr wrap="square" rtlCol="0" anchor="ctr"/>
          <a:lstStyle/>
          <a:p>
            <a:pPr marL="0" indent="0">
              <a:buNone/>
            </a:pPr>
            <a:r>
              <a:rPr lang="en-US" sz="1050" dirty="0">
                <a:solidFill>
                  <a:srgbClr val="1E293B"/>
                </a:solidFill>
              </a:rPr>
              <a:t>4. BI dashboard integration (Power BI, Metabase) consuming Gold layer star schema for tax analytics</a:t>
            </a:r>
            <a:endParaRPr lang="en-US" sz="1050" dirty="0"/>
          </a:p>
        </p:txBody>
      </p:sp>
      <p:sp>
        <p:nvSpPr>
          <p:cNvPr id="18" name="Shape 16"/>
          <p:cNvSpPr/>
          <p:nvPr/>
        </p:nvSpPr>
        <p:spPr>
          <a:xfrm>
            <a:off x="457200" y="3566160"/>
            <a:ext cx="8229600" cy="548640"/>
          </a:xfrm>
          <a:prstGeom prst="rect">
            <a:avLst/>
          </a:prstGeom>
          <a:solidFill>
            <a:srgbClr val="FFFFFF"/>
          </a:solidFill>
          <a:ln/>
          <a:effectLst>
            <a:outerShdw blurRad="50800" dist="25400" dir="8100000" algn="bl" rotWithShape="0">
              <a:srgbClr val="000000">
                <a:alpha val="10000"/>
              </a:srgbClr>
            </a:outerShdw>
          </a:effectLst>
        </p:spPr>
      </p:sp>
      <p:sp>
        <p:nvSpPr>
          <p:cNvPr id="19" name="Shape 17"/>
          <p:cNvSpPr/>
          <p:nvPr/>
        </p:nvSpPr>
        <p:spPr>
          <a:xfrm>
            <a:off x="457200" y="3566160"/>
            <a:ext cx="54864" cy="548640"/>
          </a:xfrm>
          <a:prstGeom prst="rect">
            <a:avLst/>
          </a:prstGeom>
          <a:solidFill>
            <a:srgbClr val="2A9D8F"/>
          </a:solidFill>
          <a:ln/>
        </p:spPr>
      </p:sp>
      <p:sp>
        <p:nvSpPr>
          <p:cNvPr id="20" name="Text 18"/>
          <p:cNvSpPr/>
          <p:nvPr/>
        </p:nvSpPr>
        <p:spPr>
          <a:xfrm>
            <a:off x="685800" y="3566160"/>
            <a:ext cx="7772400" cy="548640"/>
          </a:xfrm>
          <a:prstGeom prst="rect">
            <a:avLst/>
          </a:prstGeom>
          <a:noFill/>
          <a:ln/>
        </p:spPr>
        <p:txBody>
          <a:bodyPr wrap="square" rtlCol="0" anchor="ctr"/>
          <a:lstStyle/>
          <a:p>
            <a:pPr marL="0" indent="0">
              <a:buNone/>
            </a:pPr>
            <a:r>
              <a:rPr lang="en-US" sz="1050" dirty="0">
                <a:solidFill>
                  <a:srgbClr val="1E293B"/>
                </a:solidFill>
              </a:rPr>
              <a:t>5. Multi-source integration: customs, banking, e-invoicing via Same-As Links &amp; Multi-Active Satellites</a:t>
            </a:r>
            <a:endParaRPr lang="en-US" sz="1050" dirty="0"/>
          </a:p>
        </p:txBody>
      </p:sp>
      <p:sp>
        <p:nvSpPr>
          <p:cNvPr id="21" name="Shape 19"/>
          <p:cNvSpPr/>
          <p:nvPr/>
        </p:nvSpPr>
        <p:spPr>
          <a:xfrm>
            <a:off x="457200" y="4206240"/>
            <a:ext cx="8229600" cy="548640"/>
          </a:xfrm>
          <a:prstGeom prst="rect">
            <a:avLst/>
          </a:prstGeom>
          <a:solidFill>
            <a:srgbClr val="E8F4F2"/>
          </a:solidFill>
          <a:ln/>
          <a:effectLst>
            <a:outerShdw blurRad="50800" dist="25400" dir="8100000" algn="bl" rotWithShape="0">
              <a:srgbClr val="000000">
                <a:alpha val="10000"/>
              </a:srgbClr>
            </a:outerShdw>
          </a:effectLst>
        </p:spPr>
      </p:sp>
      <p:sp>
        <p:nvSpPr>
          <p:cNvPr id="22" name="Shape 20"/>
          <p:cNvSpPr/>
          <p:nvPr/>
        </p:nvSpPr>
        <p:spPr>
          <a:xfrm>
            <a:off x="457200" y="4206240"/>
            <a:ext cx="54864" cy="548640"/>
          </a:xfrm>
          <a:prstGeom prst="rect">
            <a:avLst/>
          </a:prstGeom>
          <a:solidFill>
            <a:srgbClr val="2A9D8F"/>
          </a:solidFill>
          <a:ln/>
        </p:spPr>
      </p:sp>
      <p:sp>
        <p:nvSpPr>
          <p:cNvPr id="23" name="Text 21"/>
          <p:cNvSpPr/>
          <p:nvPr/>
        </p:nvSpPr>
        <p:spPr>
          <a:xfrm>
            <a:off x="685800" y="4206240"/>
            <a:ext cx="7772400" cy="548640"/>
          </a:xfrm>
          <a:prstGeom prst="rect">
            <a:avLst/>
          </a:prstGeom>
          <a:noFill/>
          <a:ln/>
        </p:spPr>
        <p:txBody>
          <a:bodyPr wrap="square" rtlCol="0" anchor="ctr"/>
          <a:lstStyle/>
          <a:p>
            <a:pPr marL="0" indent="0">
              <a:buNone/>
            </a:pPr>
            <a:r>
              <a:rPr lang="en-US" sz="1050" dirty="0">
                <a:solidFill>
                  <a:srgbClr val="1E293B"/>
                </a:solidFill>
              </a:rPr>
              <a:t>6. Cloud migration path: Azure Synapse / SQL Managed Instance for elastic scaling and managed infrastructure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2B4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A9D8F"/>
          </a:solidFill>
          <a:ln/>
        </p:spPr>
      </p:sp>
      <p:sp>
        <p:nvSpPr>
          <p:cNvPr id="3" name="Shape 1"/>
          <p:cNvSpPr/>
          <p:nvPr/>
        </p:nvSpPr>
        <p:spPr>
          <a:xfrm>
            <a:off x="0" y="5070348"/>
            <a:ext cx="9144000" cy="73152"/>
          </a:xfrm>
          <a:prstGeom prst="rect">
            <a:avLst/>
          </a:prstGeom>
          <a:solidFill>
            <a:srgbClr val="2A9D8F"/>
          </a:solidFill>
          <a:ln/>
        </p:spPr>
      </p:sp>
      <p:pic>
        <p:nvPicPr>
          <p:cNvPr id="4" name="Image 0" descr="preencoded.png"/>
          <p:cNvPicPr>
            <a:picLocks noChangeAspect="1"/>
          </p:cNvPicPr>
          <p:nvPr/>
        </p:nvPicPr>
        <p:blipFill>
          <a:blip r:embed="rId3"/>
          <a:stretch>
            <a:fillRect/>
          </a:stretch>
        </p:blipFill>
        <p:spPr>
          <a:xfrm>
            <a:off x="4114800" y="1097280"/>
            <a:ext cx="914400" cy="914400"/>
          </a:xfrm>
          <a:prstGeom prst="rect">
            <a:avLst/>
          </a:prstGeom>
        </p:spPr>
      </p:pic>
      <p:sp>
        <p:nvSpPr>
          <p:cNvPr id="5" name="Text 2"/>
          <p:cNvSpPr/>
          <p:nvPr/>
        </p:nvSpPr>
        <p:spPr>
          <a:xfrm>
            <a:off x="457200" y="2194560"/>
            <a:ext cx="8229600" cy="640080"/>
          </a:xfrm>
          <a:prstGeom prst="rect">
            <a:avLst/>
          </a:prstGeom>
          <a:noFill/>
          <a:ln/>
        </p:spPr>
        <p:txBody>
          <a:bodyPr wrap="square"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Thank You</a:t>
            </a:r>
            <a:endParaRPr lang="en-US" sz="3600" dirty="0"/>
          </a:p>
        </p:txBody>
      </p:sp>
      <p:sp>
        <p:nvSpPr>
          <p:cNvPr id="6" name="Shape 3"/>
          <p:cNvSpPr/>
          <p:nvPr/>
        </p:nvSpPr>
        <p:spPr>
          <a:xfrm>
            <a:off x="2743200" y="2926080"/>
            <a:ext cx="3657600" cy="27432"/>
          </a:xfrm>
          <a:prstGeom prst="rect">
            <a:avLst/>
          </a:prstGeom>
          <a:solidFill>
            <a:srgbClr val="2A9D8F"/>
          </a:solidFill>
          <a:ln/>
        </p:spPr>
      </p:sp>
      <p:sp>
        <p:nvSpPr>
          <p:cNvPr id="7" name="Text 4"/>
          <p:cNvSpPr/>
          <p:nvPr/>
        </p:nvSpPr>
        <p:spPr>
          <a:xfrm>
            <a:off x="457200" y="3108960"/>
            <a:ext cx="8229600" cy="365760"/>
          </a:xfrm>
          <a:prstGeom prst="rect">
            <a:avLst/>
          </a:prstGeom>
          <a:noFill/>
          <a:ln/>
        </p:spPr>
        <p:txBody>
          <a:bodyPr wrap="square" rtlCol="0" anchor="ctr"/>
          <a:lstStyle/>
          <a:p>
            <a:pPr marL="0" indent="0" algn="ctr">
              <a:buNone/>
            </a:pPr>
            <a:r>
              <a:rPr lang="en-US" sz="1600" dirty="0">
                <a:solidFill>
                  <a:srgbClr val="48BFA7"/>
                </a:solidFill>
              </a:rPr>
              <a:t>Questions &amp; Discussion</a:t>
            </a:r>
            <a:endParaRPr lang="en-US" sz="1600" dirty="0"/>
          </a:p>
        </p:txBody>
      </p:sp>
      <p:sp>
        <p:nvSpPr>
          <p:cNvPr id="8" name="Text 5"/>
          <p:cNvSpPr/>
          <p:nvPr/>
        </p:nvSpPr>
        <p:spPr>
          <a:xfrm>
            <a:off x="914400" y="3657600"/>
            <a:ext cx="7315200" cy="548640"/>
          </a:xfrm>
          <a:prstGeom prst="rect">
            <a:avLst/>
          </a:prstGeom>
          <a:noFill/>
          <a:ln/>
        </p:spPr>
        <p:txBody>
          <a:bodyPr wrap="square" rtlCol="0" anchor="ctr"/>
          <a:lstStyle/>
          <a:p>
            <a:pPr marL="0" indent="0" algn="ctr">
              <a:buNone/>
            </a:pPr>
            <a:r>
              <a:rPr lang="en-US" sz="1100" dirty="0">
                <a:solidFill>
                  <a:srgbClr val="64748B"/>
                </a:solidFill>
              </a:rPr>
              <a:t>Data Vault 2.0 Implementation for Cambodia Tax System Data Warehouse</a:t>
            </a:r>
            <a:endParaRPr lang="en-US" sz="1100" dirty="0"/>
          </a:p>
          <a:p>
            <a:pPr marL="0" indent="0" algn="ctr">
              <a:buNone/>
            </a:pPr>
            <a:r>
              <a:rPr lang="en-US" sz="1100" dirty="0">
                <a:solidFill>
                  <a:srgbClr val="64748B"/>
                </a:solidFill>
              </a:rPr>
              <a:t>Using Medallion Architecture</a:t>
            </a:r>
            <a:endParaRPr lang="en-US" sz="1100" dirty="0"/>
          </a:p>
        </p:txBody>
      </p:sp>
      <p:sp>
        <p:nvSpPr>
          <p:cNvPr id="9" name="Text 6"/>
          <p:cNvSpPr/>
          <p:nvPr/>
        </p:nvSpPr>
        <p:spPr>
          <a:xfrm>
            <a:off x="914400" y="4297680"/>
            <a:ext cx="7315200" cy="457200"/>
          </a:xfrm>
          <a:prstGeom prst="rect">
            <a:avLst/>
          </a:prstGeom>
          <a:noFill/>
          <a:ln/>
        </p:spPr>
        <p:txBody>
          <a:bodyPr wrap="square" rtlCol="0" anchor="ctr"/>
          <a:lstStyle/>
          <a:p>
            <a:pPr marL="0" indent="0" algn="ctr">
              <a:buNone/>
            </a:pPr>
            <a:r>
              <a:rPr lang="en-US" sz="1000" dirty="0">
                <a:solidFill>
                  <a:srgbClr val="64748B"/>
                </a:solidFill>
              </a:rPr>
              <a:t>Mr. Sot So  •  Supervisor: Mr. Chap Chanpiseth</a:t>
            </a:r>
            <a:endParaRPr lang="en-US" sz="1000" dirty="0"/>
          </a:p>
          <a:p>
            <a:pPr marL="0" indent="0" algn="ctr">
              <a:buNone/>
            </a:pPr>
            <a:r>
              <a:rPr lang="en-US" sz="1000" dirty="0">
                <a:solidFill>
                  <a:srgbClr val="64748B"/>
                </a:solidFill>
              </a:rPr>
              <a:t>Royal University of Phnom Penh  •  February 2026</a:t>
            </a:r>
            <a:endParaRPr lang="en-US" sz="1000" dirty="0"/>
          </a:p>
        </p:txBody>
      </p:sp>
      <p:sp>
        <p:nvSpPr>
          <p:cNvPr id="10" name="Text 7"/>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4244</Words>
  <Application>Microsoft Office PowerPoint</Application>
  <PresentationFormat>On-screen Show (16:9)</PresentationFormat>
  <Paragraphs>444</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Vault 2.0 Implementation for Cambodia Tax System Data Warehouse Using Medallion Architecture</dc:title>
  <dc:subject>PptxGenJS Presentation</dc:subject>
  <dc:creator>Mr. Sot So</dc:creator>
  <cp:lastModifiedBy>SOTSO</cp:lastModifiedBy>
  <cp:revision>1</cp:revision>
  <dcterms:created xsi:type="dcterms:W3CDTF">2026-02-24T07:35:53Z</dcterms:created>
  <dcterms:modified xsi:type="dcterms:W3CDTF">2026-02-24T07:53:39Z</dcterms:modified>
</cp:coreProperties>
</file>
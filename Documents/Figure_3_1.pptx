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 Sot" userId="88149d4b75946e7d" providerId="LiveId" clId="{8D451779-0052-434E-964A-31F21286BDF9}"/>
    <pc:docChg chg="modSld">
      <pc:chgData name="So Sot" userId="88149d4b75946e7d" providerId="LiveId" clId="{8D451779-0052-434E-964A-31F21286BDF9}" dt="2026-03-05T02:30:14.013" v="0" actId="1037"/>
      <pc:docMkLst>
        <pc:docMk/>
      </pc:docMkLst>
      <pc:sldChg chg="modSp mod">
        <pc:chgData name="So Sot" userId="88149d4b75946e7d" providerId="LiveId" clId="{8D451779-0052-434E-964A-31F21286BDF9}" dt="2026-03-05T02:30:14.013" v="0" actId="1037"/>
        <pc:sldMkLst>
          <pc:docMk/>
          <pc:sldMk cId="0" sldId="256"/>
        </pc:sldMkLst>
        <pc:spChg chg="mod">
          <ac:chgData name="So Sot" userId="88149d4b75946e7d" providerId="LiveId" clId="{8D451779-0052-434E-964A-31F21286BDF9}" dt="2026-03-05T02:30:14.013" v="0" actId="1037"/>
          <ac:spMkLst>
            <pc:docMk/>
            <pc:sldMk cId="0" sldId="256"/>
            <ac:spMk id="88" creationId="{00000000-0000-0000-0000-000000000000}"/>
          </ac:spMkLst>
        </pc:spChg>
      </pc:sldChg>
    </pc:docChg>
  </pc:docChgLst>
  <pc:docChgLst>
    <pc:chgData name="So Sot" userId="88149d4b75946e7d" providerId="LiveId" clId="{CDED4BEC-08C7-4AF5-9A87-EC294C8A9FD1}"/>
    <pc:docChg chg="modSld">
      <pc:chgData name="So Sot" userId="88149d4b75946e7d" providerId="LiveId" clId="{CDED4BEC-08C7-4AF5-9A87-EC294C8A9FD1}" dt="2026-02-25T10:07:59.149" v="0" actId="164"/>
      <pc:docMkLst>
        <pc:docMk/>
      </pc:docMkLst>
      <pc:sldChg chg="addSp modSp">
        <pc:chgData name="So Sot" userId="88149d4b75946e7d" providerId="LiveId" clId="{CDED4BEC-08C7-4AF5-9A87-EC294C8A9FD1}" dt="2026-02-25T10:07:59.149" v="0" actId="164"/>
        <pc:sldMkLst>
          <pc:docMk/>
          <pc:sldMk cId="0" sldId="256"/>
        </pc:sldMkLst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2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3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4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5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6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7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8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12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13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14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15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16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18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19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20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21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22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23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24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25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26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27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28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29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30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31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32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34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35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36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37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38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39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40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41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42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43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44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45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46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47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48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49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50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51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53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54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55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56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57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58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59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60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61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62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63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64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65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66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67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68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69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70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72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73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74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75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76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77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78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79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80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81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82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83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84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85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86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87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88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90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91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92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93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94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95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96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97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98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99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101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102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103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104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105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106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107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108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109" creationId="{00000000-0000-0000-0000-000000000000}"/>
          </ac:spMkLst>
        </pc:spChg>
        <pc:spChg chg="mod">
          <ac:chgData name="So Sot" userId="88149d4b75946e7d" providerId="LiveId" clId="{CDED4BEC-08C7-4AF5-9A87-EC294C8A9FD1}" dt="2026-02-25T10:07:59.149" v="0" actId="164"/>
          <ac:spMkLst>
            <pc:docMk/>
            <pc:sldMk cId="0" sldId="256"/>
            <ac:spMk id="110" creationId="{A70D6D6C-72F3-60FB-8873-0CAEC0C43418}"/>
          </ac:spMkLst>
        </pc:spChg>
        <pc:grpChg chg="add mod">
          <ac:chgData name="So Sot" userId="88149d4b75946e7d" providerId="LiveId" clId="{CDED4BEC-08C7-4AF5-9A87-EC294C8A9FD1}" dt="2026-02-25T10:07:59.149" v="0" actId="164"/>
          <ac:grpSpMkLst>
            <pc:docMk/>
            <pc:sldMk cId="0" sldId="256"/>
            <ac:grpSpMk id="9" creationId="{D3779818-120B-8FCE-AC1D-8E3F7D3E00C1}"/>
          </ac:grpSpMkLst>
        </pc:grpChg>
      </pc:sldChg>
    </pc:docChg>
  </pc:docChgLst>
  <pc:docChgLst>
    <pc:chgData name="So Sot" userId="88149d4b75946e7d" providerId="LiveId" clId="{E9DE9706-1255-489E-99F3-7932AB3FC555}"/>
    <pc:docChg chg="undo redo custSel modSld">
      <pc:chgData name="So Sot" userId="88149d4b75946e7d" providerId="LiveId" clId="{E9DE9706-1255-489E-99F3-7932AB3FC555}" dt="2026-02-23T10:00:09.498" v="14" actId="6549"/>
      <pc:docMkLst>
        <pc:docMk/>
      </pc:docMkLst>
      <pc:sldChg chg="modSp mod">
        <pc:chgData name="So Sot" userId="88149d4b75946e7d" providerId="LiveId" clId="{E9DE9706-1255-489E-99F3-7932AB3FC555}" dt="2026-02-23T10:00:09.498" v="14" actId="6549"/>
        <pc:sldMkLst>
          <pc:docMk/>
          <pc:sldMk cId="0" sldId="256"/>
        </pc:sldMkLst>
        <pc:spChg chg="mod">
          <ac:chgData name="So Sot" userId="88149d4b75946e7d" providerId="LiveId" clId="{E9DE9706-1255-489E-99F3-7932AB3FC555}" dt="2026-02-23T09:59:19.790" v="8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So Sot" userId="88149d4b75946e7d" providerId="LiveId" clId="{E9DE9706-1255-489E-99F3-7932AB3FC555}" dt="2026-02-23T10:00:09.498" v="14" actId="6549"/>
          <ac:spMkLst>
            <pc:docMk/>
            <pc:sldMk cId="0" sldId="256"/>
            <ac:spMk id="10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0350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3779818-120B-8FCE-AC1D-8E3F7D3E00C1}"/>
              </a:ext>
            </a:extLst>
          </p:cNvPr>
          <p:cNvGrpSpPr/>
          <p:nvPr/>
        </p:nvGrpSpPr>
        <p:grpSpPr>
          <a:xfrm>
            <a:off x="38818" y="182880"/>
            <a:ext cx="12105732" cy="5779008"/>
            <a:chOff x="38818" y="182880"/>
            <a:chExt cx="12105732" cy="5779008"/>
          </a:xfrm>
        </p:grpSpPr>
        <p:sp>
          <p:nvSpPr>
            <p:cNvPr id="6" name="Shape 4"/>
            <p:cNvSpPr/>
            <p:nvPr/>
          </p:nvSpPr>
          <p:spPr>
            <a:xfrm>
              <a:off x="1554480" y="1143000"/>
              <a:ext cx="8732520" cy="370332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9050">
              <a:solidFill>
                <a:srgbClr val="C0CCD8"/>
              </a:solidFill>
              <a:prstDash val="dash"/>
            </a:ln>
          </p:spPr>
        </p:sp>
        <p:sp>
          <p:nvSpPr>
            <p:cNvPr id="2" name="Text 0"/>
            <p:cNvSpPr/>
            <p:nvPr/>
          </p:nvSpPr>
          <p:spPr>
            <a:xfrm>
              <a:off x="274320" y="182880"/>
              <a:ext cx="116128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D1B3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Data Warehouse Model: Data Vault 2.0 Methodology using Medallion Architecture</a:t>
              </a:r>
              <a:endParaRPr lang="en-US" sz="18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274320" y="594360"/>
              <a:ext cx="116128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 System Data Warehouse — End-to-End ETL Pipeline Architecture</a:t>
              </a:r>
              <a:endParaRPr lang="en-US" sz="100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3863340" y="960120"/>
              <a:ext cx="4114800" cy="292608"/>
            </a:xfrm>
            <a:prstGeom prst="roundRect">
              <a:avLst>
                <a:gd name="adj" fmla="val 50000"/>
              </a:avLst>
            </a:prstGeom>
            <a:solidFill>
              <a:srgbClr val="FF8F00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3863340" y="960120"/>
              <a:ext cx="41148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MEDALLION ARCHITECTURE</a:t>
              </a:r>
              <a:endParaRPr lang="en-US" sz="9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8818" y="2011680"/>
              <a:ext cx="1188720" cy="164592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2700">
              <a:solidFill>
                <a:srgbClr val="B4BEC8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8818" y="2084832"/>
              <a:ext cx="1188720" cy="4114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SOURCE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SYSTEM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7449" y="3108960"/>
              <a:ext cx="118872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D1B3E"/>
                  </a:solidFill>
                </a:rPr>
                <a:t>TaxSystemDB</a:t>
              </a:r>
              <a:endParaRPr lang="en-US" sz="8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7448" y="3246120"/>
              <a:ext cx="118872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777777"/>
                  </a:solidFill>
                </a:rPr>
                <a:t>9 Source Tables</a:t>
              </a:r>
              <a:endParaRPr lang="en-US" sz="7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1261872" y="2871216"/>
              <a:ext cx="365760" cy="201168"/>
            </a:xfrm>
            <a:prstGeom prst="rightArrow">
              <a:avLst/>
            </a:prstGeom>
            <a:solidFill>
              <a:srgbClr val="1565C0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1261872" y="2697480"/>
              <a:ext cx="365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ETL</a:t>
              </a:r>
              <a:endParaRPr lang="en-US" sz="7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1691640" y="1417320"/>
              <a:ext cx="1737360" cy="3200400"/>
            </a:xfrm>
            <a:prstGeom prst="roundRect">
              <a:avLst>
                <a:gd name="adj" fmla="val 5263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sp>
        <p:sp>
          <p:nvSpPr>
            <p:cNvPr id="18" name="Text 16"/>
            <p:cNvSpPr/>
            <p:nvPr/>
          </p:nvSpPr>
          <p:spPr>
            <a:xfrm>
              <a:off x="1920240" y="1481328"/>
              <a:ext cx="1417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8F0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STAGING</a:t>
              </a:r>
              <a:endParaRPr lang="en-US" sz="14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691640" y="1728216"/>
              <a:ext cx="173736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DV_Staging</a:t>
              </a:r>
              <a:endParaRPr lang="en-US" sz="8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1943100" y="1920240"/>
              <a:ext cx="1234440" cy="201168"/>
            </a:xfrm>
            <a:prstGeom prst="roundRect">
              <a:avLst>
                <a:gd name="adj" fmla="val 18182"/>
              </a:avLst>
            </a:prstGeom>
            <a:solidFill>
              <a:srgbClr val="FF8F00"/>
            </a:solidFill>
            <a:ln/>
          </p:spPr>
        </p:sp>
        <p:sp>
          <p:nvSpPr>
            <p:cNvPr id="21" name="Text 19"/>
            <p:cNvSpPr/>
            <p:nvPr/>
          </p:nvSpPr>
          <p:spPr>
            <a:xfrm>
              <a:off x="1943100" y="192024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LANDING ZONE</a:t>
              </a:r>
              <a:endParaRPr lang="en-US" sz="7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1828800" y="2221992"/>
              <a:ext cx="1463040" cy="237744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6350">
              <a:solidFill>
                <a:srgbClr val="CCD0D5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1892808" y="2221992"/>
              <a:ext cx="9601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Staging Tables</a:t>
              </a:r>
              <a:endParaRPr lang="en-US" sz="9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2880360" y="2221992"/>
              <a:ext cx="320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</a:t>
              </a:r>
              <a:endParaRPr lang="en-US" sz="9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1828800" y="2514600"/>
              <a:ext cx="1463040" cy="237744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6350">
              <a:solidFill>
                <a:srgbClr val="CCD0D5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1892808" y="2514600"/>
              <a:ext cx="9601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Procedures</a:t>
              </a:r>
              <a:endParaRPr lang="en-US" sz="9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2880360" y="2514600"/>
              <a:ext cx="320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</a:t>
              </a:r>
              <a:endParaRPr lang="en-US" sz="9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1691640" y="2944368"/>
              <a:ext cx="173736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8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Watermark-based</a:t>
              </a:r>
              <a:endParaRPr lang="en-US" sz="8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1691640" y="3099816"/>
              <a:ext cx="173736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8F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Incremental Loading</a:t>
              </a:r>
              <a:endParaRPr lang="en-US" sz="8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3502152" y="2871216"/>
              <a:ext cx="365760" cy="201168"/>
            </a:xfrm>
            <a:prstGeom prst="rightArrow">
              <a:avLst/>
            </a:prstGeom>
            <a:solidFill>
              <a:srgbClr val="1565C0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3502152" y="2697480"/>
              <a:ext cx="365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ETL</a:t>
              </a:r>
              <a:endParaRPr lang="en-US" sz="7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3931920" y="1417320"/>
              <a:ext cx="1737360" cy="3200400"/>
            </a:xfrm>
            <a:prstGeom prst="roundRect">
              <a:avLst>
                <a:gd name="adj" fmla="val 5263"/>
              </a:avLst>
            </a:prstGeom>
            <a:solidFill>
              <a:srgbClr val="F5EEE6"/>
            </a:solidFill>
            <a:ln w="12700">
              <a:solidFill>
                <a:srgbClr val="C8BEAF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4160520" y="1481328"/>
              <a:ext cx="1417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8D6E6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BRONZE</a:t>
              </a:r>
              <a:endParaRPr lang="en-US" sz="14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3931920" y="1728216"/>
              <a:ext cx="173736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DV_Bronze</a:t>
              </a:r>
              <a:endParaRPr lang="en-US" sz="8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4183380" y="1920240"/>
              <a:ext cx="1234440" cy="201168"/>
            </a:xfrm>
            <a:prstGeom prst="roundRect">
              <a:avLst>
                <a:gd name="adj" fmla="val 18182"/>
              </a:avLst>
            </a:prstGeom>
            <a:solidFill>
              <a:srgbClr val="8D6E63"/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4183380" y="192024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RAW VAULT</a:t>
              </a:r>
              <a:endParaRPr lang="en-US" sz="7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4069080" y="2221992"/>
              <a:ext cx="1463040" cy="237744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6350">
              <a:solidFill>
                <a:srgbClr val="CCD0D5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4133088" y="2221992"/>
              <a:ext cx="9601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Hubs</a:t>
              </a:r>
              <a:endParaRPr lang="en-US" sz="9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5120640" y="2221992"/>
              <a:ext cx="320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</a:t>
              </a:r>
              <a:endParaRPr lang="en-US" sz="9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4069080" y="2514600"/>
              <a:ext cx="1463040" cy="237744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6350">
              <a:solidFill>
                <a:srgbClr val="CCD0D5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4133088" y="2514600"/>
              <a:ext cx="9601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Satellites</a:t>
              </a:r>
              <a:endParaRPr lang="en-US" sz="9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5120640" y="2514600"/>
              <a:ext cx="320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</a:t>
              </a:r>
              <a:endParaRPr lang="en-US" sz="9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4069080" y="2807208"/>
              <a:ext cx="1463040" cy="237744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6350">
              <a:solidFill>
                <a:srgbClr val="CCD0D5"/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>
            <a:xfrm>
              <a:off x="4133088" y="2807208"/>
              <a:ext cx="9601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Links</a:t>
              </a:r>
              <a:endParaRPr lang="en-US" sz="9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5120640" y="2807208"/>
              <a:ext cx="320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3931920" y="3236976"/>
              <a:ext cx="173736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8D6E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SHAR256 Hash Keys</a:t>
              </a:r>
              <a:endParaRPr lang="en-US" sz="8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3931920" y="3392424"/>
              <a:ext cx="173736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8D6E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Insert-Only Pattern</a:t>
              </a:r>
              <a:endParaRPr lang="en-US" sz="8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5742432" y="2871216"/>
              <a:ext cx="365760" cy="201168"/>
            </a:xfrm>
            <a:prstGeom prst="rightArrow">
              <a:avLst/>
            </a:prstGeom>
            <a:solidFill>
              <a:srgbClr val="1565C0"/>
            </a:solidFill>
            <a:ln/>
          </p:spPr>
        </p:sp>
        <p:sp>
          <p:nvSpPr>
            <p:cNvPr id="50" name="Text 48"/>
            <p:cNvSpPr/>
            <p:nvPr/>
          </p:nvSpPr>
          <p:spPr>
            <a:xfrm>
              <a:off x="5742432" y="2697480"/>
              <a:ext cx="365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ETL</a:t>
              </a:r>
              <a:endParaRPr lang="en-US" sz="7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6172200" y="1417320"/>
              <a:ext cx="1737360" cy="3200400"/>
            </a:xfrm>
            <a:prstGeom prst="roundRect">
              <a:avLst>
                <a:gd name="adj" fmla="val 5263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rgbClr val="BEC8D2"/>
              </a:solidFill>
              <a:prstDash val="solid"/>
            </a:ln>
          </p:spPr>
        </p:sp>
        <p:sp>
          <p:nvSpPr>
            <p:cNvPr id="53" name="Text 51"/>
            <p:cNvSpPr/>
            <p:nvPr/>
          </p:nvSpPr>
          <p:spPr>
            <a:xfrm>
              <a:off x="6400800" y="1481328"/>
              <a:ext cx="1417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78909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SILVER</a:t>
              </a:r>
              <a:endParaRPr lang="en-US" sz="14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6172200" y="1728216"/>
              <a:ext cx="173736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DV_Silver</a:t>
              </a:r>
              <a:endParaRPr lang="en-US" sz="80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6423660" y="1920240"/>
              <a:ext cx="1234440" cy="201168"/>
            </a:xfrm>
            <a:prstGeom prst="roundRect">
              <a:avLst>
                <a:gd name="adj" fmla="val 18182"/>
              </a:avLst>
            </a:prstGeom>
            <a:solidFill>
              <a:srgbClr val="78909C"/>
            </a:solidFill>
            <a:ln/>
          </p:spPr>
        </p:sp>
        <p:sp>
          <p:nvSpPr>
            <p:cNvPr id="56" name="Text 54"/>
            <p:cNvSpPr/>
            <p:nvPr/>
          </p:nvSpPr>
          <p:spPr>
            <a:xfrm>
              <a:off x="6423660" y="192024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BUSINESS VAULT</a:t>
              </a:r>
              <a:endParaRPr lang="en-US" sz="70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6309360" y="2221992"/>
              <a:ext cx="1463040" cy="237744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6350">
              <a:solidFill>
                <a:srgbClr val="CCD0D5"/>
              </a:solidFill>
              <a:prstDash val="solid"/>
            </a:ln>
          </p:spPr>
        </p:sp>
        <p:sp>
          <p:nvSpPr>
            <p:cNvPr id="58" name="Text 56"/>
            <p:cNvSpPr/>
            <p:nvPr/>
          </p:nvSpPr>
          <p:spPr>
            <a:xfrm>
              <a:off x="6373368" y="2221992"/>
              <a:ext cx="9601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Point-in-Time</a:t>
              </a:r>
              <a:endParaRPr lang="en-US" sz="90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7360920" y="2221992"/>
              <a:ext cx="320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90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6309360" y="2514600"/>
              <a:ext cx="1463040" cy="237744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6350">
              <a:solidFill>
                <a:srgbClr val="CCD0D5"/>
              </a:solidFill>
              <a:prstDash val="solid"/>
            </a:ln>
          </p:spPr>
        </p:sp>
        <p:sp>
          <p:nvSpPr>
            <p:cNvPr id="61" name="Text 59"/>
            <p:cNvSpPr/>
            <p:nvPr/>
          </p:nvSpPr>
          <p:spPr>
            <a:xfrm>
              <a:off x="6373368" y="2514600"/>
              <a:ext cx="9601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Bridge</a:t>
              </a:r>
              <a:endParaRPr lang="en-US" sz="90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7360920" y="2514600"/>
              <a:ext cx="320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90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6309360" y="2807208"/>
              <a:ext cx="1463040" cy="237744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6350">
              <a:solidFill>
                <a:srgbClr val="CCD0D5"/>
              </a:solidFill>
              <a:prstDash val="solid"/>
            </a:ln>
          </p:spPr>
        </p:sp>
        <p:sp>
          <p:nvSpPr>
            <p:cNvPr id="64" name="Text 62"/>
            <p:cNvSpPr/>
            <p:nvPr/>
          </p:nvSpPr>
          <p:spPr>
            <a:xfrm>
              <a:off x="6373368" y="2807208"/>
              <a:ext cx="9601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Business Tables</a:t>
              </a:r>
              <a:endParaRPr lang="en-US" sz="90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7360920" y="2807208"/>
              <a:ext cx="320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900" dirty="0"/>
            </a:p>
          </p:txBody>
        </p:sp>
        <p:sp>
          <p:nvSpPr>
            <p:cNvPr id="66" name="Text 64"/>
            <p:cNvSpPr/>
            <p:nvPr/>
          </p:nvSpPr>
          <p:spPr>
            <a:xfrm>
              <a:off x="6172200" y="3236976"/>
              <a:ext cx="173736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78909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Business Rules</a:t>
              </a:r>
              <a:endParaRPr lang="en-US" sz="800" dirty="0"/>
            </a:p>
          </p:txBody>
        </p:sp>
        <p:sp>
          <p:nvSpPr>
            <p:cNvPr id="67" name="Text 65"/>
            <p:cNvSpPr/>
            <p:nvPr/>
          </p:nvSpPr>
          <p:spPr>
            <a:xfrm>
              <a:off x="6172200" y="3392424"/>
              <a:ext cx="173736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78909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Applied Here</a:t>
              </a:r>
              <a:endParaRPr lang="en-US" sz="800" dirty="0"/>
            </a:p>
          </p:txBody>
        </p:sp>
        <p:sp>
          <p:nvSpPr>
            <p:cNvPr id="68" name="Shape 66"/>
            <p:cNvSpPr/>
            <p:nvPr/>
          </p:nvSpPr>
          <p:spPr>
            <a:xfrm>
              <a:off x="7982712" y="2871216"/>
              <a:ext cx="365760" cy="201168"/>
            </a:xfrm>
            <a:prstGeom prst="rightArrow">
              <a:avLst/>
            </a:prstGeom>
            <a:solidFill>
              <a:srgbClr val="1565C0"/>
            </a:solidFill>
            <a:ln/>
          </p:spPr>
        </p:sp>
        <p:sp>
          <p:nvSpPr>
            <p:cNvPr id="69" name="Text 67"/>
            <p:cNvSpPr/>
            <p:nvPr/>
          </p:nvSpPr>
          <p:spPr>
            <a:xfrm>
              <a:off x="7982712" y="2697480"/>
              <a:ext cx="365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ETL</a:t>
              </a:r>
              <a:endParaRPr lang="en-US" sz="700" dirty="0"/>
            </a:p>
          </p:txBody>
        </p:sp>
        <p:sp>
          <p:nvSpPr>
            <p:cNvPr id="70" name="Shape 68"/>
            <p:cNvSpPr/>
            <p:nvPr/>
          </p:nvSpPr>
          <p:spPr>
            <a:xfrm>
              <a:off x="8412480" y="1417320"/>
              <a:ext cx="1737360" cy="3200400"/>
            </a:xfrm>
            <a:prstGeom prst="roundRect">
              <a:avLst>
                <a:gd name="adj" fmla="val 5263"/>
              </a:avLst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sp>
        <p:sp>
          <p:nvSpPr>
            <p:cNvPr id="72" name="Text 70"/>
            <p:cNvSpPr/>
            <p:nvPr/>
          </p:nvSpPr>
          <p:spPr>
            <a:xfrm>
              <a:off x="8641080" y="1481328"/>
              <a:ext cx="1417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9A825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GOLD</a:t>
              </a:r>
              <a:endParaRPr lang="en-US" sz="1400" dirty="0"/>
            </a:p>
          </p:txBody>
        </p:sp>
        <p:sp>
          <p:nvSpPr>
            <p:cNvPr id="73" name="Text 71"/>
            <p:cNvSpPr/>
            <p:nvPr/>
          </p:nvSpPr>
          <p:spPr>
            <a:xfrm>
              <a:off x="8412480" y="1728216"/>
              <a:ext cx="173736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DV_Gold</a:t>
              </a:r>
              <a:endParaRPr lang="en-US" sz="800" dirty="0"/>
            </a:p>
          </p:txBody>
        </p:sp>
        <p:sp>
          <p:nvSpPr>
            <p:cNvPr id="74" name="Shape 72"/>
            <p:cNvSpPr/>
            <p:nvPr/>
          </p:nvSpPr>
          <p:spPr>
            <a:xfrm>
              <a:off x="8663940" y="1920240"/>
              <a:ext cx="1234440" cy="201168"/>
            </a:xfrm>
            <a:prstGeom prst="roundRect">
              <a:avLst>
                <a:gd name="adj" fmla="val 18182"/>
              </a:avLst>
            </a:prstGeom>
            <a:solidFill>
              <a:srgbClr val="F9A825"/>
            </a:solidFill>
            <a:ln/>
          </p:spPr>
        </p:sp>
        <p:sp>
          <p:nvSpPr>
            <p:cNvPr id="75" name="Text 73"/>
            <p:cNvSpPr/>
            <p:nvPr/>
          </p:nvSpPr>
          <p:spPr>
            <a:xfrm>
              <a:off x="8663940" y="192024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INFORMATION VAULT</a:t>
              </a:r>
              <a:endParaRPr lang="en-US" sz="700" dirty="0"/>
            </a:p>
          </p:txBody>
        </p:sp>
        <p:sp>
          <p:nvSpPr>
            <p:cNvPr id="76" name="Shape 74"/>
            <p:cNvSpPr/>
            <p:nvPr/>
          </p:nvSpPr>
          <p:spPr>
            <a:xfrm>
              <a:off x="8549640" y="2221992"/>
              <a:ext cx="1463040" cy="237744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6350">
              <a:solidFill>
                <a:srgbClr val="CCD0D5"/>
              </a:solidFill>
              <a:prstDash val="solid"/>
            </a:ln>
          </p:spPr>
        </p:sp>
        <p:sp>
          <p:nvSpPr>
            <p:cNvPr id="77" name="Text 75"/>
            <p:cNvSpPr/>
            <p:nvPr/>
          </p:nvSpPr>
          <p:spPr>
            <a:xfrm>
              <a:off x="8613648" y="2221992"/>
              <a:ext cx="9601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Dimensions</a:t>
              </a:r>
              <a:endParaRPr lang="en-US" sz="900" dirty="0"/>
            </a:p>
          </p:txBody>
        </p:sp>
        <p:sp>
          <p:nvSpPr>
            <p:cNvPr id="78" name="Text 76"/>
            <p:cNvSpPr/>
            <p:nvPr/>
          </p:nvSpPr>
          <p:spPr>
            <a:xfrm>
              <a:off x="9601200" y="2221992"/>
              <a:ext cx="320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</a:t>
              </a:r>
              <a:endParaRPr lang="en-US" sz="900" dirty="0"/>
            </a:p>
          </p:txBody>
        </p:sp>
        <p:sp>
          <p:nvSpPr>
            <p:cNvPr id="79" name="Shape 77"/>
            <p:cNvSpPr/>
            <p:nvPr/>
          </p:nvSpPr>
          <p:spPr>
            <a:xfrm>
              <a:off x="8549640" y="2514600"/>
              <a:ext cx="1463040" cy="237744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6350">
              <a:solidFill>
                <a:srgbClr val="CCD0D5"/>
              </a:solidFill>
              <a:prstDash val="solid"/>
            </a:ln>
          </p:spPr>
        </p:sp>
        <p:sp>
          <p:nvSpPr>
            <p:cNvPr id="80" name="Text 78"/>
            <p:cNvSpPr/>
            <p:nvPr/>
          </p:nvSpPr>
          <p:spPr>
            <a:xfrm>
              <a:off x="8613648" y="2514600"/>
              <a:ext cx="9601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Facts</a:t>
              </a:r>
              <a:endParaRPr lang="en-US" sz="900" dirty="0"/>
            </a:p>
          </p:txBody>
        </p:sp>
        <p:sp>
          <p:nvSpPr>
            <p:cNvPr id="81" name="Text 79"/>
            <p:cNvSpPr/>
            <p:nvPr/>
          </p:nvSpPr>
          <p:spPr>
            <a:xfrm>
              <a:off x="9601200" y="2514600"/>
              <a:ext cx="320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900" dirty="0"/>
            </a:p>
          </p:txBody>
        </p:sp>
        <p:sp>
          <p:nvSpPr>
            <p:cNvPr id="82" name="Shape 80"/>
            <p:cNvSpPr/>
            <p:nvPr/>
          </p:nvSpPr>
          <p:spPr>
            <a:xfrm>
              <a:off x="8549640" y="2807208"/>
              <a:ext cx="1463040" cy="237744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6350">
              <a:solidFill>
                <a:srgbClr val="CCD0D5"/>
              </a:solidFill>
              <a:prstDash val="solid"/>
            </a:ln>
          </p:spPr>
        </p:sp>
        <p:sp>
          <p:nvSpPr>
            <p:cNvPr id="83" name="Text 81"/>
            <p:cNvSpPr/>
            <p:nvPr/>
          </p:nvSpPr>
          <p:spPr>
            <a:xfrm>
              <a:off x="8613648" y="2807208"/>
              <a:ext cx="9601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SCD Type 2</a:t>
              </a:r>
              <a:endParaRPr lang="en-US" sz="900" dirty="0"/>
            </a:p>
          </p:txBody>
        </p:sp>
        <p:sp>
          <p:nvSpPr>
            <p:cNvPr id="84" name="Text 82"/>
            <p:cNvSpPr/>
            <p:nvPr/>
          </p:nvSpPr>
          <p:spPr>
            <a:xfrm>
              <a:off x="9601200" y="2807208"/>
              <a:ext cx="320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900" dirty="0"/>
            </a:p>
          </p:txBody>
        </p:sp>
        <p:sp>
          <p:nvSpPr>
            <p:cNvPr id="85" name="Text 83"/>
            <p:cNvSpPr/>
            <p:nvPr/>
          </p:nvSpPr>
          <p:spPr>
            <a:xfrm>
              <a:off x="8412480" y="3236976"/>
              <a:ext cx="173736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9A82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Dimensional Model</a:t>
              </a:r>
              <a:endParaRPr lang="en-US" sz="800" dirty="0"/>
            </a:p>
          </p:txBody>
        </p:sp>
        <p:sp>
          <p:nvSpPr>
            <p:cNvPr id="86" name="Text 84"/>
            <p:cNvSpPr/>
            <p:nvPr/>
          </p:nvSpPr>
          <p:spPr>
            <a:xfrm>
              <a:off x="8412480" y="3392424"/>
              <a:ext cx="173736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9A82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Analytics-Ready</a:t>
              </a:r>
              <a:endParaRPr lang="en-US" sz="800" dirty="0"/>
            </a:p>
          </p:txBody>
        </p:sp>
        <p:sp>
          <p:nvSpPr>
            <p:cNvPr id="87" name="Shape 85"/>
            <p:cNvSpPr/>
            <p:nvPr/>
          </p:nvSpPr>
          <p:spPr>
            <a:xfrm>
              <a:off x="10230064" y="2862072"/>
              <a:ext cx="365760" cy="219456"/>
            </a:xfrm>
            <a:prstGeom prst="rightArrow">
              <a:avLst/>
            </a:prstGeom>
            <a:solidFill>
              <a:srgbClr val="1565C0"/>
            </a:solidFill>
            <a:ln/>
          </p:spPr>
        </p:sp>
        <p:sp>
          <p:nvSpPr>
            <p:cNvPr id="88" name="Shape 86"/>
            <p:cNvSpPr/>
            <p:nvPr/>
          </p:nvSpPr>
          <p:spPr>
            <a:xfrm>
              <a:off x="10644133" y="1417320"/>
              <a:ext cx="1491792" cy="3200400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2700">
              <a:solidFill>
                <a:srgbClr val="B4BEC8"/>
              </a:solidFill>
              <a:prstDash val="solid"/>
            </a:ln>
          </p:spPr>
        </p:sp>
        <p:sp>
          <p:nvSpPr>
            <p:cNvPr id="90" name="Text 88"/>
            <p:cNvSpPr/>
            <p:nvPr/>
          </p:nvSpPr>
          <p:spPr>
            <a:xfrm>
              <a:off x="10744199" y="1463040"/>
              <a:ext cx="1400351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976D2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ANALYTICS</a:t>
              </a:r>
              <a:endParaRPr lang="en-US" sz="1200" dirty="0"/>
            </a:p>
          </p:txBody>
        </p:sp>
        <p:sp>
          <p:nvSpPr>
            <p:cNvPr id="91" name="Text 89"/>
            <p:cNvSpPr/>
            <p:nvPr/>
          </p:nvSpPr>
          <p:spPr>
            <a:xfrm>
              <a:off x="10652760" y="1810512"/>
              <a:ext cx="149179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Consumption Layer</a:t>
              </a:r>
              <a:endParaRPr lang="en-US" sz="700" dirty="0"/>
            </a:p>
          </p:txBody>
        </p:sp>
        <p:sp>
          <p:nvSpPr>
            <p:cNvPr id="92" name="Shape 90"/>
            <p:cNvSpPr/>
            <p:nvPr/>
          </p:nvSpPr>
          <p:spPr>
            <a:xfrm>
              <a:off x="10789919" y="2039112"/>
              <a:ext cx="1235303" cy="201168"/>
            </a:xfrm>
            <a:prstGeom prst="roundRect">
              <a:avLst>
                <a:gd name="adj" fmla="val 20000"/>
              </a:avLst>
            </a:prstGeom>
            <a:solidFill>
              <a:srgbClr val="1976D2"/>
            </a:solidFill>
            <a:ln/>
          </p:spPr>
        </p:sp>
        <p:sp>
          <p:nvSpPr>
            <p:cNvPr id="93" name="Text 91"/>
            <p:cNvSpPr/>
            <p:nvPr/>
          </p:nvSpPr>
          <p:spPr>
            <a:xfrm>
              <a:off x="10789920" y="2057400"/>
              <a:ext cx="10515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INSIGHT ENGINE</a:t>
              </a:r>
              <a:endParaRPr lang="en-US" sz="650" dirty="0"/>
            </a:p>
          </p:txBody>
        </p:sp>
        <p:sp>
          <p:nvSpPr>
            <p:cNvPr id="94" name="Shape 92"/>
            <p:cNvSpPr/>
            <p:nvPr/>
          </p:nvSpPr>
          <p:spPr>
            <a:xfrm>
              <a:off x="10744200" y="2331720"/>
              <a:ext cx="1281022" cy="21945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6350">
              <a:solidFill>
                <a:srgbClr val="C8D5E5"/>
              </a:solidFill>
              <a:prstDash val="solid"/>
            </a:ln>
          </p:spPr>
        </p:sp>
        <p:sp>
          <p:nvSpPr>
            <p:cNvPr id="95" name="Text 93"/>
            <p:cNvSpPr/>
            <p:nvPr/>
          </p:nvSpPr>
          <p:spPr>
            <a:xfrm>
              <a:off x="10789919" y="2331720"/>
              <a:ext cx="111142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Dashboards &amp; Reports</a:t>
              </a:r>
              <a:endParaRPr lang="en-US" sz="800" dirty="0"/>
            </a:p>
          </p:txBody>
        </p:sp>
        <p:sp>
          <p:nvSpPr>
            <p:cNvPr id="96" name="Shape 94"/>
            <p:cNvSpPr/>
            <p:nvPr/>
          </p:nvSpPr>
          <p:spPr>
            <a:xfrm>
              <a:off x="10744200" y="2578004"/>
              <a:ext cx="1281022" cy="21945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6350">
              <a:solidFill>
                <a:srgbClr val="C8D5E5"/>
              </a:solidFill>
              <a:prstDash val="soli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97" name="Text 95"/>
            <p:cNvSpPr/>
            <p:nvPr/>
          </p:nvSpPr>
          <p:spPr>
            <a:xfrm>
              <a:off x="10799064" y="2606040"/>
              <a:ext cx="103327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Compliance Analytics</a:t>
              </a:r>
              <a:endParaRPr lang="en-US" sz="800" dirty="0"/>
            </a:p>
          </p:txBody>
        </p:sp>
        <p:sp>
          <p:nvSpPr>
            <p:cNvPr id="98" name="Shape 96"/>
            <p:cNvSpPr/>
            <p:nvPr/>
          </p:nvSpPr>
          <p:spPr>
            <a:xfrm>
              <a:off x="10744200" y="2824288"/>
              <a:ext cx="1281022" cy="23774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6350">
              <a:solidFill>
                <a:srgbClr val="C8D5E5"/>
              </a:solidFill>
              <a:prstDash val="soli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99" name="Text 97"/>
            <p:cNvSpPr/>
            <p:nvPr/>
          </p:nvSpPr>
          <p:spPr>
            <a:xfrm>
              <a:off x="10799064" y="2825496"/>
              <a:ext cx="122615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Revenue Forecasting</a:t>
              </a:r>
              <a:endParaRPr lang="en-US" sz="800" dirty="0"/>
            </a:p>
          </p:txBody>
        </p:sp>
        <p:sp>
          <p:nvSpPr>
            <p:cNvPr id="100" name="Shape 98"/>
            <p:cNvSpPr/>
            <p:nvPr/>
          </p:nvSpPr>
          <p:spPr>
            <a:xfrm>
              <a:off x="10744200" y="3088860"/>
              <a:ext cx="1281022" cy="258447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6350">
              <a:solidFill>
                <a:srgbClr val="C8D5E5"/>
              </a:solidFill>
              <a:prstDash val="soli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01" name="Text 99"/>
            <p:cNvSpPr/>
            <p:nvPr/>
          </p:nvSpPr>
          <p:spPr>
            <a:xfrm>
              <a:off x="10799064" y="3154680"/>
              <a:ext cx="103327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Risk Assessment</a:t>
              </a:r>
              <a:endParaRPr lang="en-US" sz="800" dirty="0"/>
            </a:p>
          </p:txBody>
        </p:sp>
        <p:sp>
          <p:nvSpPr>
            <p:cNvPr id="102" name="Shape 100"/>
            <p:cNvSpPr/>
            <p:nvPr/>
          </p:nvSpPr>
          <p:spPr>
            <a:xfrm>
              <a:off x="10744200" y="3374136"/>
              <a:ext cx="1281022" cy="27432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6350">
              <a:solidFill>
                <a:srgbClr val="C8D5E5"/>
              </a:solidFill>
              <a:prstDash val="soli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03" name="Text 101"/>
            <p:cNvSpPr/>
            <p:nvPr/>
          </p:nvSpPr>
          <p:spPr>
            <a:xfrm>
              <a:off x="10799064" y="3429000"/>
              <a:ext cx="103327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Anomaly Detection</a:t>
              </a:r>
              <a:endParaRPr lang="en-US" sz="800" dirty="0"/>
            </a:p>
          </p:txBody>
        </p:sp>
        <p:sp>
          <p:nvSpPr>
            <p:cNvPr id="104" name="Text 102"/>
            <p:cNvSpPr/>
            <p:nvPr/>
          </p:nvSpPr>
          <p:spPr>
            <a:xfrm>
              <a:off x="10652760" y="3794760"/>
              <a:ext cx="149179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976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AI/ML Models &amp;</a:t>
              </a:r>
              <a:endParaRPr lang="en-US" sz="800" dirty="0"/>
            </a:p>
            <a:p>
              <a:pPr marL="0" indent="0" algn="ctr">
                <a:buNone/>
              </a:pPr>
              <a:r>
                <a:rPr lang="en-US" sz="800" b="1" dirty="0">
                  <a:solidFill>
                    <a:srgbClr val="1976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 Reporting</a:t>
              </a:r>
              <a:endParaRPr lang="en-US" sz="800" dirty="0"/>
            </a:p>
          </p:txBody>
        </p:sp>
        <p:sp>
          <p:nvSpPr>
            <p:cNvPr id="105" name="Shape 103"/>
            <p:cNvSpPr/>
            <p:nvPr/>
          </p:nvSpPr>
          <p:spPr>
            <a:xfrm>
              <a:off x="1554480" y="4892040"/>
              <a:ext cx="8732520" cy="292608"/>
            </a:xfrm>
            <a:prstGeom prst="roundRect">
              <a:avLst>
                <a:gd name="adj" fmla="val 15625"/>
              </a:avLst>
            </a:prstGeom>
            <a:solidFill>
              <a:srgbClr val="263250"/>
            </a:solidFill>
            <a:ln/>
          </p:spPr>
        </p:sp>
        <p:sp>
          <p:nvSpPr>
            <p:cNvPr id="106" name="Text 104"/>
            <p:cNvSpPr/>
            <p:nvPr/>
          </p:nvSpPr>
          <p:spPr>
            <a:xfrm>
              <a:off x="1645920" y="4892040"/>
              <a:ext cx="85496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ETL CONTROL FRAMEWORK  </a:t>
              </a:r>
              <a:r>
                <a:rPr lang="en-US" sz="500" dirty="0">
                  <a:solidFill>
                    <a:srgbClr val="4CAF50"/>
                  </a:solidFill>
                </a:rPr>
                <a:t>●</a:t>
              </a:r>
              <a:r>
                <a:rPr lang="en-US" sz="650" dirty="0">
                  <a:solidFill>
                    <a:srgbClr val="FFFFFF"/>
                  </a:solidFill>
                </a:rPr>
                <a:t>Batch Logging  </a:t>
              </a:r>
              <a:r>
                <a:rPr lang="en-US" sz="500" dirty="0">
                  <a:solidFill>
                    <a:srgbClr val="4CAF50"/>
                  </a:solidFill>
                </a:rPr>
                <a:t>●</a:t>
              </a:r>
              <a:r>
                <a:rPr lang="en-US" sz="650" dirty="0">
                  <a:solidFill>
                    <a:srgbClr val="FFFFFF"/>
                  </a:solidFill>
                </a:rPr>
                <a:t>Step Tracking  </a:t>
              </a:r>
              <a:r>
                <a:rPr lang="en-US" sz="500" dirty="0">
                  <a:solidFill>
                    <a:srgbClr val="FF8F00"/>
                  </a:solidFill>
                </a:rPr>
                <a:t>●</a:t>
              </a:r>
              <a:r>
                <a:rPr lang="en-US" sz="650" dirty="0">
                  <a:solidFill>
                    <a:srgbClr val="FFFFFF"/>
                  </a:solidFill>
                </a:rPr>
                <a:t>Watermark Mgmt  </a:t>
              </a:r>
              <a:r>
                <a:rPr lang="en-US" sz="500" dirty="0">
                  <a:solidFill>
                    <a:srgbClr val="F44336"/>
                  </a:solidFill>
                </a:rPr>
                <a:t>●</a:t>
              </a:r>
              <a:r>
                <a:rPr lang="en-US" sz="650" dirty="0">
                  <a:solidFill>
                    <a:srgbClr val="FFFFFF"/>
                  </a:solidFill>
                </a:rPr>
                <a:t>Error Handling  </a:t>
              </a:r>
              <a:r>
                <a:rPr lang="en-US" sz="500" dirty="0">
                  <a:solidFill>
                    <a:srgbClr val="4CAF50"/>
                  </a:solidFill>
                </a:rPr>
                <a:t>●</a:t>
              </a:r>
              <a:r>
                <a:rPr lang="en-US" sz="650" dirty="0">
                  <a:solidFill>
                    <a:srgbClr val="FFFFFF"/>
                  </a:solidFill>
                </a:rPr>
                <a:t>Data Quality  </a:t>
              </a:r>
              <a:r>
                <a:rPr lang="en-US" sz="500" dirty="0">
                  <a:solidFill>
                    <a:srgbClr val="1565C0"/>
                  </a:solidFill>
                </a:rPr>
                <a:t>●</a:t>
              </a:r>
              <a:r>
                <a:rPr lang="en-US" sz="650" dirty="0">
                  <a:solidFill>
                    <a:srgbClr val="FFFFFF"/>
                  </a:solidFill>
                </a:rPr>
                <a:t>SSIS Orchestration</a:t>
              </a:r>
              <a:endParaRPr lang="en-US" sz="800" dirty="0"/>
            </a:p>
          </p:txBody>
        </p:sp>
        <p:sp>
          <p:nvSpPr>
            <p:cNvPr id="107" name="Shape 105"/>
            <p:cNvSpPr/>
            <p:nvPr/>
          </p:nvSpPr>
          <p:spPr>
            <a:xfrm>
              <a:off x="2011680" y="5276088"/>
              <a:ext cx="7818120" cy="228600"/>
            </a:xfrm>
            <a:prstGeom prst="roundRect">
              <a:avLst>
                <a:gd name="adj" fmla="val 16000"/>
              </a:avLst>
            </a:prstGeom>
            <a:solidFill>
              <a:srgbClr val="E6E6EB"/>
            </a:solidFill>
            <a:ln/>
          </p:spPr>
        </p:sp>
        <p:sp>
          <p:nvSpPr>
            <p:cNvPr id="108" name="Text 106"/>
            <p:cNvSpPr/>
            <p:nvPr/>
          </p:nvSpPr>
          <p:spPr>
            <a:xfrm>
              <a:off x="2286000" y="5276088"/>
              <a:ext cx="74523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500" dirty="0">
                  <a:solidFill>
                    <a:srgbClr val="0D1B3E"/>
                  </a:solidFill>
                </a:rPr>
                <a:t>●</a:t>
              </a:r>
              <a:r>
                <a:rPr lang="en-US" sz="700" dirty="0">
                  <a:solidFill>
                    <a:srgbClr val="0D1B3E"/>
                  </a:solidFill>
                </a:rPr>
                <a:t>SQL Server 2025   </a:t>
              </a:r>
              <a:r>
                <a:rPr lang="en-US" sz="500" dirty="0">
                  <a:solidFill>
                    <a:srgbClr val="0D1B3E"/>
                  </a:solidFill>
                </a:rPr>
                <a:t>●</a:t>
              </a:r>
              <a:r>
                <a:rPr lang="en-US" sz="700" dirty="0">
                  <a:solidFill>
                    <a:srgbClr val="0D1B3E"/>
                  </a:solidFill>
                </a:rPr>
                <a:t>SSIS 2022   </a:t>
              </a:r>
              <a:r>
                <a:rPr lang="en-US" sz="500" dirty="0">
                  <a:solidFill>
                    <a:srgbClr val="0D1B3E"/>
                  </a:solidFill>
                </a:rPr>
                <a:t>●</a:t>
              </a:r>
              <a:r>
                <a:rPr lang="en-US" sz="700" dirty="0">
                  <a:solidFill>
                    <a:srgbClr val="0D1B3E"/>
                  </a:solidFill>
                </a:rPr>
                <a:t>T-SQL   </a:t>
              </a:r>
              <a:r>
                <a:rPr lang="en-US" sz="500" dirty="0">
                  <a:solidFill>
                    <a:srgbClr val="0D1B3E"/>
                  </a:solidFill>
                </a:rPr>
                <a:t>●</a:t>
              </a:r>
              <a:r>
                <a:rPr lang="en-US" sz="700" dirty="0">
                  <a:solidFill>
                    <a:srgbClr val="0D1B3E"/>
                  </a:solidFill>
                </a:rPr>
                <a:t>SQL Server Agent   </a:t>
              </a:r>
              <a:r>
                <a:rPr lang="en-US" sz="500" dirty="0">
                  <a:solidFill>
                    <a:srgbClr val="0D1B3E"/>
                  </a:solidFill>
                </a:rPr>
                <a:t>●</a:t>
              </a:r>
              <a:r>
                <a:rPr lang="en-US" sz="700" dirty="0">
                  <a:solidFill>
                    <a:srgbClr val="0D1B3E"/>
                  </a:solidFill>
                </a:rPr>
                <a:t>Visual Studio 2026</a:t>
              </a:r>
              <a:endParaRPr lang="en-US" sz="500" dirty="0"/>
            </a:p>
          </p:txBody>
        </p:sp>
        <p:sp>
          <p:nvSpPr>
            <p:cNvPr id="109" name="Text 107"/>
            <p:cNvSpPr/>
            <p:nvPr/>
          </p:nvSpPr>
          <p:spPr>
            <a:xfrm>
              <a:off x="1371600" y="5687568"/>
              <a:ext cx="9418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D1B3E"/>
                  </a:solidFill>
                </a:rPr>
                <a:t>Figure 3.1: </a:t>
              </a:r>
              <a:r>
                <a:rPr lang="en-US" sz="900" dirty="0">
                  <a:solidFill>
                    <a:srgbClr val="0D1B3E"/>
                  </a:solidFill>
                </a:rPr>
                <a:t>Data Warehouse Model: Data Vault 2.0 Methodology using Medallion Architecture</a:t>
              </a:r>
            </a:p>
            <a:p>
              <a:pPr marL="0" indent="0" algn="ctr">
                <a:buNone/>
              </a:pPr>
              <a:endParaRPr lang="en-US" sz="900" dirty="0"/>
            </a:p>
          </p:txBody>
        </p:sp>
        <p:sp>
          <p:nvSpPr>
            <p:cNvPr id="110" name="Flowchart: Magnetic Disk 109">
              <a:extLst>
                <a:ext uri="{FF2B5EF4-FFF2-40B4-BE49-F238E27FC236}">
                  <a16:creationId xmlns:a16="http://schemas.microsoft.com/office/drawing/2014/main" id="{A70D6D6C-72F3-60FB-8873-0CAEC0C43418}"/>
                </a:ext>
              </a:extLst>
            </p:cNvPr>
            <p:cNvSpPr/>
            <p:nvPr/>
          </p:nvSpPr>
          <p:spPr>
            <a:xfrm>
              <a:off x="319350" y="2448177"/>
              <a:ext cx="603849" cy="667512"/>
            </a:xfrm>
            <a:prstGeom prst="flowChartMagneticDisk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173</Words>
  <Application>Microsoft Office PowerPoint</Application>
  <PresentationFormat>Widescreen</PresentationFormat>
  <Paragraphs>67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3.1 - Data Warehouse Model</dc:title>
  <dc:subject>PptxGenJS Presentation</dc:subject>
  <dc:creator>Sot So</dc:creator>
  <cp:lastModifiedBy>SOTSO</cp:lastModifiedBy>
  <cp:revision>5</cp:revision>
  <dcterms:created xsi:type="dcterms:W3CDTF">2026-02-16T02:28:21Z</dcterms:created>
  <dcterms:modified xsi:type="dcterms:W3CDTF">2026-03-05T02:30:26Z</dcterms:modified>
</cp:coreProperties>
</file>
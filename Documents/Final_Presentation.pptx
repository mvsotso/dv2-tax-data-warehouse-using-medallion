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71" r:id="rId12"/>
    <p:sldId id="272" r:id="rId13"/>
    <p:sldId id="273"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 Sot" userId="88149d4b75946e7d" providerId="LiveId" clId="{04F15EE9-6A2F-4850-A112-9C06ECE99432}"/>
    <pc:docChg chg="modSld">
      <pc:chgData name="So Sot" userId="88149d4b75946e7d" providerId="LiveId" clId="{04F15EE9-6A2F-4850-A112-9C06ECE99432}" dt="2026-02-24T07:53:13.489" v="1" actId="164"/>
      <pc:docMkLst>
        <pc:docMk/>
      </pc:docMkLst>
      <pc:sldChg chg="addSp modSp">
        <pc:chgData name="So Sot" userId="88149d4b75946e7d" providerId="LiveId" clId="{04F15EE9-6A2F-4850-A112-9C06ECE99432}" dt="2026-02-24T07:53:03.853" v="0" actId="164"/>
        <pc:sldMkLst>
          <pc:docMk/>
          <pc:sldMk cId="0" sldId="256"/>
        </pc:sldMkLst>
        <pc:spChg chg="mod">
          <ac:chgData name="So Sot" userId="88149d4b75946e7d" providerId="LiveId" clId="{04F15EE9-6A2F-4850-A112-9C06ECE99432}" dt="2026-02-24T07:53:03.853" v="0" actId="164"/>
          <ac:spMkLst>
            <pc:docMk/>
            <pc:sldMk cId="0" sldId="256"/>
            <ac:spMk id="2" creationId="{00000000-0000-0000-0000-000000000000}"/>
          </ac:spMkLst>
        </pc:spChg>
        <pc:spChg chg="mod">
          <ac:chgData name="So Sot" userId="88149d4b75946e7d" providerId="LiveId" clId="{04F15EE9-6A2F-4850-A112-9C06ECE99432}" dt="2026-02-24T07:53:03.853" v="0" actId="164"/>
          <ac:spMkLst>
            <pc:docMk/>
            <pc:sldMk cId="0" sldId="256"/>
            <ac:spMk id="3" creationId="{00000000-0000-0000-0000-000000000000}"/>
          </ac:spMkLst>
        </pc:spChg>
        <pc:spChg chg="mod">
          <ac:chgData name="So Sot" userId="88149d4b75946e7d" providerId="LiveId" clId="{04F15EE9-6A2F-4850-A112-9C06ECE99432}" dt="2026-02-24T07:53:03.853" v="0" actId="164"/>
          <ac:spMkLst>
            <pc:docMk/>
            <pc:sldMk cId="0" sldId="256"/>
            <ac:spMk id="4" creationId="{00000000-0000-0000-0000-000000000000}"/>
          </ac:spMkLst>
        </pc:spChg>
        <pc:spChg chg="mod">
          <ac:chgData name="So Sot" userId="88149d4b75946e7d" providerId="LiveId" clId="{04F15EE9-6A2F-4850-A112-9C06ECE99432}" dt="2026-02-24T07:53:03.853" v="0" actId="164"/>
          <ac:spMkLst>
            <pc:docMk/>
            <pc:sldMk cId="0" sldId="256"/>
            <ac:spMk id="5" creationId="{00000000-0000-0000-0000-000000000000}"/>
          </ac:spMkLst>
        </pc:spChg>
        <pc:spChg chg="mod">
          <ac:chgData name="So Sot" userId="88149d4b75946e7d" providerId="LiveId" clId="{04F15EE9-6A2F-4850-A112-9C06ECE99432}" dt="2026-02-24T07:53:03.853" v="0" actId="164"/>
          <ac:spMkLst>
            <pc:docMk/>
            <pc:sldMk cId="0" sldId="256"/>
            <ac:spMk id="7" creationId="{00000000-0000-0000-0000-000000000000}"/>
          </ac:spMkLst>
        </pc:spChg>
        <pc:spChg chg="mod">
          <ac:chgData name="So Sot" userId="88149d4b75946e7d" providerId="LiveId" clId="{04F15EE9-6A2F-4850-A112-9C06ECE99432}" dt="2026-02-24T07:53:03.853" v="0" actId="164"/>
          <ac:spMkLst>
            <pc:docMk/>
            <pc:sldMk cId="0" sldId="256"/>
            <ac:spMk id="8" creationId="{00000000-0000-0000-0000-000000000000}"/>
          </ac:spMkLst>
        </pc:spChg>
        <pc:spChg chg="mod">
          <ac:chgData name="So Sot" userId="88149d4b75946e7d" providerId="LiveId" clId="{04F15EE9-6A2F-4850-A112-9C06ECE99432}" dt="2026-02-24T07:53:03.853" v="0" actId="164"/>
          <ac:spMkLst>
            <pc:docMk/>
            <pc:sldMk cId="0" sldId="256"/>
            <ac:spMk id="9" creationId="{00000000-0000-0000-0000-000000000000}"/>
          </ac:spMkLst>
        </pc:spChg>
        <pc:spChg chg="mod">
          <ac:chgData name="So Sot" userId="88149d4b75946e7d" providerId="LiveId" clId="{04F15EE9-6A2F-4850-A112-9C06ECE99432}" dt="2026-02-24T07:53:03.853" v="0" actId="164"/>
          <ac:spMkLst>
            <pc:docMk/>
            <pc:sldMk cId="0" sldId="256"/>
            <ac:spMk id="10" creationId="{00000000-0000-0000-0000-000000000000}"/>
          </ac:spMkLst>
        </pc:spChg>
        <pc:spChg chg="mod">
          <ac:chgData name="So Sot" userId="88149d4b75946e7d" providerId="LiveId" clId="{04F15EE9-6A2F-4850-A112-9C06ECE99432}" dt="2026-02-24T07:53:03.853" v="0" actId="164"/>
          <ac:spMkLst>
            <pc:docMk/>
            <pc:sldMk cId="0" sldId="256"/>
            <ac:spMk id="11" creationId="{00000000-0000-0000-0000-000000000000}"/>
          </ac:spMkLst>
        </pc:spChg>
        <pc:grpChg chg="add mod">
          <ac:chgData name="So Sot" userId="88149d4b75946e7d" providerId="LiveId" clId="{04F15EE9-6A2F-4850-A112-9C06ECE99432}" dt="2026-02-24T07:53:03.853" v="0" actId="164"/>
          <ac:grpSpMkLst>
            <pc:docMk/>
            <pc:sldMk cId="0" sldId="256"/>
            <ac:grpSpMk id="12" creationId="{7E1F0E5C-C0E9-FE42-21BC-2113AA6E0E36}"/>
          </ac:grpSpMkLst>
        </pc:grpChg>
        <pc:picChg chg="mod">
          <ac:chgData name="So Sot" userId="88149d4b75946e7d" providerId="LiveId" clId="{04F15EE9-6A2F-4850-A112-9C06ECE99432}" dt="2026-02-24T07:53:03.853" v="0" actId="164"/>
          <ac:picMkLst>
            <pc:docMk/>
            <pc:sldMk cId="0" sldId="256"/>
            <ac:picMk id="6" creationId="{00000000-0000-0000-0000-000000000000}"/>
          </ac:picMkLst>
        </pc:picChg>
      </pc:sldChg>
      <pc:sldChg chg="addSp modSp">
        <pc:chgData name="So Sot" userId="88149d4b75946e7d" providerId="LiveId" clId="{04F15EE9-6A2F-4850-A112-9C06ECE99432}" dt="2026-02-24T07:53:13.489" v="1" actId="164"/>
        <pc:sldMkLst>
          <pc:docMk/>
          <pc:sldMk cId="0" sldId="257"/>
        </pc:sldMkLst>
        <pc:spChg chg="mod">
          <ac:chgData name="So Sot" userId="88149d4b75946e7d" providerId="LiveId" clId="{04F15EE9-6A2F-4850-A112-9C06ECE99432}" dt="2026-02-24T07:53:13.489" v="1" actId="164"/>
          <ac:spMkLst>
            <pc:docMk/>
            <pc:sldMk cId="0" sldId="257"/>
            <ac:spMk id="2" creationId="{00000000-0000-0000-0000-000000000000}"/>
          </ac:spMkLst>
        </pc:spChg>
        <pc:spChg chg="mod">
          <ac:chgData name="So Sot" userId="88149d4b75946e7d" providerId="LiveId" clId="{04F15EE9-6A2F-4850-A112-9C06ECE99432}" dt="2026-02-24T07:53:13.489" v="1" actId="164"/>
          <ac:spMkLst>
            <pc:docMk/>
            <pc:sldMk cId="0" sldId="257"/>
            <ac:spMk id="3" creationId="{00000000-0000-0000-0000-000000000000}"/>
          </ac:spMkLst>
        </pc:spChg>
        <pc:spChg chg="mod">
          <ac:chgData name="So Sot" userId="88149d4b75946e7d" providerId="LiveId" clId="{04F15EE9-6A2F-4850-A112-9C06ECE99432}" dt="2026-02-24T07:53:13.489" v="1" actId="164"/>
          <ac:spMkLst>
            <pc:docMk/>
            <pc:sldMk cId="0" sldId="257"/>
            <ac:spMk id="4" creationId="{00000000-0000-0000-0000-000000000000}"/>
          </ac:spMkLst>
        </pc:spChg>
        <pc:spChg chg="mod">
          <ac:chgData name="So Sot" userId="88149d4b75946e7d" providerId="LiveId" clId="{04F15EE9-6A2F-4850-A112-9C06ECE99432}" dt="2026-02-24T07:53:13.489" v="1" actId="164"/>
          <ac:spMkLst>
            <pc:docMk/>
            <pc:sldMk cId="0" sldId="257"/>
            <ac:spMk id="5" creationId="{00000000-0000-0000-0000-000000000000}"/>
          </ac:spMkLst>
        </pc:spChg>
        <pc:spChg chg="mod">
          <ac:chgData name="So Sot" userId="88149d4b75946e7d" providerId="LiveId" clId="{04F15EE9-6A2F-4850-A112-9C06ECE99432}" dt="2026-02-24T07:53:13.489" v="1" actId="164"/>
          <ac:spMkLst>
            <pc:docMk/>
            <pc:sldMk cId="0" sldId="257"/>
            <ac:spMk id="6" creationId="{00000000-0000-0000-0000-000000000000}"/>
          </ac:spMkLst>
        </pc:spChg>
        <pc:spChg chg="mod">
          <ac:chgData name="So Sot" userId="88149d4b75946e7d" providerId="LiveId" clId="{04F15EE9-6A2F-4850-A112-9C06ECE99432}" dt="2026-02-24T07:53:13.489" v="1" actId="164"/>
          <ac:spMkLst>
            <pc:docMk/>
            <pc:sldMk cId="0" sldId="257"/>
            <ac:spMk id="7" creationId="{00000000-0000-0000-0000-000000000000}"/>
          </ac:spMkLst>
        </pc:spChg>
        <pc:spChg chg="mod">
          <ac:chgData name="So Sot" userId="88149d4b75946e7d" providerId="LiveId" clId="{04F15EE9-6A2F-4850-A112-9C06ECE99432}" dt="2026-02-24T07:53:13.489" v="1" actId="164"/>
          <ac:spMkLst>
            <pc:docMk/>
            <pc:sldMk cId="0" sldId="257"/>
            <ac:spMk id="8" creationId="{00000000-0000-0000-0000-000000000000}"/>
          </ac:spMkLst>
        </pc:spChg>
        <pc:spChg chg="mod">
          <ac:chgData name="So Sot" userId="88149d4b75946e7d" providerId="LiveId" clId="{04F15EE9-6A2F-4850-A112-9C06ECE99432}" dt="2026-02-24T07:53:13.489" v="1" actId="164"/>
          <ac:spMkLst>
            <pc:docMk/>
            <pc:sldMk cId="0" sldId="257"/>
            <ac:spMk id="9" creationId="{00000000-0000-0000-0000-000000000000}"/>
          </ac:spMkLst>
        </pc:spChg>
        <pc:spChg chg="mod">
          <ac:chgData name="So Sot" userId="88149d4b75946e7d" providerId="LiveId" clId="{04F15EE9-6A2F-4850-A112-9C06ECE99432}" dt="2026-02-24T07:53:13.489" v="1" actId="164"/>
          <ac:spMkLst>
            <pc:docMk/>
            <pc:sldMk cId="0" sldId="257"/>
            <ac:spMk id="10" creationId="{00000000-0000-0000-0000-000000000000}"/>
          </ac:spMkLst>
        </pc:spChg>
        <pc:spChg chg="mod">
          <ac:chgData name="So Sot" userId="88149d4b75946e7d" providerId="LiveId" clId="{04F15EE9-6A2F-4850-A112-9C06ECE99432}" dt="2026-02-24T07:53:13.489" v="1" actId="164"/>
          <ac:spMkLst>
            <pc:docMk/>
            <pc:sldMk cId="0" sldId="257"/>
            <ac:spMk id="11" creationId="{00000000-0000-0000-0000-000000000000}"/>
          </ac:spMkLst>
        </pc:spChg>
        <pc:spChg chg="mod">
          <ac:chgData name="So Sot" userId="88149d4b75946e7d" providerId="LiveId" clId="{04F15EE9-6A2F-4850-A112-9C06ECE99432}" dt="2026-02-24T07:53:13.489" v="1" actId="164"/>
          <ac:spMkLst>
            <pc:docMk/>
            <pc:sldMk cId="0" sldId="257"/>
            <ac:spMk id="12" creationId="{00000000-0000-0000-0000-000000000000}"/>
          </ac:spMkLst>
        </pc:spChg>
        <pc:spChg chg="mod">
          <ac:chgData name="So Sot" userId="88149d4b75946e7d" providerId="LiveId" clId="{04F15EE9-6A2F-4850-A112-9C06ECE99432}" dt="2026-02-24T07:53:13.489" v="1" actId="164"/>
          <ac:spMkLst>
            <pc:docMk/>
            <pc:sldMk cId="0" sldId="257"/>
            <ac:spMk id="13" creationId="{00000000-0000-0000-0000-000000000000}"/>
          </ac:spMkLst>
        </pc:spChg>
        <pc:spChg chg="mod">
          <ac:chgData name="So Sot" userId="88149d4b75946e7d" providerId="LiveId" clId="{04F15EE9-6A2F-4850-A112-9C06ECE99432}" dt="2026-02-24T07:53:13.489" v="1" actId="164"/>
          <ac:spMkLst>
            <pc:docMk/>
            <pc:sldMk cId="0" sldId="257"/>
            <ac:spMk id="14" creationId="{00000000-0000-0000-0000-000000000000}"/>
          </ac:spMkLst>
        </pc:spChg>
        <pc:spChg chg="mod">
          <ac:chgData name="So Sot" userId="88149d4b75946e7d" providerId="LiveId" clId="{04F15EE9-6A2F-4850-A112-9C06ECE99432}" dt="2026-02-24T07:53:13.489" v="1" actId="164"/>
          <ac:spMkLst>
            <pc:docMk/>
            <pc:sldMk cId="0" sldId="257"/>
            <ac:spMk id="15" creationId="{00000000-0000-0000-0000-000000000000}"/>
          </ac:spMkLst>
        </pc:spChg>
        <pc:spChg chg="mod">
          <ac:chgData name="So Sot" userId="88149d4b75946e7d" providerId="LiveId" clId="{04F15EE9-6A2F-4850-A112-9C06ECE99432}" dt="2026-02-24T07:53:13.489" v="1" actId="164"/>
          <ac:spMkLst>
            <pc:docMk/>
            <pc:sldMk cId="0" sldId="257"/>
            <ac:spMk id="16" creationId="{00000000-0000-0000-0000-000000000000}"/>
          </ac:spMkLst>
        </pc:spChg>
        <pc:spChg chg="mod">
          <ac:chgData name="So Sot" userId="88149d4b75946e7d" providerId="LiveId" clId="{04F15EE9-6A2F-4850-A112-9C06ECE99432}" dt="2026-02-24T07:53:13.489" v="1" actId="164"/>
          <ac:spMkLst>
            <pc:docMk/>
            <pc:sldMk cId="0" sldId="257"/>
            <ac:spMk id="17" creationId="{00000000-0000-0000-0000-000000000000}"/>
          </ac:spMkLst>
        </pc:spChg>
        <pc:spChg chg="mod">
          <ac:chgData name="So Sot" userId="88149d4b75946e7d" providerId="LiveId" clId="{04F15EE9-6A2F-4850-A112-9C06ECE99432}" dt="2026-02-24T07:53:13.489" v="1" actId="164"/>
          <ac:spMkLst>
            <pc:docMk/>
            <pc:sldMk cId="0" sldId="257"/>
            <ac:spMk id="18" creationId="{00000000-0000-0000-0000-000000000000}"/>
          </ac:spMkLst>
        </pc:spChg>
        <pc:spChg chg="mod">
          <ac:chgData name="So Sot" userId="88149d4b75946e7d" providerId="LiveId" clId="{04F15EE9-6A2F-4850-A112-9C06ECE99432}" dt="2026-02-24T07:53:13.489" v="1" actId="164"/>
          <ac:spMkLst>
            <pc:docMk/>
            <pc:sldMk cId="0" sldId="257"/>
            <ac:spMk id="19" creationId="{00000000-0000-0000-0000-000000000000}"/>
          </ac:spMkLst>
        </pc:spChg>
        <pc:spChg chg="mod">
          <ac:chgData name="So Sot" userId="88149d4b75946e7d" providerId="LiveId" clId="{04F15EE9-6A2F-4850-A112-9C06ECE99432}" dt="2026-02-24T07:53:13.489" v="1" actId="164"/>
          <ac:spMkLst>
            <pc:docMk/>
            <pc:sldMk cId="0" sldId="257"/>
            <ac:spMk id="20" creationId="{00000000-0000-0000-0000-000000000000}"/>
          </ac:spMkLst>
        </pc:spChg>
        <pc:spChg chg="mod">
          <ac:chgData name="So Sot" userId="88149d4b75946e7d" providerId="LiveId" clId="{04F15EE9-6A2F-4850-A112-9C06ECE99432}" dt="2026-02-24T07:53:13.489" v="1" actId="164"/>
          <ac:spMkLst>
            <pc:docMk/>
            <pc:sldMk cId="0" sldId="257"/>
            <ac:spMk id="21" creationId="{00000000-0000-0000-0000-000000000000}"/>
          </ac:spMkLst>
        </pc:spChg>
        <pc:spChg chg="mod">
          <ac:chgData name="So Sot" userId="88149d4b75946e7d" providerId="LiveId" clId="{04F15EE9-6A2F-4850-A112-9C06ECE99432}" dt="2026-02-24T07:53:13.489" v="1" actId="164"/>
          <ac:spMkLst>
            <pc:docMk/>
            <pc:sldMk cId="0" sldId="257"/>
            <ac:spMk id="22" creationId="{00000000-0000-0000-0000-000000000000}"/>
          </ac:spMkLst>
        </pc:spChg>
        <pc:spChg chg="mod">
          <ac:chgData name="So Sot" userId="88149d4b75946e7d" providerId="LiveId" clId="{04F15EE9-6A2F-4850-A112-9C06ECE99432}" dt="2026-02-24T07:53:13.489" v="1" actId="164"/>
          <ac:spMkLst>
            <pc:docMk/>
            <pc:sldMk cId="0" sldId="257"/>
            <ac:spMk id="23" creationId="{00000000-0000-0000-0000-000000000000}"/>
          </ac:spMkLst>
        </pc:spChg>
        <pc:spChg chg="mod">
          <ac:chgData name="So Sot" userId="88149d4b75946e7d" providerId="LiveId" clId="{04F15EE9-6A2F-4850-A112-9C06ECE99432}" dt="2026-02-24T07:53:13.489" v="1" actId="164"/>
          <ac:spMkLst>
            <pc:docMk/>
            <pc:sldMk cId="0" sldId="257"/>
            <ac:spMk id="24" creationId="{00000000-0000-0000-0000-000000000000}"/>
          </ac:spMkLst>
        </pc:spChg>
        <pc:spChg chg="mod">
          <ac:chgData name="So Sot" userId="88149d4b75946e7d" providerId="LiveId" clId="{04F15EE9-6A2F-4850-A112-9C06ECE99432}" dt="2026-02-24T07:53:13.489" v="1" actId="164"/>
          <ac:spMkLst>
            <pc:docMk/>
            <pc:sldMk cId="0" sldId="257"/>
            <ac:spMk id="25" creationId="{00000000-0000-0000-0000-000000000000}"/>
          </ac:spMkLst>
        </pc:spChg>
        <pc:spChg chg="mod">
          <ac:chgData name="So Sot" userId="88149d4b75946e7d" providerId="LiveId" clId="{04F15EE9-6A2F-4850-A112-9C06ECE99432}" dt="2026-02-24T07:53:13.489" v="1" actId="164"/>
          <ac:spMkLst>
            <pc:docMk/>
            <pc:sldMk cId="0" sldId="257"/>
            <ac:spMk id="26" creationId="{00000000-0000-0000-0000-000000000000}"/>
          </ac:spMkLst>
        </pc:spChg>
        <pc:spChg chg="mod">
          <ac:chgData name="So Sot" userId="88149d4b75946e7d" providerId="LiveId" clId="{04F15EE9-6A2F-4850-A112-9C06ECE99432}" dt="2026-02-24T07:53:13.489" v="1" actId="164"/>
          <ac:spMkLst>
            <pc:docMk/>
            <pc:sldMk cId="0" sldId="257"/>
            <ac:spMk id="27" creationId="{00000000-0000-0000-0000-000000000000}"/>
          </ac:spMkLst>
        </pc:spChg>
        <pc:spChg chg="mod">
          <ac:chgData name="So Sot" userId="88149d4b75946e7d" providerId="LiveId" clId="{04F15EE9-6A2F-4850-A112-9C06ECE99432}" dt="2026-02-24T07:53:13.489" v="1" actId="164"/>
          <ac:spMkLst>
            <pc:docMk/>
            <pc:sldMk cId="0" sldId="257"/>
            <ac:spMk id="28" creationId="{00000000-0000-0000-0000-000000000000}"/>
          </ac:spMkLst>
        </pc:spChg>
        <pc:spChg chg="mod">
          <ac:chgData name="So Sot" userId="88149d4b75946e7d" providerId="LiveId" clId="{04F15EE9-6A2F-4850-A112-9C06ECE99432}" dt="2026-02-24T07:53:13.489" v="1" actId="164"/>
          <ac:spMkLst>
            <pc:docMk/>
            <pc:sldMk cId="0" sldId="257"/>
            <ac:spMk id="29" creationId="{00000000-0000-0000-0000-000000000000}"/>
          </ac:spMkLst>
        </pc:spChg>
        <pc:grpChg chg="add mod">
          <ac:chgData name="So Sot" userId="88149d4b75946e7d" providerId="LiveId" clId="{04F15EE9-6A2F-4850-A112-9C06ECE99432}" dt="2026-02-24T07:53:13.489" v="1" actId="164"/>
          <ac:grpSpMkLst>
            <pc:docMk/>
            <pc:sldMk cId="0" sldId="257"/>
            <ac:grpSpMk id="30" creationId="{12315D7E-8B0A-C5FA-5467-65B8CF90FAC5}"/>
          </ac:grpSpMkLst>
        </pc:grpChg>
      </pc:sldChg>
    </pc:docChg>
  </pc:docChgLst>
</pc:chgInfo>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9758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committee members. My name is Sot So, and I will present my thesis on "Data Vault 2.0 Implementation for Cambodia Tax System Data Warehouse Using Medallion Architecture," supervised by Mr. Chap Chanpiseth. This research addresses the need for a modern, scalable data warehouse architecture for Cambodia's General Department of Taxation.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follows a 6-chapter structure. I will cover the background and problem statement, literature review and research gap, methodology and system architecture, implementation details across 4 data warehouse layers, results including ETL benchmarks and query performance, discussion of key insights, and conclude with future work recommendations. The defense will take approximately 20-25 minutes.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Cambodia's GDT is undergoing digital transformation with growing data volumes. Traditional approaches have limitations: Kimball's star schema is rigid — regulatory changes require costly schema modifications. Inmon's 3NF approach produces complex ETL and slow analytical queries due to many joins.
We identified 4 key challenges: schema rigidity when regulations change, limited audit trails, monolithic ETL with no error recovery, and no separation of raw data from business rules.
Data Vault 2.0 addresses all 4 challenges through its hub-satellite-link architecture. Our study has 6 objectives, including building the complete 4-layer pipeline, ETL control framework, POC evaluation, and two companion documents for reproducibility and verification.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gap is clear: most Data Vault 2.0 studies are theoretical or limited to specific domains. No published study provides an end-to-end DV2 + Medallion implementation for government tax administration.
Our 5 contributions: C1 is the first complete 4-layer implementation with 67 objects and 60 SSIS packages. C2 provides integrated ETL control with batch and step-level logging. C3 is POC evaluation addressing all 4 challenges with measurable before/after evidence on the Cambodia tax domain. C4 provides a reproducible Technical Implementation Guide for SSIS deployment. C5 provides Source Database Verification plus companion documents for full reproducibility.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theoretical foundation rests on three pillars. First, Linstedt and Olschimke's 2015 Data Vault 2.0 methodology, which defines the hub-satellite-link architecture, hash key generation using SHA-256, and insert-only loading patterns.
Second, Armbrust et al.'s 2021 Medallion Architecture with Bronze, Silver, and Gold layers providing progressive data refinement. We adapted this for SQL Server by mapping Bronze to Raw Vault, Silver to Business Vault, and Gold to Star Schema.
Third, Kimball's 34 ETL subsystems framework guides our control architecture. We combine this with DAMA data quality dimensions and watermark-based incremental loading using the MAX ModifiedDate pattern. Our contribution is integrating all three into a single framework with per-step error isolation.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4 key related studies plus our research. Yessad and Labiod in 2016 compared Inmon, Kimball, and Data Vault theoretically but had no implementation. Naamane and Jovanovic in 2016 provided empirical comparison with telecom data but without medallion architecture or a Gold layer. Vines in 2024 is the most recent, using TPC-DS benchmarks for performance evaluation but without domain-specific application. Singh in 2025 analyzed architectural resilience but remained theoretical with no hands-on implementation.
Our study is the first to combine DV2 + Medallion + ETL Control + Performance Benchmarks in a government tax domain. The key gap: no published end-to-end DV2 + Medallion for government tax administration.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architecture shows complete data flow from source to analytics. TaxSystemDB with 9 tables and 58,813 records, verified in our companion document.
SSIS packages extract through 4 layers: Staging for temporary landing, Bronze Raw Vault with Hubs, Satellites, and Links using SHA-256 hash keys, Silver Business Vault with PIT tables, Bridge tables, and derived rules, Gold Star Schema with SCD Type 2 dimensions and fact tables.
The ETL Control database orchestrates 49 steps with batch logging, step tracking, watermark management, and error handling.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Detailed object breakdown across 4 layers. Staging: 9 tables with full and incremental loading. Bronze: 9 Hubs for business keys, 9 Satellites for descriptive attributes with hash diff change detection, 5 Links for relationships.
Silver: 2 PIT tables for Point-In-Time lookups, 1 Bridge table, 3 Business Vault objects including ComplianceScore. Gold: 6 SCD Type 2 dimensions, 3 fact tables, 2 analytical views.
Total: 67 objects across 4 layers, 49 automated steps orchestrated by ETL Control Framework.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database TaxSystemDB contains 9 tables in 3 categories: 3 lookup tables for categories, structures, and activities; 3 reference tables for taxpayers, owners, and officers; and 3 transaction tables for monthly declarations, annual declarations, and payments.
The data generator script 02_TransactionData.sql produces 1,002 taxpayers across 5 categories, 4 years of data from 2020 to 2023, with 99.8% filing coverage. Total records are 58,813.
This data has been independently verified in our Source Database Verification companion document with a 12-point checklist: 10 foreign keys, 19 CHECK constraints, 35 indexes, zero orphan records across 7 relationships, zero NULLs on 8 critical columns, and unique TaxID verification.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each of our 4 key challenges to concrete POC evidence. Schema Rigidity: adding SAT_Taxpayer_Contact requires zero modifications to existing 23 objects, as demonstrated in POC 1.
Historical Tracking: Satellites maintain complete insert-only history with no destructive updates. Every change creates a new row with hash diff detection, demonstrated in POC 2.
ETL Control: 49-step pipeline with per-step error isolation. If a step fails, all prior steps are preserved and only the failed step needs re-execution, demonstrated in POC 3.
Business Rules: Silver layer derived attributes like ComplianceScore are isolated from Bronze raw data, demonstrated in POC 4.</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achievements: complete 4-layer pipeline with 67 objects and 60 SSIS packages across 6 databases. Full and incremental loading validated through POC demonstrations. All 4 challenges addressed with implementation evidence. Performance benchmarking and scalability analysis identified as future work. Three companion documents provide full reproducibility.
Three companion documents submitted: [32] Implementation Scenarios with verified SSMS screenshots for Flexibility (23/23 objects unchanged), Materialized Views (73ms to 34ms, 2.1x speedup), and Early Arriving Facts (263-second Hub-to-SAT delay, zero UPDATEs). [33] Performance Benchmarks Verification with reproducible SQL scripts and 14-point checklist. [34] Source Database Verification with 12-point checklist, all passing.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categories of future work. Short-term: integrate real GDT data, implement RBAC security, add Power BI dashboards. Medium-term: real-time CDC for near-real-time updates, Big Data scaling with columnstore indexes, implement indexed views.
Long-term: multi-source integration with customs and business registration, machine learning for fraud detection, cloud migration to Azure SQL.
Methodological priority: controlled experiment in production GDT environment with real data and user acceptance testing.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 am ready for questions.
Key numbers: 67 objects, 60 SSIS packages, 49 ETL steps across 6 databases, 4 POC demonstrations validating all challenges, 12 source database verification checks all passed, 3 companion documents for full reproducibility.
Companion documents submitted: [32] Implementation Scenarios (13 pages, 12 SSMS screenshots, verified results for Flexibility, Materialized Views, Early Arriving Facts), [33] Performance Benchmarks Verification (13 pages, reproducible SQL scripts, 14-point checklist), [34] Source Database Verification (8 pages, 12-point checklist). All SQL scripts and screenshots are independently reproducible on the GCP VM.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45"/>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7E1F0E5C-C0E9-FE42-21BC-2113AA6E0E36}"/>
              </a:ext>
            </a:extLst>
          </p:cNvPr>
          <p:cNvGrpSpPr/>
          <p:nvPr/>
        </p:nvGrpSpPr>
        <p:grpSpPr>
          <a:xfrm>
            <a:off x="0" y="0"/>
            <a:ext cx="9144000" cy="5143500"/>
            <a:chOff x="0" y="0"/>
            <a:chExt cx="9144000" cy="5143500"/>
          </a:xfrm>
        </p:grpSpPr>
        <p:sp>
          <p:nvSpPr>
            <p:cNvPr id="2" name="Shape 0"/>
            <p:cNvSpPr/>
            <p:nvPr/>
          </p:nvSpPr>
          <p:spPr>
            <a:xfrm>
              <a:off x="0" y="0"/>
              <a:ext cx="9144000" cy="73152"/>
            </a:xfrm>
            <a:prstGeom prst="rect">
              <a:avLst/>
            </a:prstGeom>
            <a:solidFill>
              <a:srgbClr val="2A9D8F"/>
            </a:solidFill>
            <a:ln/>
          </p:spPr>
        </p:sp>
        <p:sp>
          <p:nvSpPr>
            <p:cNvPr id="3" name="Shape 1"/>
            <p:cNvSpPr/>
            <p:nvPr/>
          </p:nvSpPr>
          <p:spPr>
            <a:xfrm>
              <a:off x="0" y="5070348"/>
              <a:ext cx="9144000" cy="73152"/>
            </a:xfrm>
            <a:prstGeom prst="rect">
              <a:avLst/>
            </a:prstGeom>
            <a:solidFill>
              <a:srgbClr val="2A9D8F"/>
            </a:solidFill>
            <a:ln/>
          </p:spPr>
        </p:sp>
        <p:sp>
          <p:nvSpPr>
            <p:cNvPr id="4" name="Text 2"/>
            <p:cNvSpPr/>
            <p:nvPr/>
          </p:nvSpPr>
          <p:spPr>
            <a:xfrm>
              <a:off x="457200" y="457200"/>
              <a:ext cx="8229600" cy="365760"/>
            </a:xfrm>
            <a:prstGeom prst="rect">
              <a:avLst/>
            </a:prstGeom>
            <a:noFill/>
            <a:ln/>
          </p:spPr>
          <p:txBody>
            <a:bodyPr wrap="square" rtlCol="0" anchor="ctr"/>
            <a:lstStyle/>
            <a:p>
              <a:pPr marL="0" indent="0" algn="ctr">
                <a:buNone/>
              </a:pPr>
              <a:r>
                <a:rPr lang="en-US" sz="1300" kern="0" spc="400" dirty="0">
                  <a:solidFill>
                    <a:srgbClr val="48BFA7"/>
                  </a:solidFill>
                  <a:latin typeface="Arial" pitchFamily="34" charset="0"/>
                  <a:ea typeface="Arial" pitchFamily="34" charset="-122"/>
                  <a:cs typeface="Arial" pitchFamily="34" charset="-120"/>
                </a:rPr>
                <a:t>ROYAL UNIVERSITY OF PHNOM PENH</a:t>
              </a:r>
              <a:endParaRPr lang="en-US" sz="1300" dirty="0"/>
            </a:p>
          </p:txBody>
        </p:sp>
        <p:sp>
          <p:nvSpPr>
            <p:cNvPr id="5" name="Text 3"/>
            <p:cNvSpPr/>
            <p:nvPr/>
          </p:nvSpPr>
          <p:spPr>
            <a:xfrm>
              <a:off x="457200" y="822960"/>
              <a:ext cx="8229600" cy="274320"/>
            </a:xfrm>
            <a:prstGeom prst="rect">
              <a:avLst/>
            </a:prstGeom>
            <a:noFill/>
            <a:ln/>
          </p:spPr>
          <p:txBody>
            <a:bodyPr wrap="square" rtlCol="0" anchor="ctr"/>
            <a:lstStyle/>
            <a:p>
              <a:pPr marL="0" indent="0" algn="ctr">
                <a:buNone/>
              </a:pPr>
              <a:r>
                <a:rPr lang="en-US" sz="1200" dirty="0">
                  <a:solidFill>
                    <a:srgbClr val="64748B"/>
                  </a:solidFill>
                </a:rPr>
                <a:t>Faculty of Engineering</a:t>
              </a:r>
              <a:endParaRPr lang="en-US" sz="1200" dirty="0"/>
            </a:p>
          </p:txBody>
        </p:sp>
        <p:pic>
          <p:nvPicPr>
            <p:cNvPr id="6" name="Image 0" descr="preencoded.png"/>
            <p:cNvPicPr>
              <a:picLocks noChangeAspect="1"/>
            </p:cNvPicPr>
            <p:nvPr/>
          </p:nvPicPr>
          <p:blipFill>
            <a:blip r:embed="rId3"/>
            <a:stretch>
              <a:fillRect/>
            </a:stretch>
          </p:blipFill>
          <p:spPr>
            <a:xfrm>
              <a:off x="4114800" y="1280160"/>
              <a:ext cx="914400" cy="914400"/>
            </a:xfrm>
            <a:prstGeom prst="rect">
              <a:avLst/>
            </a:prstGeom>
          </p:spPr>
        </p:pic>
        <p:sp>
          <p:nvSpPr>
            <p:cNvPr id="7" name="Text 4"/>
            <p:cNvSpPr/>
            <p:nvPr/>
          </p:nvSpPr>
          <p:spPr>
            <a:xfrm>
              <a:off x="731520" y="2286000"/>
              <a:ext cx="7680960" cy="1371600"/>
            </a:xfrm>
            <a:prstGeom prst="rect">
              <a:avLst/>
            </a:prstGeom>
            <a:noFill/>
            <a:ln/>
          </p:spPr>
          <p:txBody>
            <a:bodyPr wrap="square" rtlCol="0" anchor="ctr"/>
            <a:lstStyle/>
            <a:p>
              <a:pPr marL="0" indent="0" algn="ctr">
                <a:lnSpc>
                  <a:spcPct val="130000"/>
                </a:lnSpc>
                <a:buNone/>
              </a:pPr>
              <a:r>
                <a:rPr lang="en-US" sz="2200" b="1" dirty="0">
                  <a:solidFill>
                    <a:srgbClr val="FFFFFF"/>
                  </a:solidFill>
                  <a:latin typeface="Georgia" pitchFamily="34" charset="0"/>
                  <a:ea typeface="Georgia" pitchFamily="34" charset="-122"/>
                  <a:cs typeface="Georgia" pitchFamily="34" charset="-120"/>
                </a:rPr>
                <a:t>Data Vault 2.0 Implementation for</a:t>
              </a:r>
              <a:endParaRPr lang="en-US" sz="2200" dirty="0"/>
            </a:p>
            <a:p>
              <a:pPr marL="0" indent="0" algn="ctr">
                <a:lnSpc>
                  <a:spcPct val="130000"/>
                </a:lnSpc>
                <a:buNone/>
              </a:pPr>
              <a:r>
                <a:rPr lang="en-US" sz="2200" b="1" dirty="0">
                  <a:solidFill>
                    <a:srgbClr val="FFFFFF"/>
                  </a:solidFill>
                  <a:latin typeface="Georgia" pitchFamily="34" charset="0"/>
                  <a:ea typeface="Georgia" pitchFamily="34" charset="-122"/>
                  <a:cs typeface="Georgia" pitchFamily="34" charset="-120"/>
                </a:rPr>
                <a:t>Cambodia Tax System Data Warehouse</a:t>
              </a:r>
              <a:endParaRPr lang="en-US" sz="2200" dirty="0"/>
            </a:p>
            <a:p>
              <a:pPr marL="0" indent="0" algn="ctr">
                <a:lnSpc>
                  <a:spcPct val="130000"/>
                </a:lnSpc>
                <a:buNone/>
              </a:pPr>
              <a:r>
                <a:rPr lang="en-US" sz="2200" b="1" dirty="0">
                  <a:solidFill>
                    <a:srgbClr val="FFFFFF"/>
                  </a:solidFill>
                  <a:latin typeface="Georgia" pitchFamily="34" charset="0"/>
                  <a:ea typeface="Georgia" pitchFamily="34" charset="-122"/>
                  <a:cs typeface="Georgia" pitchFamily="34" charset="-120"/>
                </a:rPr>
                <a:t>Using Medallion Architecture</a:t>
              </a:r>
              <a:endParaRPr lang="en-US" sz="2200" dirty="0"/>
            </a:p>
          </p:txBody>
        </p:sp>
        <p:sp>
          <p:nvSpPr>
            <p:cNvPr id="8" name="Text 5"/>
            <p:cNvSpPr/>
            <p:nvPr/>
          </p:nvSpPr>
          <p:spPr>
            <a:xfrm>
              <a:off x="914400" y="3749040"/>
              <a:ext cx="7315200" cy="274320"/>
            </a:xfrm>
            <a:prstGeom prst="rect">
              <a:avLst/>
            </a:prstGeom>
            <a:noFill/>
            <a:ln/>
          </p:spPr>
          <p:txBody>
            <a:bodyPr wrap="square" rtlCol="0" anchor="ctr"/>
            <a:lstStyle/>
            <a:p>
              <a:pPr marL="0" indent="0" algn="ctr">
                <a:buNone/>
              </a:pPr>
              <a:r>
                <a:rPr lang="en-US" sz="1100" dirty="0">
                  <a:solidFill>
                    <a:srgbClr val="2A9D8F"/>
                  </a:solidFill>
                </a:rPr>
                <a:t>A Final Report — Master of Science in Data Science and Engineering</a:t>
              </a:r>
              <a:endParaRPr lang="en-US" sz="1100" dirty="0"/>
            </a:p>
          </p:txBody>
        </p:sp>
        <p:sp>
          <p:nvSpPr>
            <p:cNvPr id="9" name="Text 6"/>
            <p:cNvSpPr/>
            <p:nvPr/>
          </p:nvSpPr>
          <p:spPr>
            <a:xfrm>
              <a:off x="914400" y="4160520"/>
              <a:ext cx="3657600" cy="274320"/>
            </a:xfrm>
            <a:prstGeom prst="rect">
              <a:avLst/>
            </a:prstGeom>
            <a:noFill/>
            <a:ln/>
          </p:spPr>
          <p:txBody>
            <a:bodyPr wrap="square" rtlCol="0" anchor="ctr"/>
            <a:lstStyle/>
            <a:p>
              <a:pPr marL="0" indent="0" algn="ctr">
                <a:buNone/>
              </a:pPr>
              <a:r>
                <a:rPr lang="en-US" sz="1300" b="1" dirty="0">
                  <a:solidFill>
                    <a:srgbClr val="FFFFFF"/>
                  </a:solidFill>
                </a:rPr>
                <a:t>Mr. Sot So</a:t>
              </a:r>
              <a:endParaRPr lang="en-US" sz="1300" dirty="0"/>
            </a:p>
          </p:txBody>
        </p:sp>
        <p:sp>
          <p:nvSpPr>
            <p:cNvPr id="10" name="Text 7"/>
            <p:cNvSpPr/>
            <p:nvPr/>
          </p:nvSpPr>
          <p:spPr>
            <a:xfrm>
              <a:off x="4572000" y="4160520"/>
              <a:ext cx="3657600" cy="274320"/>
            </a:xfrm>
            <a:prstGeom prst="rect">
              <a:avLst/>
            </a:prstGeom>
            <a:noFill/>
            <a:ln/>
          </p:spPr>
          <p:txBody>
            <a:bodyPr wrap="square" rtlCol="0" anchor="ctr"/>
            <a:lstStyle/>
            <a:p>
              <a:pPr marL="0" indent="0" algn="ctr">
                <a:buNone/>
              </a:pPr>
              <a:r>
                <a:rPr lang="en-US" sz="1300" dirty="0">
                  <a:solidFill>
                    <a:srgbClr val="FFFFFF"/>
                  </a:solidFill>
                </a:rPr>
                <a:t>Supervisor: Mr. Chap Chanpiseth</a:t>
              </a:r>
              <a:endParaRPr lang="en-US" sz="1300" dirty="0"/>
            </a:p>
          </p:txBody>
        </p:sp>
        <p:sp>
          <p:nvSpPr>
            <p:cNvPr id="11" name="Text 8"/>
            <p:cNvSpPr/>
            <p:nvPr/>
          </p:nvSpPr>
          <p:spPr>
            <a:xfrm>
              <a:off x="457200" y="4617720"/>
              <a:ext cx="8229600" cy="274320"/>
            </a:xfrm>
            <a:prstGeom prst="rect">
              <a:avLst/>
            </a:prstGeom>
            <a:noFill/>
            <a:ln/>
          </p:spPr>
          <p:txBody>
            <a:bodyPr wrap="square" rtlCol="0" anchor="ctr"/>
            <a:lstStyle/>
            <a:p>
              <a:pPr marL="0" indent="0" algn="ctr">
                <a:buNone/>
              </a:pPr>
              <a:r>
                <a:rPr lang="en-US" sz="1100" dirty="0">
                  <a:solidFill>
                    <a:srgbClr val="64748B"/>
                  </a:solidFill>
                </a:rPr>
                <a:t>February 2026</a:t>
              </a:r>
              <a:endParaRPr lang="en-US" sz="1100"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A"/>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12315D7E-8B0A-C5FA-5467-65B8CF90FAC5}"/>
              </a:ext>
            </a:extLst>
          </p:cNvPr>
          <p:cNvGrpSpPr/>
          <p:nvPr/>
        </p:nvGrpSpPr>
        <p:grpSpPr>
          <a:xfrm>
            <a:off x="0" y="0"/>
            <a:ext cx="8961120" cy="5143500"/>
            <a:chOff x="0" y="0"/>
            <a:chExt cx="8961120" cy="5143500"/>
          </a:xfrm>
        </p:grpSpPr>
        <p:sp>
          <p:nvSpPr>
            <p:cNvPr id="2" name="Shape 0"/>
            <p:cNvSpPr/>
            <p:nvPr/>
          </p:nvSpPr>
          <p:spPr>
            <a:xfrm>
              <a:off x="0" y="0"/>
              <a:ext cx="54864" cy="5143500"/>
            </a:xfrm>
            <a:prstGeom prst="rect">
              <a:avLst/>
            </a:prstGeom>
            <a:solidFill>
              <a:srgbClr val="2A9D8F"/>
            </a:solidFill>
            <a:ln/>
          </p:spPr>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2 / 13</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Outline</a:t>
              </a:r>
              <a:endParaRPr lang="en-US" sz="2200" dirty="0"/>
            </a:p>
          </p:txBody>
        </p:sp>
        <p:sp>
          <p:nvSpPr>
            <p:cNvPr id="5" name="Shape 3"/>
            <p:cNvSpPr/>
            <p:nvPr/>
          </p:nvSpPr>
          <p:spPr>
            <a:xfrm>
              <a:off x="457200" y="731520"/>
              <a:ext cx="1097280" cy="36576"/>
            </a:xfrm>
            <a:prstGeom prst="rect">
              <a:avLst/>
            </a:prstGeom>
            <a:solidFill>
              <a:srgbClr val="2A9D8F"/>
            </a:solidFill>
            <a:ln/>
          </p:spPr>
        </p:sp>
        <p:sp>
          <p:nvSpPr>
            <p:cNvPr id="6" name="Shape 4"/>
            <p:cNvSpPr/>
            <p:nvPr/>
          </p:nvSpPr>
          <p:spPr>
            <a:xfrm>
              <a:off x="457200" y="1005840"/>
              <a:ext cx="8229600" cy="548640"/>
            </a:xfrm>
            <a:prstGeom prst="rect">
              <a:avLst/>
            </a:prstGeom>
            <a:solidFill>
              <a:srgbClr val="E8F4F2"/>
            </a:solidFill>
            <a:ln/>
            <a:effectLst>
              <a:outerShdw blurRad="50800" dist="25400" dir="8100000" algn="bl" rotWithShape="0">
                <a:srgbClr val="000000">
                  <a:alpha val="10000"/>
                </a:srgbClr>
              </a:outerShdw>
            </a:effectLst>
          </p:spPr>
        </p:sp>
        <p:sp>
          <p:nvSpPr>
            <p:cNvPr id="7" name="Text 5"/>
            <p:cNvSpPr/>
            <p:nvPr/>
          </p:nvSpPr>
          <p:spPr>
            <a:xfrm>
              <a:off x="548640" y="1005840"/>
              <a:ext cx="640080" cy="548640"/>
            </a:xfrm>
            <a:prstGeom prst="rect">
              <a:avLst/>
            </a:prstGeom>
            <a:noFill/>
            <a:ln/>
          </p:spPr>
          <p:txBody>
            <a:bodyPr wrap="square" rtlCol="0" anchor="ctr"/>
            <a:lstStyle/>
            <a:p>
              <a:pPr marL="0" indent="0">
                <a:buNone/>
              </a:pPr>
              <a:r>
                <a:rPr lang="en-US" sz="1300" b="1" dirty="0">
                  <a:solidFill>
                    <a:srgbClr val="2A9D8F"/>
                  </a:solidFill>
                  <a:latin typeface="Georgia" pitchFamily="34" charset="0"/>
                  <a:ea typeface="Georgia" pitchFamily="34" charset="-122"/>
                  <a:cs typeface="Georgia" pitchFamily="34" charset="-120"/>
                </a:rPr>
                <a:t>Ch 1</a:t>
              </a:r>
              <a:endParaRPr lang="en-US" sz="1300" dirty="0"/>
            </a:p>
          </p:txBody>
        </p:sp>
        <p:sp>
          <p:nvSpPr>
            <p:cNvPr id="8" name="Text 6"/>
            <p:cNvSpPr/>
            <p:nvPr/>
          </p:nvSpPr>
          <p:spPr>
            <a:xfrm>
              <a:off x="1280160" y="1005840"/>
              <a:ext cx="2011680" cy="548640"/>
            </a:xfrm>
            <a:prstGeom prst="rect">
              <a:avLst/>
            </a:prstGeom>
            <a:noFill/>
            <a:ln/>
          </p:spPr>
          <p:txBody>
            <a:bodyPr wrap="square" rtlCol="0" anchor="ctr"/>
            <a:lstStyle/>
            <a:p>
              <a:pPr marL="0" indent="0">
                <a:buNone/>
              </a:pPr>
              <a:r>
                <a:rPr lang="en-US" sz="1200" b="1" dirty="0">
                  <a:solidFill>
                    <a:srgbClr val="1B3A5C"/>
                  </a:solidFill>
                </a:rPr>
                <a:t>Introduction</a:t>
              </a:r>
              <a:endParaRPr lang="en-US" sz="1200" dirty="0"/>
            </a:p>
          </p:txBody>
        </p:sp>
        <p:sp>
          <p:nvSpPr>
            <p:cNvPr id="9" name="Text 7"/>
            <p:cNvSpPr/>
            <p:nvPr/>
          </p:nvSpPr>
          <p:spPr>
            <a:xfrm>
              <a:off x="3383280" y="1005840"/>
              <a:ext cx="5120640" cy="548640"/>
            </a:xfrm>
            <a:prstGeom prst="rect">
              <a:avLst/>
            </a:prstGeom>
            <a:noFill/>
            <a:ln/>
          </p:spPr>
          <p:txBody>
            <a:bodyPr wrap="square" rtlCol="0" anchor="ctr"/>
            <a:lstStyle/>
            <a:p>
              <a:pPr marL="0" indent="0">
                <a:buNone/>
              </a:pPr>
              <a:r>
                <a:rPr lang="en-US" sz="1050" dirty="0">
                  <a:solidFill>
                    <a:srgbClr val="64748B"/>
                  </a:solidFill>
                </a:rPr>
                <a:t>Background, Problem, Objectives, Contributions</a:t>
              </a:r>
              <a:endParaRPr lang="en-US" sz="1050" dirty="0"/>
            </a:p>
          </p:txBody>
        </p:sp>
        <p:sp>
          <p:nvSpPr>
            <p:cNvPr id="10" name="Shape 8"/>
            <p:cNvSpPr/>
            <p:nvPr/>
          </p:nvSpPr>
          <p:spPr>
            <a:xfrm>
              <a:off x="457200" y="1645920"/>
              <a:ext cx="8229600" cy="548640"/>
            </a:xfrm>
            <a:prstGeom prst="rect">
              <a:avLst/>
            </a:prstGeom>
            <a:solidFill>
              <a:srgbClr val="FFFFFF"/>
            </a:solidFill>
            <a:ln/>
            <a:effectLst>
              <a:outerShdw blurRad="50800" dist="25400" dir="8100000" algn="bl" rotWithShape="0">
                <a:srgbClr val="000000">
                  <a:alpha val="10000"/>
                </a:srgbClr>
              </a:outerShdw>
            </a:effectLst>
          </p:spPr>
        </p:sp>
        <p:sp>
          <p:nvSpPr>
            <p:cNvPr id="11" name="Text 9"/>
            <p:cNvSpPr/>
            <p:nvPr/>
          </p:nvSpPr>
          <p:spPr>
            <a:xfrm>
              <a:off x="548640" y="1645920"/>
              <a:ext cx="640080" cy="548640"/>
            </a:xfrm>
            <a:prstGeom prst="rect">
              <a:avLst/>
            </a:prstGeom>
            <a:noFill/>
            <a:ln/>
          </p:spPr>
          <p:txBody>
            <a:bodyPr wrap="square" rtlCol="0" anchor="ctr"/>
            <a:lstStyle/>
            <a:p>
              <a:pPr marL="0" indent="0">
                <a:buNone/>
              </a:pPr>
              <a:r>
                <a:rPr lang="en-US" sz="1300" b="1" dirty="0">
                  <a:solidFill>
                    <a:srgbClr val="2A9D8F"/>
                  </a:solidFill>
                  <a:latin typeface="Georgia" pitchFamily="34" charset="0"/>
                  <a:ea typeface="Georgia" pitchFamily="34" charset="-122"/>
                  <a:cs typeface="Georgia" pitchFamily="34" charset="-120"/>
                </a:rPr>
                <a:t>Ch 2</a:t>
              </a:r>
              <a:endParaRPr lang="en-US" sz="1300" dirty="0"/>
            </a:p>
          </p:txBody>
        </p:sp>
        <p:sp>
          <p:nvSpPr>
            <p:cNvPr id="12" name="Text 10"/>
            <p:cNvSpPr/>
            <p:nvPr/>
          </p:nvSpPr>
          <p:spPr>
            <a:xfrm>
              <a:off x="1280160" y="1645920"/>
              <a:ext cx="2011680" cy="548640"/>
            </a:xfrm>
            <a:prstGeom prst="rect">
              <a:avLst/>
            </a:prstGeom>
            <a:noFill/>
            <a:ln/>
          </p:spPr>
          <p:txBody>
            <a:bodyPr wrap="square" rtlCol="0" anchor="ctr"/>
            <a:lstStyle/>
            <a:p>
              <a:pPr marL="0" indent="0">
                <a:buNone/>
              </a:pPr>
              <a:r>
                <a:rPr lang="en-US" sz="1200" b="1" dirty="0">
                  <a:solidFill>
                    <a:srgbClr val="1B3A5C"/>
                  </a:solidFill>
                </a:rPr>
                <a:t>Literature Review</a:t>
              </a:r>
              <a:endParaRPr lang="en-US" sz="1200" dirty="0"/>
            </a:p>
          </p:txBody>
        </p:sp>
        <p:sp>
          <p:nvSpPr>
            <p:cNvPr id="13" name="Text 11"/>
            <p:cNvSpPr/>
            <p:nvPr/>
          </p:nvSpPr>
          <p:spPr>
            <a:xfrm>
              <a:off x="3383280" y="1645920"/>
              <a:ext cx="5120640" cy="548640"/>
            </a:xfrm>
            <a:prstGeom prst="rect">
              <a:avLst/>
            </a:prstGeom>
            <a:noFill/>
            <a:ln/>
          </p:spPr>
          <p:txBody>
            <a:bodyPr wrap="square" rtlCol="0" anchor="ctr"/>
            <a:lstStyle/>
            <a:p>
              <a:pPr marL="0" indent="0">
                <a:buNone/>
              </a:pPr>
              <a:r>
                <a:rPr lang="en-US" sz="1050" dirty="0">
                  <a:solidFill>
                    <a:srgbClr val="64748B"/>
                  </a:solidFill>
                </a:rPr>
                <a:t>DV2, Medallion, Big Data, ETL, Related Work</a:t>
              </a:r>
              <a:endParaRPr lang="en-US" sz="1050" dirty="0"/>
            </a:p>
          </p:txBody>
        </p:sp>
        <p:sp>
          <p:nvSpPr>
            <p:cNvPr id="14" name="Shape 12"/>
            <p:cNvSpPr/>
            <p:nvPr/>
          </p:nvSpPr>
          <p:spPr>
            <a:xfrm>
              <a:off x="457200" y="2286000"/>
              <a:ext cx="8229600" cy="548640"/>
            </a:xfrm>
            <a:prstGeom prst="rect">
              <a:avLst/>
            </a:prstGeom>
            <a:solidFill>
              <a:srgbClr val="E8F4F2"/>
            </a:solidFill>
            <a:ln/>
            <a:effectLst>
              <a:outerShdw blurRad="50800" dist="25400" dir="8100000" algn="bl" rotWithShape="0">
                <a:srgbClr val="000000">
                  <a:alpha val="10000"/>
                </a:srgbClr>
              </a:outerShdw>
            </a:effectLst>
          </p:spPr>
        </p:sp>
        <p:sp>
          <p:nvSpPr>
            <p:cNvPr id="15" name="Text 13"/>
            <p:cNvSpPr/>
            <p:nvPr/>
          </p:nvSpPr>
          <p:spPr>
            <a:xfrm>
              <a:off x="548640" y="2286000"/>
              <a:ext cx="640080" cy="548640"/>
            </a:xfrm>
            <a:prstGeom prst="rect">
              <a:avLst/>
            </a:prstGeom>
            <a:noFill/>
            <a:ln/>
          </p:spPr>
          <p:txBody>
            <a:bodyPr wrap="square" rtlCol="0" anchor="ctr"/>
            <a:lstStyle/>
            <a:p>
              <a:pPr marL="0" indent="0">
                <a:buNone/>
              </a:pPr>
              <a:r>
                <a:rPr lang="en-US" sz="1300" b="1" dirty="0">
                  <a:solidFill>
                    <a:srgbClr val="2A9D8F"/>
                  </a:solidFill>
                  <a:latin typeface="Georgia" pitchFamily="34" charset="0"/>
                  <a:ea typeface="Georgia" pitchFamily="34" charset="-122"/>
                  <a:cs typeface="Georgia" pitchFamily="34" charset="-120"/>
                </a:rPr>
                <a:t>Ch 3</a:t>
              </a:r>
              <a:endParaRPr lang="en-US" sz="1300" dirty="0"/>
            </a:p>
          </p:txBody>
        </p:sp>
        <p:sp>
          <p:nvSpPr>
            <p:cNvPr id="16" name="Text 14"/>
            <p:cNvSpPr/>
            <p:nvPr/>
          </p:nvSpPr>
          <p:spPr>
            <a:xfrm>
              <a:off x="1280160" y="2286000"/>
              <a:ext cx="2011680" cy="548640"/>
            </a:xfrm>
            <a:prstGeom prst="rect">
              <a:avLst/>
            </a:prstGeom>
            <a:noFill/>
            <a:ln/>
          </p:spPr>
          <p:txBody>
            <a:bodyPr wrap="square" rtlCol="0" anchor="ctr"/>
            <a:lstStyle/>
            <a:p>
              <a:pPr marL="0" indent="0">
                <a:buNone/>
              </a:pPr>
              <a:r>
                <a:rPr lang="en-US" sz="1200" b="1" dirty="0">
                  <a:solidFill>
                    <a:srgbClr val="1B3A5C"/>
                  </a:solidFill>
                </a:rPr>
                <a:t>Methodology</a:t>
              </a:r>
              <a:endParaRPr lang="en-US" sz="1200" dirty="0"/>
            </a:p>
          </p:txBody>
        </p:sp>
        <p:sp>
          <p:nvSpPr>
            <p:cNvPr id="17" name="Text 15"/>
            <p:cNvSpPr/>
            <p:nvPr/>
          </p:nvSpPr>
          <p:spPr>
            <a:xfrm>
              <a:off x="3383280" y="2286000"/>
              <a:ext cx="5120640" cy="548640"/>
            </a:xfrm>
            <a:prstGeom prst="rect">
              <a:avLst/>
            </a:prstGeom>
            <a:noFill/>
            <a:ln/>
          </p:spPr>
          <p:txBody>
            <a:bodyPr wrap="square" rtlCol="0" anchor="ctr"/>
            <a:lstStyle/>
            <a:p>
              <a:pPr marL="0" indent="0">
                <a:buNone/>
              </a:pPr>
              <a:r>
                <a:rPr lang="en-US" sz="1050" dirty="0">
                  <a:solidFill>
                    <a:srgbClr val="64748B"/>
                  </a:solidFill>
                </a:rPr>
                <a:t>System Architecture, Source Design, ETL Control</a:t>
              </a:r>
              <a:endParaRPr lang="en-US" sz="1050" dirty="0"/>
            </a:p>
          </p:txBody>
        </p:sp>
        <p:sp>
          <p:nvSpPr>
            <p:cNvPr id="18" name="Shape 16"/>
            <p:cNvSpPr/>
            <p:nvPr/>
          </p:nvSpPr>
          <p:spPr>
            <a:xfrm>
              <a:off x="457200" y="2926080"/>
              <a:ext cx="8229600" cy="548640"/>
            </a:xfrm>
            <a:prstGeom prst="rect">
              <a:avLst/>
            </a:prstGeom>
            <a:solidFill>
              <a:srgbClr val="FFFFFF"/>
            </a:solidFill>
            <a:ln/>
            <a:effectLst>
              <a:outerShdw blurRad="50800" dist="25400" dir="8100000" algn="bl" rotWithShape="0">
                <a:srgbClr val="000000">
                  <a:alpha val="10000"/>
                </a:srgbClr>
              </a:outerShdw>
            </a:effectLst>
          </p:spPr>
        </p:sp>
        <p:sp>
          <p:nvSpPr>
            <p:cNvPr id="19" name="Text 17"/>
            <p:cNvSpPr/>
            <p:nvPr/>
          </p:nvSpPr>
          <p:spPr>
            <a:xfrm>
              <a:off x="548640" y="2926080"/>
              <a:ext cx="640080" cy="548640"/>
            </a:xfrm>
            <a:prstGeom prst="rect">
              <a:avLst/>
            </a:prstGeom>
            <a:noFill/>
            <a:ln/>
          </p:spPr>
          <p:txBody>
            <a:bodyPr wrap="square" rtlCol="0" anchor="ctr"/>
            <a:lstStyle/>
            <a:p>
              <a:pPr marL="0" indent="0">
                <a:buNone/>
              </a:pPr>
              <a:r>
                <a:rPr lang="en-US" sz="1300" b="1" dirty="0">
                  <a:solidFill>
                    <a:srgbClr val="2A9D8F"/>
                  </a:solidFill>
                  <a:latin typeface="Georgia" pitchFamily="34" charset="0"/>
                  <a:ea typeface="Georgia" pitchFamily="34" charset="-122"/>
                  <a:cs typeface="Georgia" pitchFamily="34" charset="-120"/>
                </a:rPr>
                <a:t>Ch 4</a:t>
              </a:r>
              <a:endParaRPr lang="en-US" sz="1300" dirty="0"/>
            </a:p>
          </p:txBody>
        </p:sp>
        <p:sp>
          <p:nvSpPr>
            <p:cNvPr id="20" name="Text 18"/>
            <p:cNvSpPr/>
            <p:nvPr/>
          </p:nvSpPr>
          <p:spPr>
            <a:xfrm>
              <a:off x="1280160" y="2926080"/>
              <a:ext cx="2011680" cy="548640"/>
            </a:xfrm>
            <a:prstGeom prst="rect">
              <a:avLst/>
            </a:prstGeom>
            <a:noFill/>
            <a:ln/>
          </p:spPr>
          <p:txBody>
            <a:bodyPr wrap="square" rtlCol="0" anchor="ctr"/>
            <a:lstStyle/>
            <a:p>
              <a:pPr marL="0" indent="0">
                <a:buNone/>
              </a:pPr>
              <a:r>
                <a:rPr lang="en-US" sz="1200" b="1" dirty="0">
                  <a:solidFill>
                    <a:srgbClr val="1B3A5C"/>
                  </a:solidFill>
                </a:rPr>
                <a:t>Implementation</a:t>
              </a:r>
              <a:endParaRPr lang="en-US" sz="1200" dirty="0"/>
            </a:p>
          </p:txBody>
        </p:sp>
        <p:sp>
          <p:nvSpPr>
            <p:cNvPr id="21" name="Text 19"/>
            <p:cNvSpPr/>
            <p:nvPr/>
          </p:nvSpPr>
          <p:spPr>
            <a:xfrm>
              <a:off x="3383280" y="2926080"/>
              <a:ext cx="5120640" cy="548640"/>
            </a:xfrm>
            <a:prstGeom prst="rect">
              <a:avLst/>
            </a:prstGeom>
            <a:noFill/>
            <a:ln/>
          </p:spPr>
          <p:txBody>
            <a:bodyPr wrap="square" rtlCol="0" anchor="ctr"/>
            <a:lstStyle/>
            <a:p>
              <a:pPr marL="0" indent="0">
                <a:buNone/>
              </a:pPr>
              <a:r>
                <a:rPr lang="en-US" sz="1050" dirty="0">
                  <a:solidFill>
                    <a:srgbClr val="64748B"/>
                  </a:solidFill>
                </a:rPr>
                <a:t>Staging → Bronze → Silver → Gold Pipeline</a:t>
              </a:r>
              <a:endParaRPr lang="en-US" sz="1050" dirty="0"/>
            </a:p>
          </p:txBody>
        </p:sp>
        <p:sp>
          <p:nvSpPr>
            <p:cNvPr id="22" name="Shape 20"/>
            <p:cNvSpPr/>
            <p:nvPr/>
          </p:nvSpPr>
          <p:spPr>
            <a:xfrm>
              <a:off x="457200" y="3566160"/>
              <a:ext cx="8229600" cy="548640"/>
            </a:xfrm>
            <a:prstGeom prst="rect">
              <a:avLst/>
            </a:prstGeom>
            <a:solidFill>
              <a:srgbClr val="E8F4F2"/>
            </a:solidFill>
            <a:ln/>
            <a:effectLst>
              <a:outerShdw blurRad="50800" dist="25400" dir="8100000" algn="bl" rotWithShape="0">
                <a:srgbClr val="000000">
                  <a:alpha val="10000"/>
                </a:srgbClr>
              </a:outerShdw>
            </a:effectLst>
          </p:spPr>
        </p:sp>
        <p:sp>
          <p:nvSpPr>
            <p:cNvPr id="23" name="Text 21"/>
            <p:cNvSpPr/>
            <p:nvPr/>
          </p:nvSpPr>
          <p:spPr>
            <a:xfrm>
              <a:off x="548640" y="3566160"/>
              <a:ext cx="640080" cy="548640"/>
            </a:xfrm>
            <a:prstGeom prst="rect">
              <a:avLst/>
            </a:prstGeom>
            <a:noFill/>
            <a:ln/>
          </p:spPr>
          <p:txBody>
            <a:bodyPr wrap="square" rtlCol="0" anchor="ctr"/>
            <a:lstStyle/>
            <a:p>
              <a:pPr marL="0" indent="0">
                <a:buNone/>
              </a:pPr>
              <a:r>
                <a:rPr lang="en-US" sz="1300" b="1" dirty="0">
                  <a:solidFill>
                    <a:srgbClr val="2A9D8F"/>
                  </a:solidFill>
                  <a:latin typeface="Georgia" pitchFamily="34" charset="0"/>
                  <a:ea typeface="Georgia" pitchFamily="34" charset="-122"/>
                  <a:cs typeface="Georgia" pitchFamily="34" charset="-120"/>
                </a:rPr>
                <a:t>Ch 5</a:t>
              </a:r>
              <a:endParaRPr lang="en-US" sz="1300" dirty="0"/>
            </a:p>
          </p:txBody>
        </p:sp>
        <p:sp>
          <p:nvSpPr>
            <p:cNvPr id="24" name="Text 22"/>
            <p:cNvSpPr/>
            <p:nvPr/>
          </p:nvSpPr>
          <p:spPr>
            <a:xfrm>
              <a:off x="1280160" y="3566160"/>
              <a:ext cx="2011680" cy="548640"/>
            </a:xfrm>
            <a:prstGeom prst="rect">
              <a:avLst/>
            </a:prstGeom>
            <a:noFill/>
            <a:ln/>
          </p:spPr>
          <p:txBody>
            <a:bodyPr wrap="square" rtlCol="0" anchor="ctr"/>
            <a:lstStyle/>
            <a:p>
              <a:pPr marL="0" indent="0">
                <a:buNone/>
              </a:pPr>
              <a:r>
                <a:rPr lang="en-US" sz="1200" b="1" dirty="0">
                  <a:solidFill>
                    <a:srgbClr val="1B3A5C"/>
                  </a:solidFill>
                </a:rPr>
                <a:t>Results &amp; Discussion</a:t>
              </a:r>
              <a:endParaRPr lang="en-US" sz="1200" dirty="0"/>
            </a:p>
          </p:txBody>
        </p:sp>
        <p:sp>
          <p:nvSpPr>
            <p:cNvPr id="25" name="Text 23"/>
            <p:cNvSpPr/>
            <p:nvPr/>
          </p:nvSpPr>
          <p:spPr>
            <a:xfrm>
              <a:off x="3383280" y="3566160"/>
              <a:ext cx="5120640" cy="548640"/>
            </a:xfrm>
            <a:prstGeom prst="rect">
              <a:avLst/>
            </a:prstGeom>
            <a:noFill/>
            <a:ln/>
          </p:spPr>
          <p:txBody>
            <a:bodyPr wrap="square" rtlCol="0" anchor="ctr"/>
            <a:lstStyle/>
            <a:p>
              <a:pPr marL="0" indent="0">
                <a:buNone/>
              </a:pPr>
              <a:r>
                <a:rPr lang="en-US" sz="1050" dirty="0">
                  <a:solidFill>
                    <a:srgbClr val="64748B"/>
                  </a:solidFill>
                </a:rPr>
                <a:t>Benchmarks, POC Evidence, Key Insights</a:t>
              </a:r>
              <a:endParaRPr lang="en-US" sz="1050" dirty="0"/>
            </a:p>
          </p:txBody>
        </p:sp>
        <p:sp>
          <p:nvSpPr>
            <p:cNvPr id="26" name="Shape 24"/>
            <p:cNvSpPr/>
            <p:nvPr/>
          </p:nvSpPr>
          <p:spPr>
            <a:xfrm>
              <a:off x="457200" y="4206240"/>
              <a:ext cx="8229600" cy="548640"/>
            </a:xfrm>
            <a:prstGeom prst="rect">
              <a:avLst/>
            </a:prstGeom>
            <a:solidFill>
              <a:srgbClr val="FFFFFF"/>
            </a:solidFill>
            <a:ln/>
            <a:effectLst>
              <a:outerShdw blurRad="50800" dist="25400" dir="8100000" algn="bl" rotWithShape="0">
                <a:srgbClr val="000000">
                  <a:alpha val="10000"/>
                </a:srgbClr>
              </a:outerShdw>
            </a:effectLst>
          </p:spPr>
        </p:sp>
        <p:sp>
          <p:nvSpPr>
            <p:cNvPr id="27" name="Text 25"/>
            <p:cNvSpPr/>
            <p:nvPr/>
          </p:nvSpPr>
          <p:spPr>
            <a:xfrm>
              <a:off x="548640" y="4206240"/>
              <a:ext cx="640080" cy="548640"/>
            </a:xfrm>
            <a:prstGeom prst="rect">
              <a:avLst/>
            </a:prstGeom>
            <a:noFill/>
            <a:ln/>
          </p:spPr>
          <p:txBody>
            <a:bodyPr wrap="square" rtlCol="0" anchor="ctr"/>
            <a:lstStyle/>
            <a:p>
              <a:pPr marL="0" indent="0">
                <a:buNone/>
              </a:pPr>
              <a:r>
                <a:rPr lang="en-US" sz="1300" b="1" dirty="0">
                  <a:solidFill>
                    <a:srgbClr val="2A9D8F"/>
                  </a:solidFill>
                  <a:latin typeface="Georgia" pitchFamily="34" charset="0"/>
                  <a:ea typeface="Georgia" pitchFamily="34" charset="-122"/>
                  <a:cs typeface="Georgia" pitchFamily="34" charset="-120"/>
                </a:rPr>
                <a:t>Ch 6</a:t>
              </a:r>
              <a:endParaRPr lang="en-US" sz="1300" dirty="0"/>
            </a:p>
          </p:txBody>
        </p:sp>
        <p:sp>
          <p:nvSpPr>
            <p:cNvPr id="28" name="Text 26"/>
            <p:cNvSpPr/>
            <p:nvPr/>
          </p:nvSpPr>
          <p:spPr>
            <a:xfrm>
              <a:off x="1280160" y="4206240"/>
              <a:ext cx="2011680" cy="548640"/>
            </a:xfrm>
            <a:prstGeom prst="rect">
              <a:avLst/>
            </a:prstGeom>
            <a:noFill/>
            <a:ln/>
          </p:spPr>
          <p:txBody>
            <a:bodyPr wrap="square" rtlCol="0" anchor="ctr"/>
            <a:lstStyle/>
            <a:p>
              <a:pPr marL="0" indent="0">
                <a:buNone/>
              </a:pPr>
              <a:r>
                <a:rPr lang="en-US" sz="1200" b="1" dirty="0">
                  <a:solidFill>
                    <a:srgbClr val="1B3A5C"/>
                  </a:solidFill>
                </a:rPr>
                <a:t>Conclusion</a:t>
              </a:r>
              <a:endParaRPr lang="en-US" sz="1200" dirty="0"/>
            </a:p>
          </p:txBody>
        </p:sp>
        <p:sp>
          <p:nvSpPr>
            <p:cNvPr id="29" name="Text 27"/>
            <p:cNvSpPr/>
            <p:nvPr/>
          </p:nvSpPr>
          <p:spPr>
            <a:xfrm>
              <a:off x="3383280" y="4206240"/>
              <a:ext cx="5120640" cy="548640"/>
            </a:xfrm>
            <a:prstGeom prst="rect">
              <a:avLst/>
            </a:prstGeom>
            <a:noFill/>
            <a:ln/>
          </p:spPr>
          <p:txBody>
            <a:bodyPr wrap="square" rtlCol="0" anchor="ctr"/>
            <a:lstStyle/>
            <a:p>
              <a:pPr marL="0" indent="0">
                <a:buNone/>
              </a:pPr>
              <a:r>
                <a:rPr lang="en-US" sz="1050" dirty="0">
                  <a:solidFill>
                    <a:srgbClr val="64748B"/>
                  </a:solidFill>
                </a:rPr>
                <a:t>Summary, Future Work</a:t>
              </a:r>
              <a:endParaRPr lang="en-US" sz="1050"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txBody>
          <a:bodyPr/>
          <a:lstStyle/>
          <a:p>
            <a:endParaRPr/>
          </a:p>
        </p:txBody>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3 / 13</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Background &amp; Problem Statement</a:t>
            </a:r>
            <a:endParaRPr lang="en-US" sz="2200" dirty="0"/>
          </a:p>
        </p:txBody>
      </p:sp>
      <p:sp>
        <p:nvSpPr>
          <p:cNvPr id="5" name="Shape 3"/>
          <p:cNvSpPr/>
          <p:nvPr/>
        </p:nvSpPr>
        <p:spPr>
          <a:xfrm>
            <a:off x="457200" y="731520"/>
            <a:ext cx="1097280" cy="36576"/>
          </a:xfrm>
          <a:prstGeom prst="rect">
            <a:avLst/>
          </a:prstGeom>
          <a:solidFill>
            <a:srgbClr val="2A9D8F"/>
          </a:solidFill>
          <a:ln/>
        </p:spPr>
        <p:txBody>
          <a:bodyPr/>
          <a:lstStyle/>
          <a:p>
            <a:endParaRPr/>
          </a:p>
        </p:txBody>
      </p:sp>
      <p:sp>
        <p:nvSpPr>
          <p:cNvPr id="6" name="Shape 4"/>
          <p:cNvSpPr/>
          <p:nvPr/>
        </p:nvSpPr>
        <p:spPr>
          <a:xfrm>
            <a:off x="274320" y="914400"/>
            <a:ext cx="411480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7" name="Shape 5"/>
          <p:cNvSpPr/>
          <p:nvPr/>
        </p:nvSpPr>
        <p:spPr>
          <a:xfrm>
            <a:off x="274320" y="914400"/>
            <a:ext cx="54864" cy="1828800"/>
          </a:xfrm>
          <a:prstGeom prst="rect">
            <a:avLst/>
          </a:prstGeom>
          <a:solidFill>
            <a:srgbClr val="2A9D8F"/>
          </a:solidFill>
          <a:ln/>
        </p:spPr>
        <p:txBody>
          <a:bodyPr/>
          <a:lstStyle/>
          <a:p>
            <a:endParaRPr/>
          </a:p>
        </p:txBody>
      </p:sp>
      <p:sp>
        <p:nvSpPr>
          <p:cNvPr id="8" name="Text 6"/>
          <p:cNvSpPr/>
          <p:nvPr/>
        </p:nvSpPr>
        <p:spPr>
          <a:xfrm>
            <a:off x="457200" y="960120"/>
            <a:ext cx="3657600" cy="228600"/>
          </a:xfrm>
          <a:prstGeom prst="rect">
            <a:avLst/>
          </a:prstGeom>
          <a:noFill/>
          <a:ln/>
        </p:spPr>
        <p:txBody>
          <a:bodyPr wrap="square" rtlCol="0" anchor="ctr"/>
          <a:lstStyle/>
          <a:p>
            <a:pPr marL="0" indent="0">
              <a:buNone/>
            </a:pPr>
            <a:r>
              <a:rPr lang="en-US" sz="1200" b="1" dirty="0">
                <a:solidFill>
                  <a:srgbClr val="1B3A5C"/>
                </a:solidFill>
                <a:latin typeface="Georgia" pitchFamily="34" charset="0"/>
                <a:ea typeface="Georgia" pitchFamily="34" charset="-122"/>
                <a:cs typeface="Georgia" pitchFamily="34" charset="-120"/>
              </a:rPr>
              <a:t>Background</a:t>
            </a:r>
            <a:endParaRPr lang="en-US" sz="1200" dirty="0"/>
          </a:p>
        </p:txBody>
      </p:sp>
      <p:sp>
        <p:nvSpPr>
          <p:cNvPr id="9" name="Text 7"/>
          <p:cNvSpPr/>
          <p:nvPr/>
        </p:nvSpPr>
        <p:spPr>
          <a:xfrm>
            <a:off x="457200" y="1188720"/>
            <a:ext cx="3749040" cy="1417320"/>
          </a:xfrm>
          <a:prstGeom prst="rect">
            <a:avLst/>
          </a:prstGeom>
          <a:noFill/>
          <a:ln/>
        </p:spPr>
        <p:txBody>
          <a:bodyPr wrap="square" rtlCol="0" anchor="ctr"/>
          <a:lstStyle/>
          <a:p>
            <a:pPr marL="342900" indent="-342900">
              <a:spcAft>
                <a:spcPts val="200"/>
              </a:spcAft>
              <a:buSzPct val="100000"/>
              <a:buChar char="•"/>
            </a:pPr>
            <a:r>
              <a:rPr lang="en-US" sz="900" dirty="0">
                <a:solidFill>
                  <a:srgbClr val="1E293B"/>
                </a:solidFill>
              </a:rPr>
              <a:t>Cambodia GDT undergoing digital transformation</a:t>
            </a:r>
            <a:endParaRPr lang="en-US" sz="900" dirty="0"/>
          </a:p>
          <a:p>
            <a:pPr marL="342900" indent="-342900">
              <a:spcAft>
                <a:spcPts val="200"/>
              </a:spcAft>
              <a:buSzPct val="100000"/>
              <a:buChar char="•"/>
            </a:pPr>
            <a:r>
              <a:rPr lang="en-US" sz="900" dirty="0">
                <a:solidFill>
                  <a:srgbClr val="1E293B"/>
                </a:solidFill>
              </a:rPr>
              <a:t>Growing tax data volumes require enterprise DW</a:t>
            </a:r>
            <a:endParaRPr lang="en-US" sz="900" dirty="0"/>
          </a:p>
          <a:p>
            <a:pPr marL="342900" indent="-342900">
              <a:spcAft>
                <a:spcPts val="200"/>
              </a:spcAft>
              <a:buSzPct val="100000"/>
              <a:buChar char="•"/>
            </a:pPr>
            <a:r>
              <a:rPr lang="en-US" sz="900" dirty="0">
                <a:solidFill>
                  <a:srgbClr val="1E293B"/>
                </a:solidFill>
              </a:rPr>
              <a:t>Kimball star schema: rigid structure, costly schema changes</a:t>
            </a:r>
            <a:endParaRPr lang="en-US" sz="900" dirty="0"/>
          </a:p>
          <a:p>
            <a:pPr marL="342900" indent="-342900">
              <a:spcAft>
                <a:spcPts val="200"/>
              </a:spcAft>
              <a:buSzPct val="100000"/>
              <a:buChar char="•"/>
            </a:pPr>
            <a:r>
              <a:rPr lang="en-US" sz="900" dirty="0">
                <a:solidFill>
                  <a:srgbClr val="1E293B"/>
                </a:solidFill>
              </a:rPr>
              <a:t>Inmon 3NF: complex ETL, slow analytical queries</a:t>
            </a:r>
            <a:endParaRPr lang="en-US" sz="900" dirty="0"/>
          </a:p>
          <a:p>
            <a:pPr marL="342900" indent="-342900">
              <a:spcAft>
                <a:spcPts val="200"/>
              </a:spcAft>
              <a:buSzPct val="100000"/>
              <a:buChar char="•"/>
            </a:pPr>
            <a:r>
              <a:rPr lang="en-US" sz="900" b="1" dirty="0">
                <a:solidFill>
                  <a:srgbClr val="2A9D8F"/>
                </a:solidFill>
              </a:rPr>
              <a:t>Data Vault 2.0 offers agility, auditability, scalability</a:t>
            </a:r>
            <a:endParaRPr lang="en-US" sz="900" dirty="0"/>
          </a:p>
        </p:txBody>
      </p:sp>
      <p:sp>
        <p:nvSpPr>
          <p:cNvPr id="10" name="Shape 8"/>
          <p:cNvSpPr/>
          <p:nvPr/>
        </p:nvSpPr>
        <p:spPr>
          <a:xfrm>
            <a:off x="4754880" y="914400"/>
            <a:ext cx="411480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11" name="Shape 9"/>
          <p:cNvSpPr/>
          <p:nvPr/>
        </p:nvSpPr>
        <p:spPr>
          <a:xfrm>
            <a:off x="4754880" y="914400"/>
            <a:ext cx="54864" cy="1828800"/>
          </a:xfrm>
          <a:prstGeom prst="rect">
            <a:avLst/>
          </a:prstGeom>
          <a:solidFill>
            <a:srgbClr val="DC2626"/>
          </a:solidFill>
          <a:ln/>
        </p:spPr>
        <p:txBody>
          <a:bodyPr/>
          <a:lstStyle/>
          <a:p>
            <a:endParaRPr/>
          </a:p>
        </p:txBody>
      </p:sp>
      <p:sp>
        <p:nvSpPr>
          <p:cNvPr id="12" name="Text 10"/>
          <p:cNvSpPr/>
          <p:nvPr/>
        </p:nvSpPr>
        <p:spPr>
          <a:xfrm>
            <a:off x="4937760" y="960120"/>
            <a:ext cx="3657600" cy="228600"/>
          </a:xfrm>
          <a:prstGeom prst="rect">
            <a:avLst/>
          </a:prstGeom>
          <a:noFill/>
          <a:ln/>
        </p:spPr>
        <p:txBody>
          <a:bodyPr wrap="square" rtlCol="0" anchor="ctr"/>
          <a:lstStyle/>
          <a:p>
            <a:pPr marL="0" indent="0">
              <a:buNone/>
            </a:pPr>
            <a:r>
              <a:rPr lang="en-US" sz="1200" b="1" dirty="0">
                <a:solidFill>
                  <a:srgbClr val="1B3A5C"/>
                </a:solidFill>
                <a:latin typeface="Georgia" pitchFamily="34" charset="0"/>
                <a:ea typeface="Georgia" pitchFamily="34" charset="-122"/>
                <a:cs typeface="Georgia" pitchFamily="34" charset="-120"/>
              </a:rPr>
              <a:t>4 Key Challenges</a:t>
            </a:r>
            <a:endParaRPr lang="en-US" sz="1200" dirty="0"/>
          </a:p>
        </p:txBody>
      </p:sp>
      <p:sp>
        <p:nvSpPr>
          <p:cNvPr id="13" name="Text 11"/>
          <p:cNvSpPr/>
          <p:nvPr/>
        </p:nvSpPr>
        <p:spPr>
          <a:xfrm>
            <a:off x="4937760" y="1188720"/>
            <a:ext cx="3749040" cy="1417320"/>
          </a:xfrm>
          <a:prstGeom prst="rect">
            <a:avLst/>
          </a:prstGeom>
          <a:noFill/>
          <a:ln/>
        </p:spPr>
        <p:txBody>
          <a:bodyPr wrap="square" rtlCol="0" anchor="ctr"/>
          <a:lstStyle/>
          <a:p>
            <a:pPr marL="0" indent="0">
              <a:spcAft>
                <a:spcPts val="200"/>
              </a:spcAft>
              <a:buNone/>
            </a:pPr>
            <a:r>
              <a:rPr lang="en-US" sz="900" dirty="0">
                <a:solidFill>
                  <a:srgbClr val="1E293B"/>
                </a:solidFill>
              </a:rPr>
              <a:t>1. Schema Rigidity — regulatory changes break star schemas</a:t>
            </a:r>
            <a:endParaRPr lang="en-US" sz="900" dirty="0"/>
          </a:p>
          <a:p>
            <a:pPr marL="0" indent="0">
              <a:spcAft>
                <a:spcPts val="200"/>
              </a:spcAft>
              <a:buNone/>
            </a:pPr>
            <a:r>
              <a:rPr lang="en-US" sz="900" dirty="0">
                <a:solidFill>
                  <a:srgbClr val="1E293B"/>
                </a:solidFill>
              </a:rPr>
              <a:t>2. Historical Tracking — limited audit trail in Kimball SCD2</a:t>
            </a:r>
            <a:endParaRPr lang="en-US" sz="900" dirty="0"/>
          </a:p>
          <a:p>
            <a:pPr marL="0" indent="0">
              <a:spcAft>
                <a:spcPts val="200"/>
              </a:spcAft>
              <a:buNone/>
            </a:pPr>
            <a:r>
              <a:rPr lang="en-US" sz="900" dirty="0">
                <a:solidFill>
                  <a:srgbClr val="1E293B"/>
                </a:solidFill>
              </a:rPr>
              <a:t>3. Scalable ETL — monolithic pipelines, no error recovery</a:t>
            </a:r>
            <a:endParaRPr lang="en-US" sz="900" dirty="0"/>
          </a:p>
          <a:p>
            <a:pPr marL="0" indent="0">
              <a:spcAft>
                <a:spcPts val="200"/>
              </a:spcAft>
              <a:buNone/>
            </a:pPr>
            <a:r>
              <a:rPr lang="en-US" sz="900" dirty="0">
                <a:solidFill>
                  <a:srgbClr val="1E293B"/>
                </a:solidFill>
              </a:rPr>
              <a:t>4. Business Rules Gap — no separation of raw vs derived</a:t>
            </a:r>
            <a:endParaRPr lang="en-US" sz="900" dirty="0"/>
          </a:p>
          <a:p>
            <a:pPr marL="0" indent="0">
              <a:spcAft>
                <a:spcPts val="200"/>
              </a:spcAft>
              <a:buNone/>
            </a:pPr>
            <a:endParaRPr lang="en-US" sz="900" dirty="0"/>
          </a:p>
        </p:txBody>
      </p:sp>
      <p:sp>
        <p:nvSpPr>
          <p:cNvPr id="14" name="Shape 12"/>
          <p:cNvSpPr/>
          <p:nvPr/>
        </p:nvSpPr>
        <p:spPr>
          <a:xfrm>
            <a:off x="274320" y="2834640"/>
            <a:ext cx="8595360" cy="19202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15" name="Shape 13"/>
          <p:cNvSpPr/>
          <p:nvPr/>
        </p:nvSpPr>
        <p:spPr>
          <a:xfrm>
            <a:off x="274320" y="2834640"/>
            <a:ext cx="8595360" cy="54864"/>
          </a:xfrm>
          <a:prstGeom prst="rect">
            <a:avLst/>
          </a:prstGeom>
          <a:solidFill>
            <a:srgbClr val="2A9D8F"/>
          </a:solidFill>
          <a:ln/>
        </p:spPr>
        <p:txBody>
          <a:bodyPr/>
          <a:lstStyle/>
          <a:p>
            <a:endParaRPr/>
          </a:p>
        </p:txBody>
      </p:sp>
      <p:sp>
        <p:nvSpPr>
          <p:cNvPr id="16" name="Text 14"/>
          <p:cNvSpPr/>
          <p:nvPr/>
        </p:nvSpPr>
        <p:spPr>
          <a:xfrm>
            <a:off x="457200" y="2880360"/>
            <a:ext cx="3657600" cy="274320"/>
          </a:xfrm>
          <a:prstGeom prst="rect">
            <a:avLst/>
          </a:prstGeom>
          <a:noFill/>
          <a:ln/>
        </p:spPr>
        <p:txBody>
          <a:bodyPr wrap="square" rtlCol="0" anchor="ctr"/>
          <a:lstStyle/>
          <a:p>
            <a:pPr marL="0" indent="0">
              <a:buNone/>
            </a:pPr>
            <a:r>
              <a:rPr lang="en-US" sz="1200" b="1" dirty="0">
                <a:solidFill>
                  <a:srgbClr val="1B3A5C"/>
                </a:solidFill>
                <a:latin typeface="Georgia" pitchFamily="34" charset="0"/>
                <a:ea typeface="Georgia" pitchFamily="34" charset="-122"/>
                <a:cs typeface="Georgia" pitchFamily="34" charset="-120"/>
              </a:rPr>
              <a:t>Aim &amp; Objectives</a:t>
            </a:r>
            <a:endParaRPr lang="en-US" sz="1200" dirty="0"/>
          </a:p>
        </p:txBody>
      </p:sp>
      <p:sp>
        <p:nvSpPr>
          <p:cNvPr id="17" name="Text 15"/>
          <p:cNvSpPr/>
          <p:nvPr/>
        </p:nvSpPr>
        <p:spPr>
          <a:xfrm>
            <a:off x="457200" y="3200400"/>
            <a:ext cx="8229600" cy="1554480"/>
          </a:xfrm>
          <a:prstGeom prst="rect">
            <a:avLst/>
          </a:prstGeom>
          <a:noFill/>
          <a:ln/>
        </p:spPr>
        <p:txBody>
          <a:bodyPr wrap="square" rtlCol="0" anchor="ctr"/>
          <a:lstStyle/>
          <a:p>
            <a:pPr marL="0" indent="0">
              <a:spcAft>
                <a:spcPts val="500"/>
              </a:spcAft>
              <a:buNone/>
            </a:pPr>
            <a:r>
              <a:rPr lang="en-US" sz="950" dirty="0">
                <a:solidFill>
                  <a:srgbClr val="1E293B"/>
                </a:solidFill>
              </a:rPr>
              <a:t>1. Design &amp; implement complete DV2 + Medallion DW for Cambodia tax system on SQL Server</a:t>
            </a:r>
            <a:endParaRPr lang="en-US" sz="950" dirty="0"/>
          </a:p>
          <a:p>
            <a:pPr marL="0" indent="0">
              <a:spcAft>
                <a:spcPts val="500"/>
              </a:spcAft>
              <a:buNone/>
            </a:pPr>
            <a:r>
              <a:rPr lang="en-US" sz="950" dirty="0">
                <a:solidFill>
                  <a:srgbClr val="1E293B"/>
                </a:solidFill>
              </a:rPr>
              <a:t>2. Build 4-layer: Staging → Bronze (Raw Vault) → Silver (Business Vault) → Gold (Star Schema)</a:t>
            </a:r>
            <a:endParaRPr lang="en-US" sz="950" dirty="0"/>
          </a:p>
          <a:p>
            <a:pPr marL="0" indent="0">
              <a:spcAft>
                <a:spcPts val="500"/>
              </a:spcAft>
              <a:buNone/>
            </a:pPr>
            <a:r>
              <a:rPr lang="en-US" sz="950" dirty="0">
                <a:solidFill>
                  <a:srgbClr val="1E293B"/>
                </a:solidFill>
              </a:rPr>
              <a:t>3. Develop ETL control framework with batch logging, watermark incremental loading, error handling</a:t>
            </a:r>
            <a:endParaRPr lang="en-US" sz="950" dirty="0"/>
          </a:p>
          <a:p>
            <a:pPr marL="0" indent="0">
              <a:spcAft>
                <a:spcPts val="500"/>
              </a:spcAft>
              <a:buNone/>
            </a:pPr>
            <a:r>
              <a:rPr lang="en-US" sz="950" dirty="0">
                <a:solidFill>
                  <a:srgbClr val="1E293B"/>
                </a:solidFill>
              </a:rPr>
              <a:t>4. Validate architecture through POC demonstrations addressing 4 key challenges with evidence</a:t>
            </a:r>
            <a:endParaRPr lang="en-US" sz="950" dirty="0"/>
          </a:p>
          <a:p>
            <a:pPr marL="0" indent="0">
              <a:spcAft>
                <a:spcPts val="500"/>
              </a:spcAft>
              <a:buNone/>
            </a:pPr>
            <a:r>
              <a:rPr lang="en-US" sz="950" dirty="0">
                <a:solidFill>
                  <a:srgbClr val="1E293B"/>
                </a:solidFill>
              </a:rPr>
              <a:t>5. Provide reproducible Technical Implementation Guide as companion artifact</a:t>
            </a:r>
            <a:endParaRPr lang="en-US" sz="950" dirty="0"/>
          </a:p>
          <a:p>
            <a:pPr marL="0" indent="0">
              <a:spcAft>
                <a:spcPts val="500"/>
              </a:spcAft>
              <a:buNone/>
            </a:pPr>
            <a:r>
              <a:rPr lang="en-US" sz="950" dirty="0">
                <a:solidFill>
                  <a:srgbClr val="1E293B"/>
                </a:solidFill>
              </a:rPr>
              <a:t>6. Provide Source Database Verification document with evidence-based data quality validation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txBody>
          <a:bodyPr/>
          <a:lstStyle/>
          <a:p>
            <a:endParaRPr/>
          </a:p>
        </p:txBody>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4 / 13</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Research Gap &amp; Contributions</a:t>
            </a:r>
            <a:endParaRPr lang="en-US" sz="2200" dirty="0"/>
          </a:p>
        </p:txBody>
      </p:sp>
      <p:sp>
        <p:nvSpPr>
          <p:cNvPr id="5" name="Shape 3"/>
          <p:cNvSpPr/>
          <p:nvPr/>
        </p:nvSpPr>
        <p:spPr>
          <a:xfrm>
            <a:off x="457200" y="731520"/>
            <a:ext cx="1097280" cy="36576"/>
          </a:xfrm>
          <a:prstGeom prst="rect">
            <a:avLst/>
          </a:prstGeom>
          <a:solidFill>
            <a:srgbClr val="2A9D8F"/>
          </a:solidFill>
          <a:ln/>
        </p:spPr>
        <p:txBody>
          <a:bodyPr/>
          <a:lstStyle/>
          <a:p>
            <a:endParaRPr/>
          </a:p>
        </p:txBody>
      </p:sp>
      <p:sp>
        <p:nvSpPr>
          <p:cNvPr id="6" name="Shape 4"/>
          <p:cNvSpPr/>
          <p:nvPr/>
        </p:nvSpPr>
        <p:spPr>
          <a:xfrm>
            <a:off x="274320" y="914400"/>
            <a:ext cx="8595360" cy="502920"/>
          </a:xfrm>
          <a:prstGeom prst="rect">
            <a:avLst/>
          </a:prstGeom>
          <a:solidFill>
            <a:srgbClr val="FEF3C7"/>
          </a:solidFill>
          <a:ln/>
          <a:effectLst>
            <a:outerShdw blurRad="50800" dist="25400" dir="8100000" algn="bl" rotWithShape="0">
              <a:srgbClr val="000000">
                <a:alpha val="10000"/>
              </a:srgbClr>
            </a:outerShdw>
          </a:effectLst>
        </p:spPr>
        <p:txBody>
          <a:bodyPr/>
          <a:lstStyle/>
          <a:p>
            <a:endParaRPr/>
          </a:p>
        </p:txBody>
      </p:sp>
      <p:sp>
        <p:nvSpPr>
          <p:cNvPr id="7" name="Shape 5"/>
          <p:cNvSpPr/>
          <p:nvPr/>
        </p:nvSpPr>
        <p:spPr>
          <a:xfrm>
            <a:off x="274320" y="914400"/>
            <a:ext cx="54864" cy="502920"/>
          </a:xfrm>
          <a:prstGeom prst="rect">
            <a:avLst/>
          </a:prstGeom>
          <a:solidFill>
            <a:srgbClr val="D4A843"/>
          </a:solidFill>
          <a:ln/>
        </p:spPr>
        <p:txBody>
          <a:bodyPr/>
          <a:lstStyle/>
          <a:p>
            <a:endParaRPr/>
          </a:p>
        </p:txBody>
      </p:sp>
      <p:sp>
        <p:nvSpPr>
          <p:cNvPr id="8" name="Text 6"/>
          <p:cNvSpPr/>
          <p:nvPr/>
        </p:nvSpPr>
        <p:spPr>
          <a:xfrm>
            <a:off x="457200" y="914400"/>
            <a:ext cx="8229600" cy="502920"/>
          </a:xfrm>
          <a:prstGeom prst="rect">
            <a:avLst/>
          </a:prstGeom>
          <a:noFill/>
          <a:ln/>
        </p:spPr>
        <p:txBody>
          <a:bodyPr wrap="square" rtlCol="0" anchor="ctr"/>
          <a:lstStyle/>
          <a:p>
            <a:pPr marL="0" indent="0">
              <a:buNone/>
            </a:pPr>
            <a:r>
              <a:rPr lang="en-US" sz="1000" dirty="0">
                <a:solidFill>
                  <a:srgbClr val="1E293B"/>
                </a:solidFill>
              </a:rPr>
              <a:t>Gap: Most DV2 studies are theoretical or domain-specific. No published end-to-end DV2 + Medallion implementation for government tax administration.</a:t>
            </a:r>
            <a:endParaRPr lang="en-US" sz="1000" dirty="0"/>
          </a:p>
        </p:txBody>
      </p:sp>
      <p:pic>
        <p:nvPicPr>
          <p:cNvPr id="9" name="Image 0" descr="preencoded.png"/>
          <p:cNvPicPr>
            <a:picLocks noChangeAspect="1"/>
          </p:cNvPicPr>
          <p:nvPr/>
        </p:nvPicPr>
        <p:blipFill>
          <a:blip r:embed="rId3"/>
          <a:stretch>
            <a:fillRect/>
          </a:stretch>
        </p:blipFill>
        <p:spPr>
          <a:xfrm>
            <a:off x="411480" y="1673352"/>
            <a:ext cx="228600" cy="228600"/>
          </a:xfrm>
          <a:prstGeom prst="rect">
            <a:avLst/>
          </a:prstGeom>
        </p:spPr>
      </p:pic>
      <p:sp>
        <p:nvSpPr>
          <p:cNvPr id="10" name="Text 7"/>
          <p:cNvSpPr/>
          <p:nvPr/>
        </p:nvSpPr>
        <p:spPr>
          <a:xfrm>
            <a:off x="777240" y="1600200"/>
            <a:ext cx="7955280" cy="457200"/>
          </a:xfrm>
          <a:prstGeom prst="rect">
            <a:avLst/>
          </a:prstGeom>
          <a:noFill/>
          <a:ln/>
        </p:spPr>
        <p:txBody>
          <a:bodyPr wrap="square" rtlCol="0" anchor="ctr"/>
          <a:lstStyle/>
          <a:p>
            <a:pPr marL="0" indent="0">
              <a:buNone/>
            </a:pPr>
            <a:r>
              <a:rPr lang="en-US" sz="1000" dirty="0">
                <a:solidFill>
                  <a:srgbClr val="1E293B"/>
                </a:solidFill>
              </a:rPr>
              <a:t>C1: Complete 4-layer implementation — 67 objects, 60 SSIS packages — first DV2 + Medallion for gov. tax</a:t>
            </a:r>
            <a:endParaRPr lang="en-US" sz="1000" dirty="0"/>
          </a:p>
        </p:txBody>
      </p:sp>
      <p:pic>
        <p:nvPicPr>
          <p:cNvPr id="11" name="Image 1" descr="preencoded.png"/>
          <p:cNvPicPr>
            <a:picLocks noChangeAspect="1"/>
          </p:cNvPicPr>
          <p:nvPr/>
        </p:nvPicPr>
        <p:blipFill>
          <a:blip r:embed="rId3"/>
          <a:stretch>
            <a:fillRect/>
          </a:stretch>
        </p:blipFill>
        <p:spPr>
          <a:xfrm>
            <a:off x="411480" y="2221992"/>
            <a:ext cx="228600" cy="228600"/>
          </a:xfrm>
          <a:prstGeom prst="rect">
            <a:avLst/>
          </a:prstGeom>
        </p:spPr>
      </p:pic>
      <p:sp>
        <p:nvSpPr>
          <p:cNvPr id="12" name="Text 8"/>
          <p:cNvSpPr/>
          <p:nvPr/>
        </p:nvSpPr>
        <p:spPr>
          <a:xfrm>
            <a:off x="777240" y="2148840"/>
            <a:ext cx="7955280" cy="457200"/>
          </a:xfrm>
          <a:prstGeom prst="rect">
            <a:avLst/>
          </a:prstGeom>
          <a:noFill/>
          <a:ln/>
        </p:spPr>
        <p:txBody>
          <a:bodyPr wrap="square" rtlCol="0" anchor="ctr"/>
          <a:lstStyle/>
          <a:p>
            <a:pPr marL="0" indent="0">
              <a:buNone/>
            </a:pPr>
            <a:r>
              <a:rPr lang="en-US" sz="1000" dirty="0">
                <a:solidFill>
                  <a:srgbClr val="1E293B"/>
                </a:solidFill>
              </a:rPr>
              <a:t>C2: Integrated ETL control framework with batch/step logging, watermark loading, error handling</a:t>
            </a:r>
            <a:endParaRPr lang="en-US" sz="1000" dirty="0"/>
          </a:p>
        </p:txBody>
      </p:sp>
      <p:pic>
        <p:nvPicPr>
          <p:cNvPr id="13" name="Image 2" descr="preencoded.png"/>
          <p:cNvPicPr>
            <a:picLocks noChangeAspect="1"/>
          </p:cNvPicPr>
          <p:nvPr/>
        </p:nvPicPr>
        <p:blipFill>
          <a:blip r:embed="rId3"/>
          <a:stretch>
            <a:fillRect/>
          </a:stretch>
        </p:blipFill>
        <p:spPr>
          <a:xfrm>
            <a:off x="411480" y="2770632"/>
            <a:ext cx="228600" cy="228600"/>
          </a:xfrm>
          <a:prstGeom prst="rect">
            <a:avLst/>
          </a:prstGeom>
        </p:spPr>
      </p:pic>
      <p:sp>
        <p:nvSpPr>
          <p:cNvPr id="14" name="Text 9"/>
          <p:cNvSpPr/>
          <p:nvPr/>
        </p:nvSpPr>
        <p:spPr>
          <a:xfrm>
            <a:off x="777240" y="2697480"/>
            <a:ext cx="7955280" cy="457200"/>
          </a:xfrm>
          <a:prstGeom prst="rect">
            <a:avLst/>
          </a:prstGeom>
          <a:noFill/>
          <a:ln/>
        </p:spPr>
        <p:txBody>
          <a:bodyPr wrap="square" rtlCol="0" anchor="ctr"/>
          <a:lstStyle/>
          <a:p>
            <a:pPr marL="0" indent="0">
              <a:buNone/>
            </a:pPr>
            <a:r>
              <a:rPr lang="en-US" sz="1000" dirty="0">
                <a:solidFill>
                  <a:srgbClr val="1E293B"/>
                </a:solidFill>
              </a:rPr>
              <a:t>C3: POC evaluation addressing 4 challenges with measurable before/after evidence on Cambodia tax domain</a:t>
            </a:r>
            <a:endParaRPr lang="en-US" sz="1000" dirty="0"/>
          </a:p>
        </p:txBody>
      </p:sp>
      <p:pic>
        <p:nvPicPr>
          <p:cNvPr id="15" name="Image 3" descr="preencoded.png"/>
          <p:cNvPicPr>
            <a:picLocks noChangeAspect="1"/>
          </p:cNvPicPr>
          <p:nvPr/>
        </p:nvPicPr>
        <p:blipFill>
          <a:blip r:embed="rId3"/>
          <a:stretch>
            <a:fillRect/>
          </a:stretch>
        </p:blipFill>
        <p:spPr>
          <a:xfrm>
            <a:off x="411480" y="3319272"/>
            <a:ext cx="228600" cy="228600"/>
          </a:xfrm>
          <a:prstGeom prst="rect">
            <a:avLst/>
          </a:prstGeom>
        </p:spPr>
      </p:pic>
      <p:sp>
        <p:nvSpPr>
          <p:cNvPr id="16" name="Text 10"/>
          <p:cNvSpPr/>
          <p:nvPr/>
        </p:nvSpPr>
        <p:spPr>
          <a:xfrm>
            <a:off x="777240" y="3246120"/>
            <a:ext cx="7955280" cy="457200"/>
          </a:xfrm>
          <a:prstGeom prst="rect">
            <a:avLst/>
          </a:prstGeom>
          <a:noFill/>
          <a:ln/>
        </p:spPr>
        <p:txBody>
          <a:bodyPr wrap="square" rtlCol="0" anchor="ctr"/>
          <a:lstStyle/>
          <a:p>
            <a:pPr marL="0" indent="0">
              <a:buNone/>
            </a:pPr>
            <a:r>
              <a:rPr lang="en-US" sz="1000" dirty="0">
                <a:solidFill>
                  <a:srgbClr val="1E293B"/>
                </a:solidFill>
              </a:rPr>
              <a:t>C4: Technical Implementation Guide — reproducibility artifact for SSIS deployment</a:t>
            </a:r>
            <a:endParaRPr lang="en-US" sz="1000" dirty="0"/>
          </a:p>
        </p:txBody>
      </p:sp>
      <p:pic>
        <p:nvPicPr>
          <p:cNvPr id="17" name="Image 4" descr="preencoded.png"/>
          <p:cNvPicPr>
            <a:picLocks noChangeAspect="1"/>
          </p:cNvPicPr>
          <p:nvPr/>
        </p:nvPicPr>
        <p:blipFill>
          <a:blip r:embed="rId3"/>
          <a:stretch>
            <a:fillRect/>
          </a:stretch>
        </p:blipFill>
        <p:spPr>
          <a:xfrm>
            <a:off x="411480" y="3867912"/>
            <a:ext cx="228600" cy="228600"/>
          </a:xfrm>
          <a:prstGeom prst="rect">
            <a:avLst/>
          </a:prstGeom>
        </p:spPr>
      </p:pic>
      <p:sp>
        <p:nvSpPr>
          <p:cNvPr id="18" name="Text 11"/>
          <p:cNvSpPr/>
          <p:nvPr/>
        </p:nvSpPr>
        <p:spPr>
          <a:xfrm>
            <a:off x="777240" y="3794760"/>
            <a:ext cx="7955280" cy="457200"/>
          </a:xfrm>
          <a:prstGeom prst="rect">
            <a:avLst/>
          </a:prstGeom>
          <a:noFill/>
          <a:ln/>
        </p:spPr>
        <p:txBody>
          <a:bodyPr wrap="square" rtlCol="0" anchor="ctr"/>
          <a:lstStyle/>
          <a:p>
            <a:pPr marL="0" indent="0">
              <a:buNone/>
            </a:pPr>
            <a:r>
              <a:rPr lang="en-US" sz="1000" dirty="0">
                <a:solidFill>
                  <a:srgbClr val="1E293B"/>
                </a:solidFill>
              </a:rPr>
              <a:t>C5: Source Database Verification + companion documents for full reproducibility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txBody>
          <a:bodyPr/>
          <a:lstStyle/>
          <a:p>
            <a:endParaRPr/>
          </a:p>
        </p:txBody>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5 / 13</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Literature Review</a:t>
            </a:r>
            <a:endParaRPr lang="en-US" sz="2200" dirty="0"/>
          </a:p>
        </p:txBody>
      </p:sp>
      <p:sp>
        <p:nvSpPr>
          <p:cNvPr id="5" name="Shape 3"/>
          <p:cNvSpPr/>
          <p:nvPr/>
        </p:nvSpPr>
        <p:spPr>
          <a:xfrm>
            <a:off x="457200" y="731520"/>
            <a:ext cx="1097280" cy="36576"/>
          </a:xfrm>
          <a:prstGeom prst="rect">
            <a:avLst/>
          </a:prstGeom>
          <a:solidFill>
            <a:srgbClr val="2A9D8F"/>
          </a:solidFill>
          <a:ln/>
        </p:spPr>
        <p:txBody>
          <a:bodyPr/>
          <a:lstStyle/>
          <a:p>
            <a:endParaRPr/>
          </a:p>
        </p:txBody>
      </p:sp>
      <p:sp>
        <p:nvSpPr>
          <p:cNvPr id="6" name="Shape 4"/>
          <p:cNvSpPr/>
          <p:nvPr/>
        </p:nvSpPr>
        <p:spPr>
          <a:xfrm>
            <a:off x="274320" y="914400"/>
            <a:ext cx="411480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7" name="Shape 5"/>
          <p:cNvSpPr/>
          <p:nvPr/>
        </p:nvSpPr>
        <p:spPr>
          <a:xfrm>
            <a:off x="274320" y="914400"/>
            <a:ext cx="54864" cy="1828800"/>
          </a:xfrm>
          <a:prstGeom prst="rect">
            <a:avLst/>
          </a:prstGeom>
          <a:solidFill>
            <a:srgbClr val="2A9D8F"/>
          </a:solidFill>
          <a:ln/>
        </p:spPr>
        <p:txBody>
          <a:bodyPr/>
          <a:lstStyle/>
          <a:p>
            <a:endParaRPr/>
          </a:p>
        </p:txBody>
      </p:sp>
      <p:sp>
        <p:nvSpPr>
          <p:cNvPr id="8" name="Text 6"/>
          <p:cNvSpPr/>
          <p:nvPr/>
        </p:nvSpPr>
        <p:spPr>
          <a:xfrm>
            <a:off x="457200" y="960120"/>
            <a:ext cx="3749040" cy="228600"/>
          </a:xfrm>
          <a:prstGeom prst="rect">
            <a:avLst/>
          </a:prstGeom>
          <a:noFill/>
          <a:ln/>
        </p:spPr>
        <p:txBody>
          <a:bodyPr wrap="square" rtlCol="0" anchor="ctr"/>
          <a:lstStyle/>
          <a:p>
            <a:pPr marL="0" indent="0">
              <a:buNone/>
            </a:pPr>
            <a:r>
              <a:rPr lang="en-US" sz="1100" b="1" dirty="0">
                <a:solidFill>
                  <a:srgbClr val="1B3A5C"/>
                </a:solidFill>
                <a:latin typeface="Georgia" pitchFamily="34" charset="0"/>
                <a:ea typeface="Georgia" pitchFamily="34" charset="-122"/>
                <a:cs typeface="Georgia" pitchFamily="34" charset="-120"/>
              </a:rPr>
              <a:t>Data Vault 2.0 &amp; Medallion</a:t>
            </a:r>
            <a:endParaRPr lang="en-US" sz="1100" dirty="0"/>
          </a:p>
        </p:txBody>
      </p:sp>
      <p:sp>
        <p:nvSpPr>
          <p:cNvPr id="9" name="Text 7"/>
          <p:cNvSpPr/>
          <p:nvPr/>
        </p:nvSpPr>
        <p:spPr>
          <a:xfrm>
            <a:off x="457200" y="1234440"/>
            <a:ext cx="3749040" cy="1371600"/>
          </a:xfrm>
          <a:prstGeom prst="rect">
            <a:avLst/>
          </a:prstGeom>
          <a:noFill/>
          <a:ln/>
        </p:spPr>
        <p:txBody>
          <a:bodyPr wrap="square" rtlCol="0" anchor="ctr"/>
          <a:lstStyle/>
          <a:p>
            <a:pPr marL="342900" indent="-342900">
              <a:spcAft>
                <a:spcPts val="500"/>
              </a:spcAft>
              <a:buSzPct val="100000"/>
              <a:buChar char="•"/>
            </a:pPr>
            <a:r>
              <a:rPr lang="en-US" sz="900" dirty="0">
                <a:solidFill>
                  <a:srgbClr val="1E293B"/>
                </a:solidFill>
              </a:rPr>
              <a:t>Hub/Link/Satellite separation [Linstedt, 2015]</a:t>
            </a:r>
            <a:endParaRPr lang="en-US" sz="900" dirty="0"/>
          </a:p>
          <a:p>
            <a:pPr marL="342900" indent="-342900">
              <a:spcAft>
                <a:spcPts val="500"/>
              </a:spcAft>
              <a:buSzPct val="100000"/>
              <a:buChar char="•"/>
            </a:pPr>
            <a:r>
              <a:rPr lang="en-US" sz="900" dirty="0">
                <a:solidFill>
                  <a:srgbClr val="1E293B"/>
                </a:solidFill>
              </a:rPr>
              <a:t>PIT, Bridge, Business Vault for Silver layer</a:t>
            </a:r>
            <a:endParaRPr lang="en-US" sz="900" dirty="0"/>
          </a:p>
          <a:p>
            <a:pPr marL="342900" indent="-342900">
              <a:spcAft>
                <a:spcPts val="500"/>
              </a:spcAft>
              <a:buSzPct val="100000"/>
              <a:buChar char="•"/>
            </a:pPr>
            <a:r>
              <a:rPr lang="en-US" sz="900" dirty="0">
                <a:solidFill>
                  <a:srgbClr val="1E293B"/>
                </a:solidFill>
              </a:rPr>
              <a:t>Medallion: Staging → Bronze → Silver → Gold</a:t>
            </a:r>
            <a:endParaRPr lang="en-US" sz="900" dirty="0"/>
          </a:p>
          <a:p>
            <a:pPr marL="342900" indent="-342900">
              <a:spcAft>
                <a:spcPts val="500"/>
              </a:spcAft>
              <a:buSzPct val="100000"/>
              <a:buChar char="•"/>
            </a:pPr>
            <a:r>
              <a:rPr lang="en-US" sz="900" b="1" dirty="0">
                <a:solidFill>
                  <a:srgbClr val="2A9D8F"/>
                </a:solidFill>
              </a:rPr>
              <a:t>Insert-only, hash keys, full audit trail</a:t>
            </a:r>
            <a:endParaRPr lang="en-US" sz="900" dirty="0"/>
          </a:p>
        </p:txBody>
      </p:sp>
      <p:sp>
        <p:nvSpPr>
          <p:cNvPr id="10" name="Shape 8"/>
          <p:cNvSpPr/>
          <p:nvPr/>
        </p:nvSpPr>
        <p:spPr>
          <a:xfrm>
            <a:off x="4754880" y="914400"/>
            <a:ext cx="411480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11" name="Shape 9"/>
          <p:cNvSpPr/>
          <p:nvPr/>
        </p:nvSpPr>
        <p:spPr>
          <a:xfrm>
            <a:off x="4754880" y="914400"/>
            <a:ext cx="54864" cy="1828800"/>
          </a:xfrm>
          <a:prstGeom prst="rect">
            <a:avLst/>
          </a:prstGeom>
          <a:solidFill>
            <a:srgbClr val="1B3A5C"/>
          </a:solidFill>
          <a:ln/>
        </p:spPr>
        <p:txBody>
          <a:bodyPr/>
          <a:lstStyle/>
          <a:p>
            <a:endParaRPr/>
          </a:p>
        </p:txBody>
      </p:sp>
      <p:sp>
        <p:nvSpPr>
          <p:cNvPr id="12" name="Text 10"/>
          <p:cNvSpPr/>
          <p:nvPr/>
        </p:nvSpPr>
        <p:spPr>
          <a:xfrm>
            <a:off x="4937760" y="960120"/>
            <a:ext cx="3749040" cy="228600"/>
          </a:xfrm>
          <a:prstGeom prst="rect">
            <a:avLst/>
          </a:prstGeom>
          <a:noFill/>
          <a:ln/>
        </p:spPr>
        <p:txBody>
          <a:bodyPr wrap="square" rtlCol="0" anchor="ctr"/>
          <a:lstStyle/>
          <a:p>
            <a:pPr marL="0" indent="0">
              <a:buNone/>
            </a:pPr>
            <a:r>
              <a:rPr lang="en-US" sz="1100" b="1" dirty="0">
                <a:solidFill>
                  <a:srgbClr val="1B3A5C"/>
                </a:solidFill>
                <a:latin typeface="Georgia" pitchFamily="34" charset="0"/>
                <a:ea typeface="Georgia" pitchFamily="34" charset="-122"/>
                <a:cs typeface="Georgia" pitchFamily="34" charset="-120"/>
              </a:rPr>
              <a:t>Big Data in Tax Administration</a:t>
            </a:r>
            <a:endParaRPr lang="en-US" sz="1100" dirty="0"/>
          </a:p>
        </p:txBody>
      </p:sp>
      <p:sp>
        <p:nvSpPr>
          <p:cNvPr id="13" name="Text 11"/>
          <p:cNvSpPr/>
          <p:nvPr/>
        </p:nvSpPr>
        <p:spPr>
          <a:xfrm>
            <a:off x="4937760" y="1234440"/>
            <a:ext cx="3749040" cy="1371600"/>
          </a:xfrm>
          <a:prstGeom prst="rect">
            <a:avLst/>
          </a:prstGeom>
          <a:noFill/>
          <a:ln/>
        </p:spPr>
        <p:txBody>
          <a:bodyPr wrap="square" rtlCol="0" anchor="ctr"/>
          <a:lstStyle/>
          <a:p>
            <a:pPr marL="342900" indent="-342900">
              <a:spcAft>
                <a:spcPts val="500"/>
              </a:spcAft>
              <a:buSzPct val="100000"/>
              <a:buChar char="•"/>
            </a:pPr>
            <a:r>
              <a:rPr lang="en-US" sz="900" dirty="0">
                <a:solidFill>
                  <a:srgbClr val="1E293B"/>
                </a:solidFill>
              </a:rPr>
              <a:t>5V's framework [Gandomi &amp; Haider, 2015]</a:t>
            </a:r>
            <a:endParaRPr lang="en-US" sz="900" dirty="0"/>
          </a:p>
          <a:p>
            <a:pPr marL="342900" indent="-342900">
              <a:spcAft>
                <a:spcPts val="500"/>
              </a:spcAft>
              <a:buSzPct val="100000"/>
              <a:buChar char="•"/>
            </a:pPr>
            <a:r>
              <a:rPr lang="en-US" sz="900" dirty="0">
                <a:solidFill>
                  <a:srgbClr val="1E293B"/>
                </a:solidFill>
              </a:rPr>
              <a:t>IRS, HMRC Connect, AEAT 70+ sources [CIAT, 2021]</a:t>
            </a:r>
            <a:endParaRPr lang="en-US" sz="900" dirty="0"/>
          </a:p>
          <a:p>
            <a:pPr marL="342900" indent="-342900">
              <a:spcAft>
                <a:spcPts val="500"/>
              </a:spcAft>
              <a:buSzPct val="100000"/>
              <a:buChar char="•"/>
            </a:pPr>
            <a:r>
              <a:rPr lang="en-US" sz="900" dirty="0">
                <a:solidFill>
                  <a:srgbClr val="1E293B"/>
                </a:solidFill>
              </a:rPr>
              <a:t>ML + social network analysis for fraud [Shukla, 2019]</a:t>
            </a:r>
            <a:endParaRPr lang="en-US" sz="900" dirty="0"/>
          </a:p>
          <a:p>
            <a:pPr marL="342900" indent="-342900">
              <a:spcAft>
                <a:spcPts val="500"/>
              </a:spcAft>
              <a:buSzPct val="100000"/>
              <a:buChar char="•"/>
            </a:pPr>
            <a:r>
              <a:rPr lang="en-US" sz="900" b="1" dirty="0">
                <a:solidFill>
                  <a:srgbClr val="2A9D8F"/>
                </a:solidFill>
              </a:rPr>
              <a:t>DV2 bridges Big Data ↔ DW gap</a:t>
            </a:r>
            <a:endParaRPr lang="en-US" sz="900" dirty="0"/>
          </a:p>
        </p:txBody>
      </p:sp>
      <p:sp>
        <p:nvSpPr>
          <p:cNvPr id="14" name="Shape 12"/>
          <p:cNvSpPr/>
          <p:nvPr/>
        </p:nvSpPr>
        <p:spPr>
          <a:xfrm>
            <a:off x="274320" y="2926080"/>
            <a:ext cx="8595360" cy="11887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15" name="Shape 13"/>
          <p:cNvSpPr/>
          <p:nvPr/>
        </p:nvSpPr>
        <p:spPr>
          <a:xfrm>
            <a:off x="274320" y="2926080"/>
            <a:ext cx="8595360" cy="54864"/>
          </a:xfrm>
          <a:prstGeom prst="rect">
            <a:avLst/>
          </a:prstGeom>
          <a:solidFill>
            <a:srgbClr val="2A9D8F"/>
          </a:solidFill>
          <a:ln/>
        </p:spPr>
        <p:txBody>
          <a:bodyPr/>
          <a:lstStyle/>
          <a:p>
            <a:endParaRPr/>
          </a:p>
        </p:txBody>
      </p:sp>
      <p:sp>
        <p:nvSpPr>
          <p:cNvPr id="16" name="Text 14"/>
          <p:cNvSpPr/>
          <p:nvPr/>
        </p:nvSpPr>
        <p:spPr>
          <a:xfrm>
            <a:off x="457200" y="2971800"/>
            <a:ext cx="4572000" cy="228600"/>
          </a:xfrm>
          <a:prstGeom prst="rect">
            <a:avLst/>
          </a:prstGeom>
          <a:noFill/>
          <a:ln/>
        </p:spPr>
        <p:txBody>
          <a:bodyPr wrap="square" rtlCol="0" anchor="ctr"/>
          <a:lstStyle/>
          <a:p>
            <a:pPr marL="0" indent="0">
              <a:buNone/>
            </a:pPr>
            <a:r>
              <a:rPr lang="en-US" sz="1100" b="1" dirty="0">
                <a:solidFill>
                  <a:srgbClr val="1B3A5C"/>
                </a:solidFill>
              </a:rPr>
              <a:t>ETL Frameworks &amp; Data Quality</a:t>
            </a:r>
            <a:endParaRPr lang="en-US" sz="1100" dirty="0"/>
          </a:p>
        </p:txBody>
      </p:sp>
      <p:sp>
        <p:nvSpPr>
          <p:cNvPr id="17" name="Text 15"/>
          <p:cNvSpPr/>
          <p:nvPr/>
        </p:nvSpPr>
        <p:spPr>
          <a:xfrm>
            <a:off x="457200" y="3246120"/>
            <a:ext cx="8229600" cy="777240"/>
          </a:xfrm>
          <a:prstGeom prst="rect">
            <a:avLst/>
          </a:prstGeom>
          <a:noFill/>
          <a:ln/>
        </p:spPr>
        <p:txBody>
          <a:bodyPr wrap="square" rtlCol="0" anchor="ctr"/>
          <a:lstStyle/>
          <a:p>
            <a:pPr marL="342900" indent="-342900">
              <a:spcAft>
                <a:spcPts val="300"/>
              </a:spcAft>
              <a:buSzPct val="100000"/>
              <a:buChar char="•"/>
            </a:pPr>
            <a:r>
              <a:rPr lang="en-US" sz="900" dirty="0">
                <a:solidFill>
                  <a:srgbClr val="1E293B"/>
                </a:solidFill>
              </a:rPr>
              <a:t>Kimball ETL Subsystem: 34 subsystems for enterprise ETL [Kimball &amp; Ross, 2013]</a:t>
            </a:r>
            <a:endParaRPr lang="en-US" sz="900" dirty="0"/>
          </a:p>
          <a:p>
            <a:pPr marL="342900" indent="-342900">
              <a:spcAft>
                <a:spcPts val="300"/>
              </a:spcAft>
              <a:buSzPct val="100000"/>
              <a:buChar char="•"/>
            </a:pPr>
            <a:r>
              <a:rPr lang="en-US" sz="900" dirty="0">
                <a:solidFill>
                  <a:srgbClr val="1E293B"/>
                </a:solidFill>
              </a:rPr>
              <a:t>DAMA Data Quality: Completeness, Accuracy, Consistency, Timeliness, Uniqueness, Validity</a:t>
            </a:r>
            <a:endParaRPr lang="en-US" sz="900" dirty="0"/>
          </a:p>
          <a:p>
            <a:pPr marL="342900" indent="-342900">
              <a:spcAft>
                <a:spcPts val="300"/>
              </a:spcAft>
              <a:buSzPct val="100000"/>
              <a:buChar char="•"/>
            </a:pPr>
            <a:r>
              <a:rPr lang="en-US" sz="900" dirty="0">
                <a:solidFill>
                  <a:srgbClr val="1E293B"/>
                </a:solidFill>
              </a:rPr>
              <a:t>Watermark-based incremental loading: MAX(ModifiedDate) pattern for batch ETL</a:t>
            </a:r>
            <a:endParaRPr lang="en-US" sz="900" dirty="0"/>
          </a:p>
          <a:p>
            <a:pPr marL="342900" indent="-342900">
              <a:spcAft>
                <a:spcPts val="300"/>
              </a:spcAft>
              <a:buSzPct val="100000"/>
              <a:buChar char="•"/>
            </a:pPr>
            <a:r>
              <a:rPr lang="en-US" sz="900" b="1" dirty="0">
                <a:solidFill>
                  <a:srgbClr val="2A9D8F"/>
                </a:solidFill>
              </a:rPr>
              <a:t>This study: control framework + watermark + per-step error isolation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txBody>
          <a:bodyPr/>
          <a:lstStyle/>
          <a:p>
            <a:endParaRPr/>
          </a:p>
        </p:txBody>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6 / 13</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Related Work &amp; Research Gap</a:t>
            </a:r>
            <a:endParaRPr lang="en-US" sz="2200" dirty="0"/>
          </a:p>
        </p:txBody>
      </p:sp>
      <p:sp>
        <p:nvSpPr>
          <p:cNvPr id="5" name="Shape 3"/>
          <p:cNvSpPr/>
          <p:nvPr/>
        </p:nvSpPr>
        <p:spPr>
          <a:xfrm>
            <a:off x="457200" y="731520"/>
            <a:ext cx="1097280" cy="36576"/>
          </a:xfrm>
          <a:prstGeom prst="rect">
            <a:avLst/>
          </a:prstGeom>
          <a:solidFill>
            <a:srgbClr val="2A9D8F"/>
          </a:solidFill>
          <a:ln/>
        </p:spPr>
        <p:txBody>
          <a:bodyPr/>
          <a:lstStyle/>
          <a:p>
            <a:endParaRPr/>
          </a:p>
        </p:txBody>
      </p:sp>
      <p:graphicFrame>
        <p:nvGraphicFramePr>
          <p:cNvPr id="7" name="Table 0"/>
          <p:cNvGraphicFramePr>
            <a:graphicFrameLocks noGrp="1"/>
          </p:cNvGraphicFramePr>
          <p:nvPr>
            <p:extLst>
              <p:ext uri="{D42A27DB-BD31-4B8C-83A1-F6EECF244321}">
                <p14:modId xmlns:p14="http://schemas.microsoft.com/office/powerpoint/2010/main" val="2555424238"/>
              </p:ext>
            </p:extLst>
          </p:nvPr>
        </p:nvGraphicFramePr>
        <p:xfrm>
          <a:off x="274320" y="1005840"/>
          <a:ext cx="8595360" cy="3406139"/>
        </p:xfrm>
        <a:graphic>
          <a:graphicData uri="http://schemas.openxmlformats.org/drawingml/2006/table">
            <a:tbl>
              <a:tblPr/>
              <a:tblGrid>
                <a:gridCol w="137160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468880">
                  <a:extLst>
                    <a:ext uri="{9D8B030D-6E8A-4147-A177-3AD203B41FA5}">
                      <a16:colId xmlns:a16="http://schemas.microsoft.com/office/drawing/2014/main" val="20004"/>
                    </a:ext>
                  </a:extLst>
                </a:gridCol>
              </a:tblGrid>
              <a:tr h="396699">
                <a:tc>
                  <a:txBody>
                    <a:bodyPr/>
                    <a:lstStyle/>
                    <a:p>
                      <a:pPr marL="0" indent="0" algn="ctr">
                        <a:buNone/>
                      </a:pPr>
                      <a:r>
                        <a:rPr lang="en-US" sz="850" b="1" dirty="0">
                          <a:solidFill>
                            <a:srgbClr val="FFFFFF"/>
                          </a:solidFill>
                        </a:rPr>
                        <a:t>Study</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lgn="ctr">
                        <a:buNone/>
                      </a:pPr>
                      <a:r>
                        <a:rPr lang="en-US" sz="850" b="1" dirty="0">
                          <a:solidFill>
                            <a:srgbClr val="FFFFFF"/>
                          </a:solidFill>
                        </a:rPr>
                        <a:t>Year</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lgn="ctr">
                        <a:buNone/>
                      </a:pPr>
                      <a:r>
                        <a:rPr lang="en-US" sz="850" b="1" dirty="0">
                          <a:solidFill>
                            <a:srgbClr val="FFFFFF"/>
                          </a:solidFill>
                        </a:rPr>
                        <a:t>Strengths</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lgn="ctr">
                        <a:buNone/>
                      </a:pPr>
                      <a:r>
                        <a:rPr lang="en-US" sz="850" b="1" dirty="0">
                          <a:solidFill>
                            <a:srgbClr val="FFFFFF"/>
                          </a:solidFill>
                        </a:rPr>
                        <a:t>Limitations</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lgn="ctr">
                        <a:buNone/>
                      </a:pPr>
                      <a:r>
                        <a:rPr lang="en-US" sz="850" b="1" dirty="0">
                          <a:solidFill>
                            <a:srgbClr val="FFFFFF"/>
                          </a:solidFill>
                        </a:rPr>
                        <a:t>Our Gap Fill</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601888">
                <a:tc>
                  <a:txBody>
                    <a:bodyPr/>
                    <a:lstStyle/>
                    <a:p>
                      <a:pPr marL="0" indent="0">
                        <a:buNone/>
                      </a:pPr>
                      <a:r>
                        <a:rPr lang="en-US" sz="800" b="1" dirty="0">
                          <a:solidFill>
                            <a:srgbClr val="1B3A5C"/>
                          </a:solidFill>
                        </a:rPr>
                        <a:t>Yessad &amp; Labiod</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2016</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3-way comparison</a:t>
                      </a:r>
                      <a:endParaRPr lang="en-US" sz="800" dirty="0"/>
                    </a:p>
                    <a:p>
                      <a:pPr marL="0" indent="0">
                        <a:buNone/>
                      </a:pPr>
                      <a:r>
                        <a:rPr lang="en-US" sz="800" dirty="0">
                          <a:solidFill>
                            <a:srgbClr val="1E293B"/>
                          </a:solidFill>
                        </a:rPr>
                        <a:t>(Inmon/Kimball/DV)</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DC2626"/>
                          </a:solidFill>
                        </a:rPr>
                        <a:t>No implementation;</a:t>
                      </a:r>
                      <a:endParaRPr lang="en-US" sz="800" dirty="0"/>
                    </a:p>
                    <a:p>
                      <a:pPr marL="0" indent="0">
                        <a:buNone/>
                      </a:pPr>
                      <a:r>
                        <a:rPr lang="en-US" sz="800" dirty="0">
                          <a:solidFill>
                            <a:srgbClr val="DC2626"/>
                          </a:solidFill>
                        </a:rPr>
                        <a:t>purely theoretical</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6A34A"/>
                          </a:solidFill>
                        </a:rPr>
                        <a:t>Complete impl.</a:t>
                      </a:r>
                      <a:endParaRPr lang="en-US" sz="800" dirty="0"/>
                    </a:p>
                    <a:p>
                      <a:pPr marL="0" indent="0">
                        <a:buNone/>
                      </a:pPr>
                      <a:r>
                        <a:rPr lang="en-US" sz="800" dirty="0">
                          <a:solidFill>
                            <a:srgbClr val="16A34A"/>
                          </a:solidFill>
                        </a:rPr>
                        <a:t>with POC evidence</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1888">
                <a:tc>
                  <a:txBody>
                    <a:bodyPr/>
                    <a:lstStyle/>
                    <a:p>
                      <a:pPr marL="0" indent="0">
                        <a:buNone/>
                      </a:pPr>
                      <a:r>
                        <a:rPr lang="en-US" sz="800" b="1" dirty="0">
                          <a:solidFill>
                            <a:srgbClr val="1B3A5C"/>
                          </a:solidFill>
                        </a:rPr>
                        <a:t>Naamane &amp;</a:t>
                      </a:r>
                      <a:endParaRPr lang="en-US" sz="800" dirty="0"/>
                    </a:p>
                    <a:p>
                      <a:pPr marL="0" indent="0">
                        <a:buNone/>
                      </a:pPr>
                      <a:r>
                        <a:rPr lang="en-US" sz="800" b="1" dirty="0">
                          <a:solidFill>
                            <a:srgbClr val="1B3A5C"/>
                          </a:solidFill>
                        </a:rPr>
                        <a:t>Jovanovic</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2016</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Empirical with</a:t>
                      </a:r>
                      <a:endParaRPr lang="en-US" sz="800" dirty="0"/>
                    </a:p>
                    <a:p>
                      <a:pPr marL="0" indent="0">
                        <a:buNone/>
                      </a:pPr>
                      <a:r>
                        <a:rPr lang="en-US" sz="800" dirty="0">
                          <a:solidFill>
                            <a:srgbClr val="1E293B"/>
                          </a:solidFill>
                        </a:rPr>
                        <a:t>telecom data</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DC2626"/>
                          </a:solidFill>
                        </a:rPr>
                        <a:t>No medallion arch.;</a:t>
                      </a:r>
                      <a:endParaRPr lang="en-US" sz="800" dirty="0"/>
                    </a:p>
                    <a:p>
                      <a:pPr marL="0" indent="0">
                        <a:buNone/>
                      </a:pPr>
                      <a:r>
                        <a:rPr lang="en-US" sz="800" dirty="0">
                          <a:solidFill>
                            <a:srgbClr val="DC2626"/>
                          </a:solidFill>
                        </a:rPr>
                        <a:t>no Gold layer</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6A34A"/>
                          </a:solidFill>
                        </a:rPr>
                        <a:t>4-layer medallion</a:t>
                      </a:r>
                      <a:endParaRPr lang="en-US" sz="800" dirty="0"/>
                    </a:p>
                    <a:p>
                      <a:pPr marL="0" indent="0">
                        <a:buNone/>
                      </a:pPr>
                      <a:r>
                        <a:rPr lang="en-US" sz="800" dirty="0">
                          <a:solidFill>
                            <a:srgbClr val="16A34A"/>
                          </a:solidFill>
                        </a:rPr>
                        <a:t>+ Gold star schema</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extLst>
                  <a:ext uri="{0D108BD9-81ED-4DB2-BD59-A6C34878D82A}">
                    <a16:rowId xmlns:a16="http://schemas.microsoft.com/office/drawing/2014/main" val="10002"/>
                  </a:ext>
                </a:extLst>
              </a:tr>
              <a:tr h="601888">
                <a:tc>
                  <a:txBody>
                    <a:bodyPr/>
                    <a:lstStyle/>
                    <a:p>
                      <a:pPr marL="0" indent="0">
                        <a:buNone/>
                      </a:pPr>
                      <a:r>
                        <a:rPr lang="en-US" sz="800" b="1" dirty="0">
                          <a:solidFill>
                            <a:srgbClr val="1B3A5C"/>
                          </a:solidFill>
                        </a:rPr>
                        <a:t>Vines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2024</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TPC-DS benchmark;</a:t>
                      </a:r>
                      <a:endParaRPr lang="en-US" sz="800" dirty="0"/>
                    </a:p>
                    <a:p>
                      <a:pPr marL="0" indent="0">
                        <a:buNone/>
                      </a:pPr>
                      <a:r>
                        <a:rPr lang="en-US" sz="800" dirty="0">
                          <a:solidFill>
                            <a:srgbClr val="1E293B"/>
                          </a:solidFill>
                        </a:rPr>
                        <a:t>performance focus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DC2626"/>
                          </a:solidFill>
                        </a:rPr>
                        <a:t>No domain-specific;</a:t>
                      </a:r>
                      <a:endParaRPr lang="en-US" sz="800" dirty="0"/>
                    </a:p>
                    <a:p>
                      <a:pPr marL="0" indent="0">
                        <a:buNone/>
                      </a:pPr>
                      <a:r>
                        <a:rPr lang="en-US" sz="800" dirty="0">
                          <a:solidFill>
                            <a:srgbClr val="DC2626"/>
                          </a:solidFill>
                        </a:rPr>
                        <a:t>no ETL control</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6A34A"/>
                          </a:solidFill>
                        </a:rPr>
                        <a:t>Cambodia tax domain</a:t>
                      </a:r>
                      <a:endParaRPr lang="en-US" sz="800" dirty="0"/>
                    </a:p>
                    <a:p>
                      <a:pPr marL="0" indent="0">
                        <a:buNone/>
                      </a:pPr>
                      <a:r>
                        <a:rPr lang="en-US" sz="800" dirty="0">
                          <a:solidFill>
                            <a:srgbClr val="16A34A"/>
                          </a:solidFill>
                        </a:rPr>
                        <a:t>+ ETL framework</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1888">
                <a:tc>
                  <a:txBody>
                    <a:bodyPr/>
                    <a:lstStyle/>
                    <a:p>
                      <a:pPr marL="0" indent="0">
                        <a:buNone/>
                      </a:pPr>
                      <a:r>
                        <a:rPr lang="en-US" sz="800" b="1" dirty="0">
                          <a:solidFill>
                            <a:srgbClr val="1B3A5C"/>
                          </a:solidFill>
                        </a:rPr>
                        <a:t>Singh</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2025</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Resilience &amp;</a:t>
                      </a:r>
                      <a:endParaRPr lang="en-US" sz="800" dirty="0"/>
                    </a:p>
                    <a:p>
                      <a:pPr marL="0" indent="0">
                        <a:buNone/>
                      </a:pPr>
                      <a:r>
                        <a:rPr lang="en-US" sz="800" dirty="0">
                          <a:solidFill>
                            <a:srgbClr val="1E293B"/>
                          </a:solidFill>
                        </a:rPr>
                        <a:t>adaptability</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DC2626"/>
                          </a:solidFill>
                        </a:rPr>
                        <a:t>Theoretical analysis;</a:t>
                      </a:r>
                      <a:endParaRPr lang="en-US" sz="800" dirty="0"/>
                    </a:p>
                    <a:p>
                      <a:pPr marL="0" indent="0">
                        <a:buNone/>
                      </a:pPr>
                      <a:r>
                        <a:rPr lang="en-US" sz="800" dirty="0">
                          <a:solidFill>
                            <a:srgbClr val="DC2626"/>
                          </a:solidFill>
                        </a:rPr>
                        <a:t>no implementation</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6A34A"/>
                          </a:solidFill>
                        </a:rPr>
                        <a:t>Full POC with</a:t>
                      </a:r>
                      <a:endParaRPr lang="en-US" sz="800" dirty="0"/>
                    </a:p>
                    <a:p>
                      <a:pPr marL="0" indent="0">
                        <a:buNone/>
                      </a:pPr>
                      <a:r>
                        <a:rPr lang="en-US" sz="800" dirty="0">
                          <a:solidFill>
                            <a:srgbClr val="16A34A"/>
                          </a:solidFill>
                        </a:rPr>
                        <a:t>measurable evidence</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extLst>
                  <a:ext uri="{0D108BD9-81ED-4DB2-BD59-A6C34878D82A}">
                    <a16:rowId xmlns:a16="http://schemas.microsoft.com/office/drawing/2014/main" val="10004"/>
                  </a:ext>
                </a:extLst>
              </a:tr>
              <a:tr h="601888">
                <a:tc>
                  <a:txBody>
                    <a:bodyPr/>
                    <a:lstStyle/>
                    <a:p>
                      <a:pPr marL="0" indent="0">
                        <a:buNone/>
                      </a:pPr>
                      <a:r>
                        <a:rPr lang="en-US" sz="800" b="1" dirty="0">
                          <a:solidFill>
                            <a:srgbClr val="1B3A5C"/>
                          </a:solidFill>
                        </a:rPr>
                        <a:t>This Study</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2026</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DV2 + Medallion +</a:t>
                      </a:r>
                      <a:endParaRPr lang="en-US" sz="800" dirty="0"/>
                    </a:p>
                    <a:p>
                      <a:pPr marL="0" indent="0">
                        <a:buNone/>
                      </a:pPr>
                      <a:r>
                        <a:rPr lang="en-US" sz="800" dirty="0">
                          <a:solidFill>
                            <a:srgbClr val="1E293B"/>
                          </a:solidFill>
                        </a:rPr>
                        <a:t>ETL + POC eval</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DC2626"/>
                          </a:solidFill>
                        </a:rPr>
                        <a:t>Simulated data</a:t>
                      </a:r>
                      <a:endParaRPr lang="en-US" sz="800" dirty="0"/>
                    </a:p>
                    <a:p>
                      <a:pPr marL="0" indent="0">
                        <a:buNone/>
                      </a:pPr>
                      <a:r>
                        <a:rPr lang="en-US" sz="800" dirty="0">
                          <a:solidFill>
                            <a:srgbClr val="DC2626"/>
                          </a:solidFill>
                        </a:rPr>
                        <a:t>(verified, 12-check)</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b="1" dirty="0">
                          <a:solidFill>
                            <a:srgbClr val="2A9D8F"/>
                          </a:solidFill>
                        </a:rPr>
                        <a:t>First gov. tax DV2</a:t>
                      </a:r>
                      <a:endParaRPr lang="en-US" sz="800" dirty="0"/>
                    </a:p>
                    <a:p>
                      <a:pPr marL="0" indent="0">
                        <a:buNone/>
                      </a:pPr>
                      <a:r>
                        <a:rPr lang="en-US" sz="800" b="1" dirty="0">
                          <a:solidFill>
                            <a:srgbClr val="2A9D8F"/>
                          </a:solidFill>
                        </a:rPr>
                        <a:t>end-to-end impl.</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txBody>
          <a:bodyPr/>
          <a:lstStyle/>
          <a:p>
            <a:endParaRPr/>
          </a:p>
        </p:txBody>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7 / 13</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System Architecture</a:t>
            </a:r>
            <a:endParaRPr lang="en-US" sz="2200" dirty="0"/>
          </a:p>
        </p:txBody>
      </p:sp>
      <p:sp>
        <p:nvSpPr>
          <p:cNvPr id="5" name="Shape 3"/>
          <p:cNvSpPr/>
          <p:nvPr/>
        </p:nvSpPr>
        <p:spPr>
          <a:xfrm>
            <a:off x="457200" y="731520"/>
            <a:ext cx="1097280" cy="36576"/>
          </a:xfrm>
          <a:prstGeom prst="rect">
            <a:avLst/>
          </a:prstGeom>
          <a:solidFill>
            <a:srgbClr val="2A9D8F"/>
          </a:solidFill>
          <a:ln/>
        </p:spPr>
        <p:txBody>
          <a:bodyPr/>
          <a:lstStyle/>
          <a:p>
            <a:endParaRPr/>
          </a:p>
        </p:txBody>
      </p:sp>
      <p:sp>
        <p:nvSpPr>
          <p:cNvPr id="6" name="Shape 4"/>
          <p:cNvSpPr/>
          <p:nvPr/>
        </p:nvSpPr>
        <p:spPr>
          <a:xfrm>
            <a:off x="274320" y="960120"/>
            <a:ext cx="150876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7" name="Shape 5"/>
          <p:cNvSpPr/>
          <p:nvPr/>
        </p:nvSpPr>
        <p:spPr>
          <a:xfrm>
            <a:off x="274320" y="960120"/>
            <a:ext cx="1508760" cy="365760"/>
          </a:xfrm>
          <a:prstGeom prst="rect">
            <a:avLst/>
          </a:prstGeom>
          <a:solidFill>
            <a:srgbClr val="475569"/>
          </a:solidFill>
          <a:ln/>
        </p:spPr>
        <p:txBody>
          <a:bodyPr/>
          <a:lstStyle/>
          <a:p>
            <a:endParaRPr/>
          </a:p>
        </p:txBody>
      </p:sp>
      <p:sp>
        <p:nvSpPr>
          <p:cNvPr id="8" name="Text 6"/>
          <p:cNvSpPr/>
          <p:nvPr/>
        </p:nvSpPr>
        <p:spPr>
          <a:xfrm>
            <a:off x="274320" y="960120"/>
            <a:ext cx="1508760" cy="365760"/>
          </a:xfrm>
          <a:prstGeom prst="rect">
            <a:avLst/>
          </a:prstGeom>
          <a:noFill/>
          <a:ln/>
        </p:spPr>
        <p:txBody>
          <a:bodyPr wrap="square" rtlCol="0" anchor="ctr"/>
          <a:lstStyle/>
          <a:p>
            <a:pPr marL="0" indent="0" algn="ctr">
              <a:buNone/>
            </a:pPr>
            <a:r>
              <a:rPr lang="en-US" sz="1100" b="1" dirty="0">
                <a:solidFill>
                  <a:srgbClr val="FFFFFF"/>
                </a:solidFill>
              </a:rPr>
              <a:t>Source</a:t>
            </a:r>
            <a:endParaRPr lang="en-US" sz="1100" dirty="0"/>
          </a:p>
        </p:txBody>
      </p:sp>
      <p:sp>
        <p:nvSpPr>
          <p:cNvPr id="9" name="Text 7"/>
          <p:cNvSpPr/>
          <p:nvPr/>
        </p:nvSpPr>
        <p:spPr>
          <a:xfrm>
            <a:off x="274320" y="1371600"/>
            <a:ext cx="1508760" cy="274320"/>
          </a:xfrm>
          <a:prstGeom prst="rect">
            <a:avLst/>
          </a:prstGeom>
          <a:noFill/>
          <a:ln/>
        </p:spPr>
        <p:txBody>
          <a:bodyPr wrap="square" rtlCol="0" anchor="ctr"/>
          <a:lstStyle/>
          <a:p>
            <a:pPr marL="0" indent="0" algn="ctr">
              <a:buNone/>
            </a:pPr>
            <a:r>
              <a:rPr lang="en-US" sz="850" b="1" dirty="0">
                <a:solidFill>
                  <a:srgbClr val="1B3A5C"/>
                </a:solidFill>
              </a:rPr>
              <a:t>TaxSystemDB</a:t>
            </a:r>
            <a:endParaRPr lang="en-US" sz="850" dirty="0"/>
          </a:p>
        </p:txBody>
      </p:sp>
      <p:sp>
        <p:nvSpPr>
          <p:cNvPr id="10" name="Text 8"/>
          <p:cNvSpPr/>
          <p:nvPr/>
        </p:nvSpPr>
        <p:spPr>
          <a:xfrm>
            <a:off x="320040" y="1691640"/>
            <a:ext cx="1417320" cy="914400"/>
          </a:xfrm>
          <a:prstGeom prst="rect">
            <a:avLst/>
          </a:prstGeom>
          <a:noFill/>
          <a:ln/>
        </p:spPr>
        <p:txBody>
          <a:bodyPr wrap="square" rtlCol="0" anchor="t"/>
          <a:lstStyle/>
          <a:p>
            <a:pPr marL="0" indent="0" algn="ctr">
              <a:buNone/>
            </a:pPr>
            <a:r>
              <a:rPr lang="en-US" sz="850" dirty="0">
                <a:solidFill>
                  <a:srgbClr val="64748B"/>
                </a:solidFill>
              </a:rPr>
              <a:t>9 tables</a:t>
            </a:r>
            <a:endParaRPr lang="en-US" sz="850" dirty="0"/>
          </a:p>
          <a:p>
            <a:pPr marL="0" indent="0" algn="ctr">
              <a:buNone/>
            </a:pPr>
            <a:r>
              <a:rPr lang="en-US" sz="850" dirty="0">
                <a:solidFill>
                  <a:srgbClr val="64748B"/>
                </a:solidFill>
              </a:rPr>
              <a:t>+ 3 lookups</a:t>
            </a:r>
            <a:endParaRPr lang="en-US" sz="850" dirty="0"/>
          </a:p>
        </p:txBody>
      </p:sp>
      <p:sp>
        <p:nvSpPr>
          <p:cNvPr id="11" name="Shape 9"/>
          <p:cNvSpPr/>
          <p:nvPr/>
        </p:nvSpPr>
        <p:spPr>
          <a:xfrm>
            <a:off x="1965960" y="960120"/>
            <a:ext cx="150876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12" name="Shape 10"/>
          <p:cNvSpPr/>
          <p:nvPr/>
        </p:nvSpPr>
        <p:spPr>
          <a:xfrm>
            <a:off x="1965960" y="960120"/>
            <a:ext cx="1508760" cy="365760"/>
          </a:xfrm>
          <a:prstGeom prst="rect">
            <a:avLst/>
          </a:prstGeom>
          <a:solidFill>
            <a:srgbClr val="94A3B8"/>
          </a:solidFill>
          <a:ln/>
        </p:spPr>
        <p:txBody>
          <a:bodyPr/>
          <a:lstStyle/>
          <a:p>
            <a:endParaRPr/>
          </a:p>
        </p:txBody>
      </p:sp>
      <p:sp>
        <p:nvSpPr>
          <p:cNvPr id="13" name="Text 11"/>
          <p:cNvSpPr/>
          <p:nvPr/>
        </p:nvSpPr>
        <p:spPr>
          <a:xfrm>
            <a:off x="1965960" y="960120"/>
            <a:ext cx="1508760" cy="365760"/>
          </a:xfrm>
          <a:prstGeom prst="rect">
            <a:avLst/>
          </a:prstGeom>
          <a:noFill/>
          <a:ln/>
        </p:spPr>
        <p:txBody>
          <a:bodyPr wrap="square" rtlCol="0" anchor="ctr"/>
          <a:lstStyle/>
          <a:p>
            <a:pPr marL="0" indent="0" algn="ctr">
              <a:buNone/>
            </a:pPr>
            <a:r>
              <a:rPr lang="en-US" sz="1100" b="1" dirty="0">
                <a:solidFill>
                  <a:srgbClr val="FFFFFF"/>
                </a:solidFill>
              </a:rPr>
              <a:t>Staging</a:t>
            </a:r>
            <a:endParaRPr lang="en-US" sz="1100" dirty="0"/>
          </a:p>
        </p:txBody>
      </p:sp>
      <p:sp>
        <p:nvSpPr>
          <p:cNvPr id="14" name="Text 12"/>
          <p:cNvSpPr/>
          <p:nvPr/>
        </p:nvSpPr>
        <p:spPr>
          <a:xfrm>
            <a:off x="1965960" y="1371600"/>
            <a:ext cx="1508760" cy="274320"/>
          </a:xfrm>
          <a:prstGeom prst="rect">
            <a:avLst/>
          </a:prstGeom>
          <a:noFill/>
          <a:ln/>
        </p:spPr>
        <p:txBody>
          <a:bodyPr wrap="square" rtlCol="0" anchor="ctr"/>
          <a:lstStyle/>
          <a:p>
            <a:pPr marL="0" indent="0" algn="ctr">
              <a:buNone/>
            </a:pPr>
            <a:r>
              <a:rPr lang="en-US" sz="850" b="1" dirty="0">
                <a:solidFill>
                  <a:srgbClr val="1B3A5C"/>
                </a:solidFill>
              </a:rPr>
              <a:t>DV_Staging</a:t>
            </a:r>
            <a:endParaRPr lang="en-US" sz="850" dirty="0"/>
          </a:p>
        </p:txBody>
      </p:sp>
      <p:sp>
        <p:nvSpPr>
          <p:cNvPr id="15" name="Text 13"/>
          <p:cNvSpPr/>
          <p:nvPr/>
        </p:nvSpPr>
        <p:spPr>
          <a:xfrm>
            <a:off x="2011680" y="1691640"/>
            <a:ext cx="1417320" cy="914400"/>
          </a:xfrm>
          <a:prstGeom prst="rect">
            <a:avLst/>
          </a:prstGeom>
          <a:noFill/>
          <a:ln/>
        </p:spPr>
        <p:txBody>
          <a:bodyPr wrap="square" rtlCol="0" anchor="t"/>
          <a:lstStyle/>
          <a:p>
            <a:pPr marL="0" indent="0" algn="ctr">
              <a:buNone/>
            </a:pPr>
            <a:r>
              <a:rPr lang="en-US" sz="850" dirty="0">
                <a:solidFill>
                  <a:srgbClr val="64748B"/>
                </a:solidFill>
              </a:rPr>
              <a:t>9 STG</a:t>
            </a:r>
            <a:endParaRPr lang="en-US" sz="850" dirty="0"/>
          </a:p>
          <a:p>
            <a:pPr marL="0" indent="0" algn="ctr">
              <a:buNone/>
            </a:pPr>
            <a:r>
              <a:rPr lang="en-US" sz="850" dirty="0">
                <a:solidFill>
                  <a:srgbClr val="64748B"/>
                </a:solidFill>
              </a:rPr>
              <a:t>tables</a:t>
            </a:r>
            <a:endParaRPr lang="en-US" sz="850" dirty="0"/>
          </a:p>
        </p:txBody>
      </p:sp>
      <p:sp>
        <p:nvSpPr>
          <p:cNvPr id="16" name="Shape 14"/>
          <p:cNvSpPr/>
          <p:nvPr/>
        </p:nvSpPr>
        <p:spPr>
          <a:xfrm>
            <a:off x="3657600" y="960120"/>
            <a:ext cx="150876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17" name="Shape 15"/>
          <p:cNvSpPr/>
          <p:nvPr/>
        </p:nvSpPr>
        <p:spPr>
          <a:xfrm>
            <a:off x="3657600" y="960120"/>
            <a:ext cx="1508760" cy="365760"/>
          </a:xfrm>
          <a:prstGeom prst="rect">
            <a:avLst/>
          </a:prstGeom>
          <a:solidFill>
            <a:srgbClr val="CD7F32"/>
          </a:solidFill>
          <a:ln/>
        </p:spPr>
        <p:txBody>
          <a:bodyPr/>
          <a:lstStyle/>
          <a:p>
            <a:endParaRPr/>
          </a:p>
        </p:txBody>
      </p:sp>
      <p:sp>
        <p:nvSpPr>
          <p:cNvPr id="18" name="Text 16"/>
          <p:cNvSpPr/>
          <p:nvPr/>
        </p:nvSpPr>
        <p:spPr>
          <a:xfrm>
            <a:off x="3657600" y="960120"/>
            <a:ext cx="1508760" cy="365760"/>
          </a:xfrm>
          <a:prstGeom prst="rect">
            <a:avLst/>
          </a:prstGeom>
          <a:noFill/>
          <a:ln/>
        </p:spPr>
        <p:txBody>
          <a:bodyPr wrap="square" rtlCol="0" anchor="ctr"/>
          <a:lstStyle/>
          <a:p>
            <a:pPr marL="0" indent="0" algn="ctr">
              <a:buNone/>
            </a:pPr>
            <a:r>
              <a:rPr lang="en-US" sz="1100" b="1" dirty="0">
                <a:solidFill>
                  <a:srgbClr val="FFFFFF"/>
                </a:solidFill>
              </a:rPr>
              <a:t>Bronze</a:t>
            </a:r>
            <a:endParaRPr lang="en-US" sz="1100" dirty="0"/>
          </a:p>
        </p:txBody>
      </p:sp>
      <p:sp>
        <p:nvSpPr>
          <p:cNvPr id="19" name="Text 17"/>
          <p:cNvSpPr/>
          <p:nvPr/>
        </p:nvSpPr>
        <p:spPr>
          <a:xfrm>
            <a:off x="3657600" y="1371600"/>
            <a:ext cx="1508760" cy="274320"/>
          </a:xfrm>
          <a:prstGeom prst="rect">
            <a:avLst/>
          </a:prstGeom>
          <a:noFill/>
          <a:ln/>
        </p:spPr>
        <p:txBody>
          <a:bodyPr wrap="square" rtlCol="0" anchor="ctr"/>
          <a:lstStyle/>
          <a:p>
            <a:pPr marL="0" indent="0" algn="ctr">
              <a:buNone/>
            </a:pPr>
            <a:r>
              <a:rPr lang="en-US" sz="850" b="1" dirty="0">
                <a:solidFill>
                  <a:srgbClr val="1B3A5C"/>
                </a:solidFill>
              </a:rPr>
              <a:t>DV_Bronze</a:t>
            </a:r>
            <a:endParaRPr lang="en-US" sz="850" dirty="0"/>
          </a:p>
        </p:txBody>
      </p:sp>
      <p:sp>
        <p:nvSpPr>
          <p:cNvPr id="20" name="Text 18"/>
          <p:cNvSpPr/>
          <p:nvPr/>
        </p:nvSpPr>
        <p:spPr>
          <a:xfrm>
            <a:off x="3703320" y="1691640"/>
            <a:ext cx="1417320" cy="914400"/>
          </a:xfrm>
          <a:prstGeom prst="rect">
            <a:avLst/>
          </a:prstGeom>
          <a:noFill/>
          <a:ln/>
        </p:spPr>
        <p:txBody>
          <a:bodyPr wrap="square" rtlCol="0" anchor="t"/>
          <a:lstStyle/>
          <a:p>
            <a:pPr marL="0" indent="0" algn="ctr">
              <a:buNone/>
            </a:pPr>
            <a:r>
              <a:rPr lang="en-US" sz="850" dirty="0">
                <a:solidFill>
                  <a:srgbClr val="64748B"/>
                </a:solidFill>
              </a:rPr>
              <a:t>9 Hub</a:t>
            </a:r>
            <a:endParaRPr lang="en-US" sz="850" dirty="0"/>
          </a:p>
          <a:p>
            <a:pPr marL="0" indent="0" algn="ctr">
              <a:buNone/>
            </a:pPr>
            <a:r>
              <a:rPr lang="en-US" sz="850" dirty="0">
                <a:solidFill>
                  <a:srgbClr val="64748B"/>
                </a:solidFill>
              </a:rPr>
              <a:t>9 SAT</a:t>
            </a:r>
            <a:endParaRPr lang="en-US" sz="850" dirty="0"/>
          </a:p>
          <a:p>
            <a:pPr marL="0" indent="0" algn="ctr">
              <a:buNone/>
            </a:pPr>
            <a:r>
              <a:rPr lang="en-US" sz="850" dirty="0">
                <a:solidFill>
                  <a:srgbClr val="64748B"/>
                </a:solidFill>
              </a:rPr>
              <a:t>5 Link</a:t>
            </a:r>
            <a:endParaRPr lang="en-US" sz="850" dirty="0"/>
          </a:p>
        </p:txBody>
      </p:sp>
      <p:sp>
        <p:nvSpPr>
          <p:cNvPr id="21" name="Shape 19"/>
          <p:cNvSpPr/>
          <p:nvPr/>
        </p:nvSpPr>
        <p:spPr>
          <a:xfrm>
            <a:off x="5349240" y="960120"/>
            <a:ext cx="150876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22" name="Shape 20"/>
          <p:cNvSpPr/>
          <p:nvPr/>
        </p:nvSpPr>
        <p:spPr>
          <a:xfrm>
            <a:off x="5349240" y="960120"/>
            <a:ext cx="1508760" cy="365760"/>
          </a:xfrm>
          <a:prstGeom prst="rect">
            <a:avLst/>
          </a:prstGeom>
          <a:solidFill>
            <a:srgbClr val="A8A8A8"/>
          </a:solidFill>
          <a:ln/>
        </p:spPr>
        <p:txBody>
          <a:bodyPr/>
          <a:lstStyle/>
          <a:p>
            <a:endParaRPr/>
          </a:p>
        </p:txBody>
      </p:sp>
      <p:sp>
        <p:nvSpPr>
          <p:cNvPr id="23" name="Text 21"/>
          <p:cNvSpPr/>
          <p:nvPr/>
        </p:nvSpPr>
        <p:spPr>
          <a:xfrm>
            <a:off x="5349240" y="960120"/>
            <a:ext cx="1508760" cy="365760"/>
          </a:xfrm>
          <a:prstGeom prst="rect">
            <a:avLst/>
          </a:prstGeom>
          <a:noFill/>
          <a:ln/>
        </p:spPr>
        <p:txBody>
          <a:bodyPr wrap="square" rtlCol="0" anchor="ctr"/>
          <a:lstStyle/>
          <a:p>
            <a:pPr marL="0" indent="0" algn="ctr">
              <a:buNone/>
            </a:pPr>
            <a:r>
              <a:rPr lang="en-US" sz="1100" b="1" dirty="0">
                <a:solidFill>
                  <a:srgbClr val="FFFFFF"/>
                </a:solidFill>
              </a:rPr>
              <a:t>Silver</a:t>
            </a:r>
            <a:endParaRPr lang="en-US" sz="1100" dirty="0"/>
          </a:p>
        </p:txBody>
      </p:sp>
      <p:sp>
        <p:nvSpPr>
          <p:cNvPr id="24" name="Text 22"/>
          <p:cNvSpPr/>
          <p:nvPr/>
        </p:nvSpPr>
        <p:spPr>
          <a:xfrm>
            <a:off x="5349240" y="1371600"/>
            <a:ext cx="1508760" cy="274320"/>
          </a:xfrm>
          <a:prstGeom prst="rect">
            <a:avLst/>
          </a:prstGeom>
          <a:noFill/>
          <a:ln/>
        </p:spPr>
        <p:txBody>
          <a:bodyPr wrap="square" rtlCol="0" anchor="ctr"/>
          <a:lstStyle/>
          <a:p>
            <a:pPr marL="0" indent="0" algn="ctr">
              <a:buNone/>
            </a:pPr>
            <a:r>
              <a:rPr lang="en-US" sz="850" b="1" dirty="0">
                <a:solidFill>
                  <a:srgbClr val="1B3A5C"/>
                </a:solidFill>
              </a:rPr>
              <a:t>DV_Silver</a:t>
            </a:r>
            <a:endParaRPr lang="en-US" sz="850" dirty="0"/>
          </a:p>
        </p:txBody>
      </p:sp>
      <p:sp>
        <p:nvSpPr>
          <p:cNvPr id="25" name="Text 23"/>
          <p:cNvSpPr/>
          <p:nvPr/>
        </p:nvSpPr>
        <p:spPr>
          <a:xfrm>
            <a:off x="5394960" y="1691640"/>
            <a:ext cx="1417320" cy="914400"/>
          </a:xfrm>
          <a:prstGeom prst="rect">
            <a:avLst/>
          </a:prstGeom>
          <a:noFill/>
          <a:ln/>
        </p:spPr>
        <p:txBody>
          <a:bodyPr wrap="square" rtlCol="0" anchor="t"/>
          <a:lstStyle/>
          <a:p>
            <a:pPr marL="0" indent="0" algn="ctr">
              <a:buNone/>
            </a:pPr>
            <a:r>
              <a:rPr lang="en-US" sz="850" dirty="0">
                <a:solidFill>
                  <a:srgbClr val="64748B"/>
                </a:solidFill>
              </a:rPr>
              <a:t>3 PIT</a:t>
            </a:r>
            <a:endParaRPr lang="en-US" sz="850" dirty="0"/>
          </a:p>
          <a:p>
            <a:pPr marL="0" indent="0" algn="ctr">
              <a:buNone/>
            </a:pPr>
            <a:r>
              <a:rPr lang="en-US" sz="850" dirty="0">
                <a:solidFill>
                  <a:srgbClr val="64748B"/>
                </a:solidFill>
              </a:rPr>
              <a:t>1 BRG</a:t>
            </a:r>
            <a:endParaRPr lang="en-US" sz="850" dirty="0"/>
          </a:p>
          <a:p>
            <a:pPr marL="0" indent="0" algn="ctr">
              <a:buNone/>
            </a:pPr>
            <a:r>
              <a:rPr lang="en-US" sz="850" dirty="0">
                <a:solidFill>
                  <a:srgbClr val="64748B"/>
                </a:solidFill>
              </a:rPr>
              <a:t>2 BUS</a:t>
            </a:r>
            <a:endParaRPr lang="en-US" sz="850" dirty="0"/>
          </a:p>
        </p:txBody>
      </p:sp>
      <p:sp>
        <p:nvSpPr>
          <p:cNvPr id="26" name="Shape 24"/>
          <p:cNvSpPr/>
          <p:nvPr/>
        </p:nvSpPr>
        <p:spPr>
          <a:xfrm>
            <a:off x="7040880" y="960120"/>
            <a:ext cx="150876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27" name="Shape 25"/>
          <p:cNvSpPr/>
          <p:nvPr/>
        </p:nvSpPr>
        <p:spPr>
          <a:xfrm>
            <a:off x="7040880" y="960120"/>
            <a:ext cx="1508760" cy="365760"/>
          </a:xfrm>
          <a:prstGeom prst="rect">
            <a:avLst/>
          </a:prstGeom>
          <a:solidFill>
            <a:srgbClr val="D4A843"/>
          </a:solidFill>
          <a:ln/>
        </p:spPr>
        <p:txBody>
          <a:bodyPr/>
          <a:lstStyle/>
          <a:p>
            <a:endParaRPr/>
          </a:p>
        </p:txBody>
      </p:sp>
      <p:sp>
        <p:nvSpPr>
          <p:cNvPr id="28" name="Text 26"/>
          <p:cNvSpPr/>
          <p:nvPr/>
        </p:nvSpPr>
        <p:spPr>
          <a:xfrm>
            <a:off x="7040880" y="960120"/>
            <a:ext cx="1508760" cy="365760"/>
          </a:xfrm>
          <a:prstGeom prst="rect">
            <a:avLst/>
          </a:prstGeom>
          <a:noFill/>
          <a:ln/>
        </p:spPr>
        <p:txBody>
          <a:bodyPr wrap="square" rtlCol="0" anchor="ctr"/>
          <a:lstStyle/>
          <a:p>
            <a:pPr marL="0" indent="0" algn="ctr">
              <a:buNone/>
            </a:pPr>
            <a:r>
              <a:rPr lang="en-US" sz="1100" b="1" dirty="0">
                <a:solidFill>
                  <a:srgbClr val="FFFFFF"/>
                </a:solidFill>
              </a:rPr>
              <a:t>Gold</a:t>
            </a:r>
            <a:endParaRPr lang="en-US" sz="1100" dirty="0"/>
          </a:p>
        </p:txBody>
      </p:sp>
      <p:sp>
        <p:nvSpPr>
          <p:cNvPr id="29" name="Text 27"/>
          <p:cNvSpPr/>
          <p:nvPr/>
        </p:nvSpPr>
        <p:spPr>
          <a:xfrm>
            <a:off x="7040880" y="1371600"/>
            <a:ext cx="1508760" cy="274320"/>
          </a:xfrm>
          <a:prstGeom prst="rect">
            <a:avLst/>
          </a:prstGeom>
          <a:noFill/>
          <a:ln/>
        </p:spPr>
        <p:txBody>
          <a:bodyPr wrap="square" rtlCol="0" anchor="ctr"/>
          <a:lstStyle/>
          <a:p>
            <a:pPr marL="0" indent="0" algn="ctr">
              <a:buNone/>
            </a:pPr>
            <a:r>
              <a:rPr lang="en-US" sz="850" b="1" dirty="0">
                <a:solidFill>
                  <a:srgbClr val="1B3A5C"/>
                </a:solidFill>
              </a:rPr>
              <a:t>DV_Gold</a:t>
            </a:r>
            <a:endParaRPr lang="en-US" sz="850" dirty="0"/>
          </a:p>
        </p:txBody>
      </p:sp>
      <p:sp>
        <p:nvSpPr>
          <p:cNvPr id="30" name="Text 28"/>
          <p:cNvSpPr/>
          <p:nvPr/>
        </p:nvSpPr>
        <p:spPr>
          <a:xfrm>
            <a:off x="7086600" y="1691640"/>
            <a:ext cx="1417320" cy="914400"/>
          </a:xfrm>
          <a:prstGeom prst="rect">
            <a:avLst/>
          </a:prstGeom>
          <a:noFill/>
          <a:ln/>
        </p:spPr>
        <p:txBody>
          <a:bodyPr wrap="square" rtlCol="0" anchor="t"/>
          <a:lstStyle/>
          <a:p>
            <a:pPr marL="0" indent="0" algn="ctr">
              <a:buNone/>
            </a:pPr>
            <a:r>
              <a:rPr lang="en-US" sz="850" dirty="0">
                <a:solidFill>
                  <a:srgbClr val="64748B"/>
                </a:solidFill>
              </a:rPr>
              <a:t>7 DIM</a:t>
            </a:r>
            <a:endParaRPr lang="en-US" sz="850" dirty="0"/>
          </a:p>
          <a:p>
            <a:pPr marL="0" indent="0" algn="ctr">
              <a:buNone/>
            </a:pPr>
            <a:r>
              <a:rPr lang="en-US" sz="850" dirty="0">
                <a:solidFill>
                  <a:srgbClr val="64748B"/>
                </a:solidFill>
              </a:rPr>
              <a:t>4 FACT</a:t>
            </a:r>
            <a:endParaRPr lang="en-US" sz="850" dirty="0"/>
          </a:p>
        </p:txBody>
      </p:sp>
      <p:sp>
        <p:nvSpPr>
          <p:cNvPr id="31" name="Text 29"/>
          <p:cNvSpPr/>
          <p:nvPr/>
        </p:nvSpPr>
        <p:spPr>
          <a:xfrm>
            <a:off x="1737360" y="1508760"/>
            <a:ext cx="274320" cy="365760"/>
          </a:xfrm>
          <a:prstGeom prst="rect">
            <a:avLst/>
          </a:prstGeom>
          <a:noFill/>
          <a:ln/>
        </p:spPr>
        <p:txBody>
          <a:bodyPr wrap="square" rtlCol="0" anchor="ctr"/>
          <a:lstStyle/>
          <a:p>
            <a:pPr marL="0" indent="0" algn="ctr">
              <a:buNone/>
            </a:pPr>
            <a:r>
              <a:rPr lang="en-US" sz="1800" dirty="0">
                <a:solidFill>
                  <a:srgbClr val="2A9D8F"/>
                </a:solidFill>
              </a:rPr>
              <a:t>→</a:t>
            </a:r>
            <a:endParaRPr lang="en-US" sz="1800" dirty="0"/>
          </a:p>
        </p:txBody>
      </p:sp>
      <p:sp>
        <p:nvSpPr>
          <p:cNvPr id="32" name="Text 30"/>
          <p:cNvSpPr/>
          <p:nvPr/>
        </p:nvSpPr>
        <p:spPr>
          <a:xfrm>
            <a:off x="3429000" y="1508760"/>
            <a:ext cx="274320" cy="365760"/>
          </a:xfrm>
          <a:prstGeom prst="rect">
            <a:avLst/>
          </a:prstGeom>
          <a:noFill/>
          <a:ln/>
        </p:spPr>
        <p:txBody>
          <a:bodyPr wrap="square" rtlCol="0" anchor="ctr"/>
          <a:lstStyle/>
          <a:p>
            <a:pPr marL="0" indent="0" algn="ctr">
              <a:buNone/>
            </a:pPr>
            <a:r>
              <a:rPr lang="en-US" sz="1800" dirty="0">
                <a:solidFill>
                  <a:srgbClr val="2A9D8F"/>
                </a:solidFill>
              </a:rPr>
              <a:t>→</a:t>
            </a:r>
            <a:endParaRPr lang="en-US" sz="1800" dirty="0"/>
          </a:p>
        </p:txBody>
      </p:sp>
      <p:sp>
        <p:nvSpPr>
          <p:cNvPr id="33" name="Text 31"/>
          <p:cNvSpPr/>
          <p:nvPr/>
        </p:nvSpPr>
        <p:spPr>
          <a:xfrm>
            <a:off x="5120640" y="1508760"/>
            <a:ext cx="274320" cy="365760"/>
          </a:xfrm>
          <a:prstGeom prst="rect">
            <a:avLst/>
          </a:prstGeom>
          <a:noFill/>
          <a:ln/>
        </p:spPr>
        <p:txBody>
          <a:bodyPr wrap="square" rtlCol="0" anchor="ctr"/>
          <a:lstStyle/>
          <a:p>
            <a:pPr marL="0" indent="0" algn="ctr">
              <a:buNone/>
            </a:pPr>
            <a:r>
              <a:rPr lang="en-US" sz="1800" dirty="0">
                <a:solidFill>
                  <a:srgbClr val="2A9D8F"/>
                </a:solidFill>
              </a:rPr>
              <a:t>→</a:t>
            </a:r>
            <a:endParaRPr lang="en-US" sz="1800" dirty="0"/>
          </a:p>
        </p:txBody>
      </p:sp>
      <p:sp>
        <p:nvSpPr>
          <p:cNvPr id="34" name="Text 32"/>
          <p:cNvSpPr/>
          <p:nvPr/>
        </p:nvSpPr>
        <p:spPr>
          <a:xfrm>
            <a:off x="6812280" y="1508760"/>
            <a:ext cx="274320" cy="365760"/>
          </a:xfrm>
          <a:prstGeom prst="rect">
            <a:avLst/>
          </a:prstGeom>
          <a:noFill/>
          <a:ln/>
        </p:spPr>
        <p:txBody>
          <a:bodyPr wrap="square" rtlCol="0" anchor="ctr"/>
          <a:lstStyle/>
          <a:p>
            <a:pPr marL="0" indent="0" algn="ctr">
              <a:buNone/>
            </a:pPr>
            <a:r>
              <a:rPr lang="en-US" sz="1800" dirty="0">
                <a:solidFill>
                  <a:srgbClr val="2A9D8F"/>
                </a:solidFill>
              </a:rPr>
              <a:t>→</a:t>
            </a:r>
            <a:endParaRPr lang="en-US" sz="1800" dirty="0"/>
          </a:p>
        </p:txBody>
      </p:sp>
      <p:sp>
        <p:nvSpPr>
          <p:cNvPr id="35" name="Shape 33"/>
          <p:cNvSpPr/>
          <p:nvPr/>
        </p:nvSpPr>
        <p:spPr>
          <a:xfrm>
            <a:off x="274320" y="3017520"/>
            <a:ext cx="4114800" cy="17373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36" name="Shape 34"/>
          <p:cNvSpPr/>
          <p:nvPr/>
        </p:nvSpPr>
        <p:spPr>
          <a:xfrm>
            <a:off x="274320" y="3017520"/>
            <a:ext cx="54864" cy="1737360"/>
          </a:xfrm>
          <a:prstGeom prst="rect">
            <a:avLst/>
          </a:prstGeom>
          <a:solidFill>
            <a:srgbClr val="2A9D8F"/>
          </a:solidFill>
          <a:ln/>
        </p:spPr>
        <p:txBody>
          <a:bodyPr/>
          <a:lstStyle/>
          <a:p>
            <a:endParaRPr/>
          </a:p>
        </p:txBody>
      </p:sp>
      <p:sp>
        <p:nvSpPr>
          <p:cNvPr id="37" name="Text 35"/>
          <p:cNvSpPr/>
          <p:nvPr/>
        </p:nvSpPr>
        <p:spPr>
          <a:xfrm>
            <a:off x="457200" y="3063240"/>
            <a:ext cx="3657600" cy="228600"/>
          </a:xfrm>
          <a:prstGeom prst="rect">
            <a:avLst/>
          </a:prstGeom>
          <a:noFill/>
          <a:ln/>
        </p:spPr>
        <p:txBody>
          <a:bodyPr wrap="square" rtlCol="0" anchor="ctr"/>
          <a:lstStyle/>
          <a:p>
            <a:pPr marL="0" indent="0">
              <a:buNone/>
            </a:pPr>
            <a:r>
              <a:rPr lang="en-US" sz="1100" b="1" dirty="0">
                <a:solidFill>
                  <a:srgbClr val="1B3A5C"/>
                </a:solidFill>
              </a:rPr>
              <a:t>ETL Control Framework</a:t>
            </a:r>
            <a:endParaRPr lang="en-US" sz="1100" dirty="0"/>
          </a:p>
        </p:txBody>
      </p:sp>
      <p:sp>
        <p:nvSpPr>
          <p:cNvPr id="38" name="Text 36"/>
          <p:cNvSpPr/>
          <p:nvPr/>
        </p:nvSpPr>
        <p:spPr>
          <a:xfrm>
            <a:off x="457200" y="3337560"/>
            <a:ext cx="3749040" cy="1280160"/>
          </a:xfrm>
          <a:prstGeom prst="rect">
            <a:avLst/>
          </a:prstGeom>
          <a:noFill/>
          <a:ln/>
        </p:spPr>
        <p:txBody>
          <a:bodyPr wrap="square" rtlCol="0" anchor="ctr"/>
          <a:lstStyle/>
          <a:p>
            <a:pPr marL="342900" indent="-342900">
              <a:spcAft>
                <a:spcPts val="400"/>
              </a:spcAft>
              <a:buSzPct val="100000"/>
              <a:buChar char="•"/>
            </a:pPr>
            <a:r>
              <a:rPr lang="en-US" sz="900" dirty="0">
                <a:solidFill>
                  <a:srgbClr val="1E293B"/>
                </a:solidFill>
              </a:rPr>
              <a:t>ETL_Process — Entity registry &amp; load order</a:t>
            </a:r>
            <a:endParaRPr lang="en-US" sz="900" dirty="0"/>
          </a:p>
          <a:p>
            <a:pPr marL="342900" indent="-342900">
              <a:spcAft>
                <a:spcPts val="400"/>
              </a:spcAft>
              <a:buSzPct val="100000"/>
              <a:buChar char="•"/>
            </a:pPr>
            <a:r>
              <a:rPr lang="en-US" sz="900" dirty="0">
                <a:solidFill>
                  <a:srgbClr val="1E293B"/>
                </a:solidFill>
              </a:rPr>
              <a:t>ETL_BatchLog / StepLog — Execution tracking</a:t>
            </a:r>
            <a:endParaRPr lang="en-US" sz="900" dirty="0"/>
          </a:p>
          <a:p>
            <a:pPr marL="342900" indent="-342900">
              <a:spcAft>
                <a:spcPts val="400"/>
              </a:spcAft>
              <a:buSzPct val="100000"/>
              <a:buChar char="•"/>
            </a:pPr>
            <a:r>
              <a:rPr lang="en-US" sz="900" dirty="0">
                <a:solidFill>
                  <a:srgbClr val="1E293B"/>
                </a:solidFill>
              </a:rPr>
              <a:t>ETL_Watermark — High-water mark per table</a:t>
            </a:r>
            <a:endParaRPr lang="en-US" sz="900" dirty="0"/>
          </a:p>
          <a:p>
            <a:pPr marL="342900" indent="-342900">
              <a:spcAft>
                <a:spcPts val="400"/>
              </a:spcAft>
              <a:buSzPct val="100000"/>
              <a:buChar char="•"/>
            </a:pPr>
            <a:r>
              <a:rPr lang="en-US" sz="900" dirty="0">
                <a:solidFill>
                  <a:srgbClr val="1E293B"/>
                </a:solidFill>
              </a:rPr>
              <a:t>ETL_ErrorLog — Error capture &amp; diagnostics</a:t>
            </a:r>
            <a:endParaRPr lang="en-US" sz="900" dirty="0"/>
          </a:p>
          <a:p>
            <a:pPr marL="342900" indent="-342900">
              <a:spcAft>
                <a:spcPts val="400"/>
              </a:spcAft>
              <a:buSzPct val="100000"/>
              <a:buChar char="•"/>
            </a:pPr>
            <a:r>
              <a:rPr lang="en-US" sz="900" b="1" dirty="0">
                <a:solidFill>
                  <a:srgbClr val="2A9D8F"/>
                </a:solidFill>
              </a:rPr>
              <a:t>Master: Master_Complete_Pipeline.dtsx</a:t>
            </a:r>
            <a:endParaRPr lang="en-US" sz="900" dirty="0"/>
          </a:p>
        </p:txBody>
      </p:sp>
      <p:sp>
        <p:nvSpPr>
          <p:cNvPr id="39" name="Shape 37"/>
          <p:cNvSpPr/>
          <p:nvPr/>
        </p:nvSpPr>
        <p:spPr>
          <a:xfrm>
            <a:off x="4754880" y="3017520"/>
            <a:ext cx="4114800" cy="17373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40" name="Shape 38"/>
          <p:cNvSpPr/>
          <p:nvPr/>
        </p:nvSpPr>
        <p:spPr>
          <a:xfrm>
            <a:off x="4754880" y="3017520"/>
            <a:ext cx="54864" cy="1737360"/>
          </a:xfrm>
          <a:prstGeom prst="rect">
            <a:avLst/>
          </a:prstGeom>
          <a:solidFill>
            <a:srgbClr val="1B3A5C"/>
          </a:solidFill>
          <a:ln/>
        </p:spPr>
        <p:txBody>
          <a:bodyPr/>
          <a:lstStyle/>
          <a:p>
            <a:endParaRPr/>
          </a:p>
        </p:txBody>
      </p:sp>
      <p:sp>
        <p:nvSpPr>
          <p:cNvPr id="41" name="Text 39"/>
          <p:cNvSpPr/>
          <p:nvPr/>
        </p:nvSpPr>
        <p:spPr>
          <a:xfrm>
            <a:off x="4937760" y="3063240"/>
            <a:ext cx="3657600" cy="228600"/>
          </a:xfrm>
          <a:prstGeom prst="rect">
            <a:avLst/>
          </a:prstGeom>
          <a:noFill/>
          <a:ln/>
        </p:spPr>
        <p:txBody>
          <a:bodyPr wrap="square" rtlCol="0" anchor="ctr"/>
          <a:lstStyle/>
          <a:p>
            <a:pPr marL="0" indent="0">
              <a:buNone/>
            </a:pPr>
            <a:r>
              <a:rPr lang="en-US" sz="1100" b="1" dirty="0">
                <a:solidFill>
                  <a:srgbClr val="1B3A5C"/>
                </a:solidFill>
              </a:rPr>
              <a:t>Technology Stack</a:t>
            </a:r>
            <a:endParaRPr lang="en-US" sz="1100" dirty="0"/>
          </a:p>
        </p:txBody>
      </p:sp>
      <p:sp>
        <p:nvSpPr>
          <p:cNvPr id="42" name="Text 40"/>
          <p:cNvSpPr/>
          <p:nvPr/>
        </p:nvSpPr>
        <p:spPr>
          <a:xfrm>
            <a:off x="4937760" y="3337560"/>
            <a:ext cx="3749040" cy="1280160"/>
          </a:xfrm>
          <a:prstGeom prst="rect">
            <a:avLst/>
          </a:prstGeom>
          <a:noFill/>
          <a:ln/>
        </p:spPr>
        <p:txBody>
          <a:bodyPr wrap="square" rtlCol="0" anchor="ctr"/>
          <a:lstStyle/>
          <a:p>
            <a:pPr marL="342900" indent="-342900">
              <a:spcAft>
                <a:spcPts val="400"/>
              </a:spcAft>
              <a:buSzPct val="100000"/>
              <a:buChar char="•"/>
            </a:pPr>
            <a:r>
              <a:rPr lang="en-US" sz="900" dirty="0">
                <a:solidFill>
                  <a:srgbClr val="1E293B"/>
                </a:solidFill>
              </a:rPr>
              <a:t>SQL Server 2025 Developer Edition (v17)</a:t>
            </a:r>
            <a:endParaRPr lang="en-US" sz="900" dirty="0"/>
          </a:p>
          <a:p>
            <a:pPr marL="342900" indent="-342900">
              <a:spcAft>
                <a:spcPts val="400"/>
              </a:spcAft>
              <a:buSzPct val="100000"/>
              <a:buChar char="•"/>
            </a:pPr>
            <a:r>
              <a:rPr lang="en-US" sz="900" dirty="0">
                <a:solidFill>
                  <a:srgbClr val="1E293B"/>
                </a:solidFill>
              </a:rPr>
              <a:t>SSIS 2022+ — Project Deployment on SSISDB</a:t>
            </a:r>
            <a:endParaRPr lang="en-US" sz="900" dirty="0"/>
          </a:p>
          <a:p>
            <a:pPr marL="342900" indent="-342900">
              <a:spcAft>
                <a:spcPts val="400"/>
              </a:spcAft>
              <a:buSzPct val="100000"/>
              <a:buChar char="•"/>
            </a:pPr>
            <a:r>
              <a:rPr lang="en-US" sz="900" dirty="0">
                <a:solidFill>
                  <a:srgbClr val="1E293B"/>
                </a:solidFill>
              </a:rPr>
              <a:t>SHA-256 via HASHBYTES → VARBINARY(32)</a:t>
            </a:r>
            <a:endParaRPr lang="en-US" sz="900" dirty="0"/>
          </a:p>
          <a:p>
            <a:pPr marL="342900" indent="-342900">
              <a:spcAft>
                <a:spcPts val="400"/>
              </a:spcAft>
              <a:buSzPct val="100000"/>
              <a:buChar char="•"/>
            </a:pPr>
            <a:r>
              <a:rPr lang="en-US" sz="900" dirty="0">
                <a:solidFill>
                  <a:srgbClr val="1E293B"/>
                </a:solidFill>
              </a:rPr>
              <a:t>GCP e2-standard-4 (4 vCPU, 16GB, 128GB SSD)</a:t>
            </a:r>
            <a:endParaRPr lang="en-US" sz="900" dirty="0"/>
          </a:p>
          <a:p>
            <a:pPr marL="342900" indent="-342900">
              <a:spcAft>
                <a:spcPts val="400"/>
              </a:spcAft>
              <a:buSzPct val="100000"/>
              <a:buChar char="•"/>
            </a:pPr>
            <a:r>
              <a:rPr lang="en-US" sz="900" b="1" dirty="0">
                <a:solidFill>
                  <a:srgbClr val="2A9D8F"/>
                </a:solidFill>
              </a:rPr>
              <a:t>67 objects • 60 SSIS packages • 49 ETL steps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txBody>
          <a:bodyPr/>
          <a:lstStyle/>
          <a:p>
            <a:endParaRPr/>
          </a:p>
        </p:txBody>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8 / 13</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Implementation — Four Layers</a:t>
            </a:r>
            <a:endParaRPr lang="en-US" sz="2200" dirty="0"/>
          </a:p>
        </p:txBody>
      </p:sp>
      <p:sp>
        <p:nvSpPr>
          <p:cNvPr id="5" name="Shape 3"/>
          <p:cNvSpPr/>
          <p:nvPr/>
        </p:nvSpPr>
        <p:spPr>
          <a:xfrm>
            <a:off x="457200" y="731520"/>
            <a:ext cx="1097280" cy="36576"/>
          </a:xfrm>
          <a:prstGeom prst="rect">
            <a:avLst/>
          </a:prstGeom>
          <a:solidFill>
            <a:srgbClr val="2A9D8F"/>
          </a:solidFill>
          <a:ln/>
        </p:spPr>
        <p:txBody>
          <a:bodyPr/>
          <a:lstStyle/>
          <a:p>
            <a:endParaRPr/>
          </a:p>
        </p:txBody>
      </p:sp>
      <p:sp>
        <p:nvSpPr>
          <p:cNvPr id="6" name="Shape 4"/>
          <p:cNvSpPr/>
          <p:nvPr/>
        </p:nvSpPr>
        <p:spPr>
          <a:xfrm>
            <a:off x="274320" y="914400"/>
            <a:ext cx="2011680" cy="21031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7" name="Shape 5"/>
          <p:cNvSpPr/>
          <p:nvPr/>
        </p:nvSpPr>
        <p:spPr>
          <a:xfrm>
            <a:off x="274320" y="914400"/>
            <a:ext cx="2011680" cy="320040"/>
          </a:xfrm>
          <a:prstGeom prst="rect">
            <a:avLst/>
          </a:prstGeom>
          <a:solidFill>
            <a:srgbClr val="94A3B8"/>
          </a:solidFill>
          <a:ln/>
        </p:spPr>
        <p:txBody>
          <a:bodyPr/>
          <a:lstStyle/>
          <a:p>
            <a:endParaRPr/>
          </a:p>
        </p:txBody>
      </p:sp>
      <p:sp>
        <p:nvSpPr>
          <p:cNvPr id="8" name="Text 6"/>
          <p:cNvSpPr/>
          <p:nvPr/>
        </p:nvSpPr>
        <p:spPr>
          <a:xfrm>
            <a:off x="274320" y="914400"/>
            <a:ext cx="2011680" cy="320040"/>
          </a:xfrm>
          <a:prstGeom prst="rect">
            <a:avLst/>
          </a:prstGeom>
          <a:noFill/>
          <a:ln/>
        </p:spPr>
        <p:txBody>
          <a:bodyPr wrap="square" rtlCol="0" anchor="ctr"/>
          <a:lstStyle/>
          <a:p>
            <a:pPr marL="0" indent="0" algn="ctr">
              <a:buNone/>
            </a:pPr>
            <a:r>
              <a:rPr lang="en-US" sz="1000" b="1" dirty="0">
                <a:solidFill>
                  <a:srgbClr val="FFFFFF"/>
                </a:solidFill>
              </a:rPr>
              <a:t>Staging (9)</a:t>
            </a:r>
            <a:endParaRPr lang="en-US" sz="1000" dirty="0"/>
          </a:p>
        </p:txBody>
      </p:sp>
      <p:sp>
        <p:nvSpPr>
          <p:cNvPr id="9" name="Text 7"/>
          <p:cNvSpPr/>
          <p:nvPr/>
        </p:nvSpPr>
        <p:spPr>
          <a:xfrm>
            <a:off x="365760" y="1325880"/>
            <a:ext cx="1828800" cy="1554480"/>
          </a:xfrm>
          <a:prstGeom prst="rect">
            <a:avLst/>
          </a:prstGeom>
          <a:noFill/>
          <a:ln/>
        </p:spPr>
        <p:txBody>
          <a:bodyPr wrap="square" rtlCol="0" anchor="ctr"/>
          <a:lstStyle/>
          <a:p>
            <a:pPr marL="342900" indent="-342900">
              <a:spcAft>
                <a:spcPts val="400"/>
              </a:spcAft>
              <a:buSzPct val="100000"/>
              <a:buChar char="•"/>
            </a:pPr>
            <a:r>
              <a:rPr lang="en-US" sz="850" dirty="0">
                <a:solidFill>
                  <a:srgbClr val="1E293B"/>
                </a:solidFill>
              </a:rPr>
              <a:t>Full: TRUNCATE → INSERT</a:t>
            </a:r>
            <a:endParaRPr lang="en-US" sz="850" dirty="0"/>
          </a:p>
          <a:p>
            <a:pPr marL="342900" indent="-342900">
              <a:spcAft>
                <a:spcPts val="400"/>
              </a:spcAft>
              <a:buSzPct val="100000"/>
              <a:buChar char="•"/>
            </a:pPr>
            <a:r>
              <a:rPr lang="en-US" sz="850" dirty="0">
                <a:solidFill>
                  <a:srgbClr val="1E293B"/>
                </a:solidFill>
              </a:rPr>
              <a:t>Incr: Watermark delta</a:t>
            </a:r>
            <a:endParaRPr lang="en-US" sz="850" dirty="0"/>
          </a:p>
          <a:p>
            <a:pPr marL="342900" indent="-342900">
              <a:spcAft>
                <a:spcPts val="400"/>
              </a:spcAft>
              <a:buSzPct val="100000"/>
              <a:buChar char="•"/>
            </a:pPr>
            <a:r>
              <a:rPr lang="en-US" sz="850" b="1" dirty="0">
                <a:solidFill>
                  <a:srgbClr val="2A9D8F"/>
                </a:solidFill>
              </a:rPr>
              <a:t>1:1 source mapping</a:t>
            </a:r>
            <a:endParaRPr lang="en-US" sz="850" dirty="0"/>
          </a:p>
        </p:txBody>
      </p:sp>
      <p:sp>
        <p:nvSpPr>
          <p:cNvPr id="10" name="Shape 8"/>
          <p:cNvSpPr/>
          <p:nvPr/>
        </p:nvSpPr>
        <p:spPr>
          <a:xfrm>
            <a:off x="2468880" y="914400"/>
            <a:ext cx="2011680" cy="21031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11" name="Shape 9"/>
          <p:cNvSpPr/>
          <p:nvPr/>
        </p:nvSpPr>
        <p:spPr>
          <a:xfrm>
            <a:off x="2468880" y="914400"/>
            <a:ext cx="2011680" cy="320040"/>
          </a:xfrm>
          <a:prstGeom prst="rect">
            <a:avLst/>
          </a:prstGeom>
          <a:solidFill>
            <a:srgbClr val="CD7F32"/>
          </a:solidFill>
          <a:ln/>
        </p:spPr>
        <p:txBody>
          <a:bodyPr/>
          <a:lstStyle/>
          <a:p>
            <a:endParaRPr/>
          </a:p>
        </p:txBody>
      </p:sp>
      <p:sp>
        <p:nvSpPr>
          <p:cNvPr id="12" name="Text 10"/>
          <p:cNvSpPr/>
          <p:nvPr/>
        </p:nvSpPr>
        <p:spPr>
          <a:xfrm>
            <a:off x="2468880" y="914400"/>
            <a:ext cx="2011680" cy="320040"/>
          </a:xfrm>
          <a:prstGeom prst="rect">
            <a:avLst/>
          </a:prstGeom>
          <a:noFill/>
          <a:ln/>
        </p:spPr>
        <p:txBody>
          <a:bodyPr wrap="square" rtlCol="0" anchor="ctr"/>
          <a:lstStyle/>
          <a:p>
            <a:pPr marL="0" indent="0" algn="ctr">
              <a:buNone/>
            </a:pPr>
            <a:r>
              <a:rPr lang="en-US" sz="1000" b="1" dirty="0">
                <a:solidFill>
                  <a:srgbClr val="FFFFFF"/>
                </a:solidFill>
              </a:rPr>
              <a:t>Bronze (23)</a:t>
            </a:r>
            <a:endParaRPr lang="en-US" sz="1000" dirty="0"/>
          </a:p>
        </p:txBody>
      </p:sp>
      <p:sp>
        <p:nvSpPr>
          <p:cNvPr id="13" name="Text 11"/>
          <p:cNvSpPr/>
          <p:nvPr/>
        </p:nvSpPr>
        <p:spPr>
          <a:xfrm>
            <a:off x="2560320" y="1325880"/>
            <a:ext cx="1828800" cy="1554480"/>
          </a:xfrm>
          <a:prstGeom prst="rect">
            <a:avLst/>
          </a:prstGeom>
          <a:noFill/>
          <a:ln/>
        </p:spPr>
        <p:txBody>
          <a:bodyPr wrap="square" rtlCol="0" anchor="ctr"/>
          <a:lstStyle/>
          <a:p>
            <a:pPr marL="342900" indent="-342900">
              <a:spcAft>
                <a:spcPts val="400"/>
              </a:spcAft>
              <a:buSzPct val="100000"/>
              <a:buChar char="•"/>
            </a:pPr>
            <a:r>
              <a:rPr lang="en-US" sz="850" dirty="0">
                <a:solidFill>
                  <a:srgbClr val="1E293B"/>
                </a:solidFill>
              </a:rPr>
              <a:t>9 Hubs: SHA-256 hash keys</a:t>
            </a:r>
            <a:endParaRPr lang="en-US" sz="850" dirty="0"/>
          </a:p>
          <a:p>
            <a:pPr marL="342900" indent="-342900">
              <a:spcAft>
                <a:spcPts val="400"/>
              </a:spcAft>
              <a:buSzPct val="100000"/>
              <a:buChar char="•"/>
            </a:pPr>
            <a:r>
              <a:rPr lang="en-US" sz="850" dirty="0">
                <a:solidFill>
                  <a:srgbClr val="1E293B"/>
                </a:solidFill>
              </a:rPr>
              <a:t>9 SATs: HashDiff + SCD2</a:t>
            </a:r>
            <a:endParaRPr lang="en-US" sz="850" dirty="0"/>
          </a:p>
          <a:p>
            <a:pPr marL="342900" indent="-342900">
              <a:spcAft>
                <a:spcPts val="400"/>
              </a:spcAft>
              <a:buSzPct val="100000"/>
              <a:buChar char="•"/>
            </a:pPr>
            <a:r>
              <a:rPr lang="en-US" sz="850" dirty="0">
                <a:solidFill>
                  <a:srgbClr val="1E293B"/>
                </a:solidFill>
              </a:rPr>
              <a:t>5 Links: Relationships</a:t>
            </a:r>
            <a:endParaRPr lang="en-US" sz="850" dirty="0"/>
          </a:p>
          <a:p>
            <a:pPr marL="342900" indent="-342900">
              <a:spcAft>
                <a:spcPts val="400"/>
              </a:spcAft>
              <a:buSzPct val="100000"/>
              <a:buChar char="•"/>
            </a:pPr>
            <a:r>
              <a:rPr lang="en-US" sz="850" b="1" dirty="0">
                <a:solidFill>
                  <a:srgbClr val="2A9D8F"/>
                </a:solidFill>
              </a:rPr>
              <a:t>Insert-only audit trail</a:t>
            </a:r>
            <a:endParaRPr lang="en-US" sz="850" dirty="0"/>
          </a:p>
        </p:txBody>
      </p:sp>
      <p:sp>
        <p:nvSpPr>
          <p:cNvPr id="14" name="Shape 12"/>
          <p:cNvSpPr/>
          <p:nvPr/>
        </p:nvSpPr>
        <p:spPr>
          <a:xfrm>
            <a:off x="4663440" y="914400"/>
            <a:ext cx="2011680" cy="21031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15" name="Shape 13"/>
          <p:cNvSpPr/>
          <p:nvPr/>
        </p:nvSpPr>
        <p:spPr>
          <a:xfrm>
            <a:off x="4663440" y="914400"/>
            <a:ext cx="2011680" cy="320040"/>
          </a:xfrm>
          <a:prstGeom prst="rect">
            <a:avLst/>
          </a:prstGeom>
          <a:solidFill>
            <a:srgbClr val="A8A8A8"/>
          </a:solidFill>
          <a:ln/>
        </p:spPr>
        <p:txBody>
          <a:bodyPr/>
          <a:lstStyle/>
          <a:p>
            <a:endParaRPr/>
          </a:p>
        </p:txBody>
      </p:sp>
      <p:sp>
        <p:nvSpPr>
          <p:cNvPr id="16" name="Text 14"/>
          <p:cNvSpPr/>
          <p:nvPr/>
        </p:nvSpPr>
        <p:spPr>
          <a:xfrm>
            <a:off x="4663440" y="914400"/>
            <a:ext cx="2011680" cy="320040"/>
          </a:xfrm>
          <a:prstGeom prst="rect">
            <a:avLst/>
          </a:prstGeom>
          <a:noFill/>
          <a:ln/>
        </p:spPr>
        <p:txBody>
          <a:bodyPr wrap="square" rtlCol="0" anchor="ctr"/>
          <a:lstStyle/>
          <a:p>
            <a:pPr marL="0" indent="0" algn="ctr">
              <a:buNone/>
            </a:pPr>
            <a:r>
              <a:rPr lang="en-US" sz="1000" b="1" dirty="0">
                <a:solidFill>
                  <a:srgbClr val="FFFFFF"/>
                </a:solidFill>
              </a:rPr>
              <a:t>Silver (6)</a:t>
            </a:r>
            <a:endParaRPr lang="en-US" sz="1000" dirty="0"/>
          </a:p>
        </p:txBody>
      </p:sp>
      <p:sp>
        <p:nvSpPr>
          <p:cNvPr id="17" name="Text 15"/>
          <p:cNvSpPr/>
          <p:nvPr/>
        </p:nvSpPr>
        <p:spPr>
          <a:xfrm>
            <a:off x="4754880" y="1325880"/>
            <a:ext cx="1828800" cy="1554480"/>
          </a:xfrm>
          <a:prstGeom prst="rect">
            <a:avLst/>
          </a:prstGeom>
          <a:noFill/>
          <a:ln/>
        </p:spPr>
        <p:txBody>
          <a:bodyPr wrap="square" rtlCol="0" anchor="ctr"/>
          <a:lstStyle/>
          <a:p>
            <a:pPr marL="342900" indent="-342900">
              <a:spcAft>
                <a:spcPts val="400"/>
              </a:spcAft>
              <a:buSzPct val="100000"/>
              <a:buChar char="•"/>
            </a:pPr>
            <a:r>
              <a:rPr lang="en-US" sz="850" dirty="0">
                <a:solidFill>
                  <a:srgbClr val="1E293B"/>
                </a:solidFill>
              </a:rPr>
              <a:t>3 PIT: Temporal snapshots</a:t>
            </a:r>
            <a:endParaRPr lang="en-US" sz="850" dirty="0"/>
          </a:p>
          <a:p>
            <a:pPr marL="342900" indent="-342900">
              <a:spcAft>
                <a:spcPts val="400"/>
              </a:spcAft>
              <a:buSzPct val="100000"/>
              <a:buChar char="•"/>
            </a:pPr>
            <a:r>
              <a:rPr lang="en-US" sz="850" dirty="0">
                <a:solidFill>
                  <a:srgbClr val="1E293B"/>
                </a:solidFill>
              </a:rPr>
              <a:t>1 Bridge: Pre-joined</a:t>
            </a:r>
            <a:endParaRPr lang="en-US" sz="850" dirty="0"/>
          </a:p>
          <a:p>
            <a:pPr marL="342900" indent="-342900">
              <a:spcAft>
                <a:spcPts val="400"/>
              </a:spcAft>
              <a:buSzPct val="100000"/>
              <a:buChar char="•"/>
            </a:pPr>
            <a:r>
              <a:rPr lang="en-US" sz="850" b="1" dirty="0">
                <a:solidFill>
                  <a:srgbClr val="2A9D8F"/>
                </a:solidFill>
              </a:rPr>
              <a:t>2 BUS: Compliance scores</a:t>
            </a:r>
            <a:endParaRPr lang="en-US" sz="850" dirty="0"/>
          </a:p>
        </p:txBody>
      </p:sp>
      <p:sp>
        <p:nvSpPr>
          <p:cNvPr id="18" name="Shape 16"/>
          <p:cNvSpPr/>
          <p:nvPr/>
        </p:nvSpPr>
        <p:spPr>
          <a:xfrm>
            <a:off x="6858000" y="914400"/>
            <a:ext cx="2011680" cy="21031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19" name="Shape 17"/>
          <p:cNvSpPr/>
          <p:nvPr/>
        </p:nvSpPr>
        <p:spPr>
          <a:xfrm>
            <a:off x="6858000" y="914400"/>
            <a:ext cx="2011680" cy="320040"/>
          </a:xfrm>
          <a:prstGeom prst="rect">
            <a:avLst/>
          </a:prstGeom>
          <a:solidFill>
            <a:srgbClr val="D4A843"/>
          </a:solidFill>
          <a:ln/>
        </p:spPr>
        <p:txBody>
          <a:bodyPr/>
          <a:lstStyle/>
          <a:p>
            <a:endParaRPr/>
          </a:p>
        </p:txBody>
      </p:sp>
      <p:sp>
        <p:nvSpPr>
          <p:cNvPr id="20" name="Text 18"/>
          <p:cNvSpPr/>
          <p:nvPr/>
        </p:nvSpPr>
        <p:spPr>
          <a:xfrm>
            <a:off x="6858000" y="914400"/>
            <a:ext cx="2011680" cy="320040"/>
          </a:xfrm>
          <a:prstGeom prst="rect">
            <a:avLst/>
          </a:prstGeom>
          <a:noFill/>
          <a:ln/>
        </p:spPr>
        <p:txBody>
          <a:bodyPr wrap="square" rtlCol="0" anchor="ctr"/>
          <a:lstStyle/>
          <a:p>
            <a:pPr marL="0" indent="0" algn="ctr">
              <a:buNone/>
            </a:pPr>
            <a:r>
              <a:rPr lang="en-US" sz="1000" b="1" dirty="0">
                <a:solidFill>
                  <a:srgbClr val="FFFFFF"/>
                </a:solidFill>
              </a:rPr>
              <a:t>Gold (11)</a:t>
            </a:r>
            <a:endParaRPr lang="en-US" sz="1000" dirty="0"/>
          </a:p>
        </p:txBody>
      </p:sp>
      <p:sp>
        <p:nvSpPr>
          <p:cNvPr id="21" name="Text 19"/>
          <p:cNvSpPr/>
          <p:nvPr/>
        </p:nvSpPr>
        <p:spPr>
          <a:xfrm>
            <a:off x="6949440" y="1325880"/>
            <a:ext cx="1828800" cy="1554480"/>
          </a:xfrm>
          <a:prstGeom prst="rect">
            <a:avLst/>
          </a:prstGeom>
          <a:noFill/>
          <a:ln/>
        </p:spPr>
        <p:txBody>
          <a:bodyPr wrap="square" rtlCol="0" anchor="ctr"/>
          <a:lstStyle/>
          <a:p>
            <a:pPr marL="342900" indent="-342900">
              <a:spcAft>
                <a:spcPts val="400"/>
              </a:spcAft>
              <a:buSzPct val="100000"/>
              <a:buChar char="•"/>
            </a:pPr>
            <a:r>
              <a:rPr lang="en-US" sz="850" dirty="0">
                <a:solidFill>
                  <a:srgbClr val="1E293B"/>
                </a:solidFill>
              </a:rPr>
              <a:t>7 DIMs: SCD1 + SCD2</a:t>
            </a:r>
            <a:endParaRPr lang="en-US" sz="850" dirty="0"/>
          </a:p>
          <a:p>
            <a:pPr marL="342900" indent="-342900">
              <a:spcAft>
                <a:spcPts val="400"/>
              </a:spcAft>
              <a:buSzPct val="100000"/>
              <a:buChar char="•"/>
            </a:pPr>
            <a:r>
              <a:rPr lang="en-US" sz="850" dirty="0">
                <a:solidFill>
                  <a:srgbClr val="1E293B"/>
                </a:solidFill>
              </a:rPr>
              <a:t>4 FACTs: Monthly, Payment</a:t>
            </a:r>
            <a:endParaRPr lang="en-US" sz="850" dirty="0"/>
          </a:p>
          <a:p>
            <a:pPr marL="342900" indent="-342900">
              <a:spcAft>
                <a:spcPts val="400"/>
              </a:spcAft>
              <a:buSzPct val="100000"/>
              <a:buChar char="•"/>
            </a:pPr>
            <a:r>
              <a:rPr lang="en-US" sz="850" dirty="0">
                <a:solidFill>
                  <a:srgbClr val="1E293B"/>
                </a:solidFill>
              </a:rPr>
              <a:t>Snapshot, Audit</a:t>
            </a:r>
            <a:endParaRPr lang="en-US" sz="850" dirty="0"/>
          </a:p>
          <a:p>
            <a:pPr marL="342900" indent="-342900">
              <a:spcAft>
                <a:spcPts val="400"/>
              </a:spcAft>
              <a:buSzPct val="100000"/>
              <a:buChar char="•"/>
            </a:pPr>
            <a:r>
              <a:rPr lang="en-US" sz="850" b="1" dirty="0">
                <a:solidFill>
                  <a:srgbClr val="2A9D8F"/>
                </a:solidFill>
              </a:rPr>
              <a:t>Star schema for BI</a:t>
            </a:r>
            <a:endParaRPr lang="en-US" sz="850" dirty="0"/>
          </a:p>
        </p:txBody>
      </p:sp>
      <p:sp>
        <p:nvSpPr>
          <p:cNvPr id="22" name="Shape 20"/>
          <p:cNvSpPr/>
          <p:nvPr/>
        </p:nvSpPr>
        <p:spPr>
          <a:xfrm>
            <a:off x="274320" y="3246120"/>
            <a:ext cx="8595360" cy="15087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23" name="Shape 21"/>
          <p:cNvSpPr/>
          <p:nvPr/>
        </p:nvSpPr>
        <p:spPr>
          <a:xfrm>
            <a:off x="274320" y="3246120"/>
            <a:ext cx="8595360" cy="54864"/>
          </a:xfrm>
          <a:prstGeom prst="rect">
            <a:avLst/>
          </a:prstGeom>
          <a:solidFill>
            <a:srgbClr val="2A9D8F"/>
          </a:solidFill>
          <a:ln/>
        </p:spPr>
        <p:txBody>
          <a:bodyPr/>
          <a:lstStyle/>
          <a:p>
            <a:endParaRPr/>
          </a:p>
        </p:txBody>
      </p:sp>
      <p:sp>
        <p:nvSpPr>
          <p:cNvPr id="24" name="Text 22"/>
          <p:cNvSpPr/>
          <p:nvPr/>
        </p:nvSpPr>
        <p:spPr>
          <a:xfrm>
            <a:off x="457200" y="3291840"/>
            <a:ext cx="4572000" cy="228600"/>
          </a:xfrm>
          <a:prstGeom prst="rect">
            <a:avLst/>
          </a:prstGeom>
          <a:noFill/>
          <a:ln/>
        </p:spPr>
        <p:txBody>
          <a:bodyPr wrap="square" rtlCol="0" anchor="ctr"/>
          <a:lstStyle/>
          <a:p>
            <a:pPr marL="0" indent="0">
              <a:buNone/>
            </a:pPr>
            <a:r>
              <a:rPr lang="en-US" sz="1100" b="1" dirty="0">
                <a:solidFill>
                  <a:srgbClr val="1B3A5C"/>
                </a:solidFill>
              </a:rPr>
              <a:t>Master Orchestration — 49 Steps</a:t>
            </a:r>
            <a:endParaRPr lang="en-US" sz="1100" dirty="0"/>
          </a:p>
        </p:txBody>
      </p:sp>
      <p:sp>
        <p:nvSpPr>
          <p:cNvPr id="25" name="Shape 23"/>
          <p:cNvSpPr/>
          <p:nvPr/>
        </p:nvSpPr>
        <p:spPr>
          <a:xfrm>
            <a:off x="411480" y="3657600"/>
            <a:ext cx="914400" cy="868680"/>
          </a:xfrm>
          <a:prstGeom prst="rect">
            <a:avLst/>
          </a:prstGeom>
          <a:solidFill>
            <a:srgbClr val="1B3A5C"/>
          </a:solidFill>
          <a:ln/>
          <a:effectLst>
            <a:outerShdw blurRad="50800" dist="25400" dir="8100000" algn="bl" rotWithShape="0">
              <a:srgbClr val="000000">
                <a:alpha val="10000"/>
              </a:srgbClr>
            </a:outerShdw>
          </a:effectLst>
        </p:spPr>
        <p:txBody>
          <a:bodyPr/>
          <a:lstStyle/>
          <a:p>
            <a:endParaRPr/>
          </a:p>
        </p:txBody>
      </p:sp>
      <p:sp>
        <p:nvSpPr>
          <p:cNvPr id="26" name="Text 24"/>
          <p:cNvSpPr/>
          <p:nvPr/>
        </p:nvSpPr>
        <p:spPr>
          <a:xfrm>
            <a:off x="411480" y="3657600"/>
            <a:ext cx="914400" cy="868680"/>
          </a:xfrm>
          <a:prstGeom prst="rect">
            <a:avLst/>
          </a:prstGeom>
          <a:noFill/>
          <a:ln/>
        </p:spPr>
        <p:txBody>
          <a:bodyPr wrap="square" rtlCol="0" anchor="ctr"/>
          <a:lstStyle/>
          <a:p>
            <a:pPr marL="0" indent="0" algn="ctr">
              <a:buNone/>
            </a:pPr>
            <a:r>
              <a:rPr lang="en-US" sz="750" b="1" dirty="0">
                <a:solidFill>
                  <a:srgbClr val="FFFFFF"/>
                </a:solidFill>
              </a:rPr>
              <a:t>Init</a:t>
            </a:r>
            <a:endParaRPr lang="en-US" sz="750" dirty="0"/>
          </a:p>
          <a:p>
            <a:pPr marL="0" indent="0" algn="ctr">
              <a:buNone/>
            </a:pPr>
            <a:r>
              <a:rPr lang="en-US" sz="750" b="1" dirty="0">
                <a:solidFill>
                  <a:srgbClr val="FFFFFF"/>
                </a:solidFill>
              </a:rPr>
              <a:t>Batch</a:t>
            </a:r>
            <a:endParaRPr lang="en-US" sz="750" dirty="0"/>
          </a:p>
        </p:txBody>
      </p:sp>
      <p:sp>
        <p:nvSpPr>
          <p:cNvPr id="27" name="Text 25"/>
          <p:cNvSpPr/>
          <p:nvPr/>
        </p:nvSpPr>
        <p:spPr>
          <a:xfrm>
            <a:off x="1325880" y="3840480"/>
            <a:ext cx="137160" cy="365760"/>
          </a:xfrm>
          <a:prstGeom prst="rect">
            <a:avLst/>
          </a:prstGeom>
          <a:noFill/>
          <a:ln/>
        </p:spPr>
        <p:txBody>
          <a:bodyPr wrap="square" rtlCol="0" anchor="ctr"/>
          <a:lstStyle/>
          <a:p>
            <a:pPr marL="0" indent="0">
              <a:buNone/>
            </a:pPr>
            <a:r>
              <a:rPr lang="en-US" sz="1200" dirty="0">
                <a:solidFill>
                  <a:srgbClr val="2A9D8F"/>
                </a:solidFill>
              </a:rPr>
              <a:t>→</a:t>
            </a:r>
            <a:endParaRPr lang="en-US" sz="1200" dirty="0"/>
          </a:p>
        </p:txBody>
      </p:sp>
      <p:sp>
        <p:nvSpPr>
          <p:cNvPr id="28" name="Shape 26"/>
          <p:cNvSpPr/>
          <p:nvPr/>
        </p:nvSpPr>
        <p:spPr>
          <a:xfrm>
            <a:off x="1463040" y="3657600"/>
            <a:ext cx="914400" cy="868680"/>
          </a:xfrm>
          <a:prstGeom prst="rect">
            <a:avLst/>
          </a:prstGeom>
          <a:solidFill>
            <a:srgbClr val="94A3B8"/>
          </a:solidFill>
          <a:ln/>
          <a:effectLst>
            <a:outerShdw blurRad="50800" dist="25400" dir="8100000" algn="bl" rotWithShape="0">
              <a:srgbClr val="000000">
                <a:alpha val="10000"/>
              </a:srgbClr>
            </a:outerShdw>
          </a:effectLst>
        </p:spPr>
        <p:txBody>
          <a:bodyPr/>
          <a:lstStyle/>
          <a:p>
            <a:endParaRPr/>
          </a:p>
        </p:txBody>
      </p:sp>
      <p:sp>
        <p:nvSpPr>
          <p:cNvPr id="29" name="Text 27"/>
          <p:cNvSpPr/>
          <p:nvPr/>
        </p:nvSpPr>
        <p:spPr>
          <a:xfrm>
            <a:off x="1463040" y="3657600"/>
            <a:ext cx="914400" cy="868680"/>
          </a:xfrm>
          <a:prstGeom prst="rect">
            <a:avLst/>
          </a:prstGeom>
          <a:noFill/>
          <a:ln/>
        </p:spPr>
        <p:txBody>
          <a:bodyPr wrap="square" rtlCol="0" anchor="ctr"/>
          <a:lstStyle/>
          <a:p>
            <a:pPr marL="0" indent="0" algn="ctr">
              <a:buNone/>
            </a:pPr>
            <a:r>
              <a:rPr lang="en-US" sz="750" b="1" dirty="0">
                <a:solidFill>
                  <a:srgbClr val="FFFFFF"/>
                </a:solidFill>
              </a:rPr>
              <a:t>Staging</a:t>
            </a:r>
            <a:endParaRPr lang="en-US" sz="750" dirty="0"/>
          </a:p>
          <a:p>
            <a:pPr marL="0" indent="0" algn="ctr">
              <a:buNone/>
            </a:pPr>
            <a:r>
              <a:rPr lang="en-US" sz="750" b="1" dirty="0">
                <a:solidFill>
                  <a:srgbClr val="FFFFFF"/>
                </a:solidFill>
              </a:rPr>
              <a:t>(9)</a:t>
            </a:r>
            <a:endParaRPr lang="en-US" sz="750" dirty="0"/>
          </a:p>
        </p:txBody>
      </p:sp>
      <p:sp>
        <p:nvSpPr>
          <p:cNvPr id="30" name="Text 28"/>
          <p:cNvSpPr/>
          <p:nvPr/>
        </p:nvSpPr>
        <p:spPr>
          <a:xfrm>
            <a:off x="2377440" y="3840480"/>
            <a:ext cx="137160" cy="365760"/>
          </a:xfrm>
          <a:prstGeom prst="rect">
            <a:avLst/>
          </a:prstGeom>
          <a:noFill/>
          <a:ln/>
        </p:spPr>
        <p:txBody>
          <a:bodyPr wrap="square" rtlCol="0" anchor="ctr"/>
          <a:lstStyle/>
          <a:p>
            <a:pPr marL="0" indent="0">
              <a:buNone/>
            </a:pPr>
            <a:r>
              <a:rPr lang="en-US" sz="1200" dirty="0">
                <a:solidFill>
                  <a:srgbClr val="2A9D8F"/>
                </a:solidFill>
              </a:rPr>
              <a:t>→</a:t>
            </a:r>
            <a:endParaRPr lang="en-US" sz="1200" dirty="0"/>
          </a:p>
        </p:txBody>
      </p:sp>
      <p:sp>
        <p:nvSpPr>
          <p:cNvPr id="31" name="Shape 29"/>
          <p:cNvSpPr/>
          <p:nvPr/>
        </p:nvSpPr>
        <p:spPr>
          <a:xfrm>
            <a:off x="2514600" y="3657600"/>
            <a:ext cx="914400" cy="868680"/>
          </a:xfrm>
          <a:prstGeom prst="rect">
            <a:avLst/>
          </a:prstGeom>
          <a:solidFill>
            <a:srgbClr val="CD7F32"/>
          </a:solidFill>
          <a:ln/>
          <a:effectLst>
            <a:outerShdw blurRad="50800" dist="25400" dir="8100000" algn="bl" rotWithShape="0">
              <a:srgbClr val="000000">
                <a:alpha val="10000"/>
              </a:srgbClr>
            </a:outerShdw>
          </a:effectLst>
        </p:spPr>
        <p:txBody>
          <a:bodyPr/>
          <a:lstStyle/>
          <a:p>
            <a:endParaRPr/>
          </a:p>
        </p:txBody>
      </p:sp>
      <p:sp>
        <p:nvSpPr>
          <p:cNvPr id="32" name="Text 30"/>
          <p:cNvSpPr/>
          <p:nvPr/>
        </p:nvSpPr>
        <p:spPr>
          <a:xfrm>
            <a:off x="2514600" y="3657600"/>
            <a:ext cx="914400" cy="868680"/>
          </a:xfrm>
          <a:prstGeom prst="rect">
            <a:avLst/>
          </a:prstGeom>
          <a:noFill/>
          <a:ln/>
        </p:spPr>
        <p:txBody>
          <a:bodyPr wrap="square" rtlCol="0" anchor="ctr"/>
          <a:lstStyle/>
          <a:p>
            <a:pPr marL="0" indent="0" algn="ctr">
              <a:buNone/>
            </a:pPr>
            <a:r>
              <a:rPr lang="en-US" sz="750" b="1" dirty="0">
                <a:solidFill>
                  <a:srgbClr val="FFFFFF"/>
                </a:solidFill>
              </a:rPr>
              <a:t>Hubs</a:t>
            </a:r>
            <a:endParaRPr lang="en-US" sz="750" dirty="0"/>
          </a:p>
          <a:p>
            <a:pPr marL="0" indent="0" algn="ctr">
              <a:buNone/>
            </a:pPr>
            <a:r>
              <a:rPr lang="en-US" sz="750" b="1" dirty="0">
                <a:solidFill>
                  <a:srgbClr val="FFFFFF"/>
                </a:solidFill>
              </a:rPr>
              <a:t>(9)</a:t>
            </a:r>
            <a:endParaRPr lang="en-US" sz="750" dirty="0"/>
          </a:p>
        </p:txBody>
      </p:sp>
      <p:sp>
        <p:nvSpPr>
          <p:cNvPr id="33" name="Text 31"/>
          <p:cNvSpPr/>
          <p:nvPr/>
        </p:nvSpPr>
        <p:spPr>
          <a:xfrm>
            <a:off x="3429000" y="3840480"/>
            <a:ext cx="137160" cy="365760"/>
          </a:xfrm>
          <a:prstGeom prst="rect">
            <a:avLst/>
          </a:prstGeom>
          <a:noFill/>
          <a:ln/>
        </p:spPr>
        <p:txBody>
          <a:bodyPr wrap="square" rtlCol="0" anchor="ctr"/>
          <a:lstStyle/>
          <a:p>
            <a:pPr marL="0" indent="0">
              <a:buNone/>
            </a:pPr>
            <a:r>
              <a:rPr lang="en-US" sz="1200" dirty="0">
                <a:solidFill>
                  <a:srgbClr val="2A9D8F"/>
                </a:solidFill>
              </a:rPr>
              <a:t>→</a:t>
            </a:r>
            <a:endParaRPr lang="en-US" sz="1200" dirty="0"/>
          </a:p>
        </p:txBody>
      </p:sp>
      <p:sp>
        <p:nvSpPr>
          <p:cNvPr id="34" name="Shape 32"/>
          <p:cNvSpPr/>
          <p:nvPr/>
        </p:nvSpPr>
        <p:spPr>
          <a:xfrm>
            <a:off x="3566160" y="3657600"/>
            <a:ext cx="914400" cy="868680"/>
          </a:xfrm>
          <a:prstGeom prst="rect">
            <a:avLst/>
          </a:prstGeom>
          <a:solidFill>
            <a:srgbClr val="CD7F32"/>
          </a:solidFill>
          <a:ln/>
          <a:effectLst>
            <a:outerShdw blurRad="50800" dist="25400" dir="8100000" algn="bl" rotWithShape="0">
              <a:srgbClr val="000000">
                <a:alpha val="10000"/>
              </a:srgbClr>
            </a:outerShdw>
          </a:effectLst>
        </p:spPr>
        <p:txBody>
          <a:bodyPr/>
          <a:lstStyle/>
          <a:p>
            <a:endParaRPr/>
          </a:p>
        </p:txBody>
      </p:sp>
      <p:sp>
        <p:nvSpPr>
          <p:cNvPr id="35" name="Text 33"/>
          <p:cNvSpPr/>
          <p:nvPr/>
        </p:nvSpPr>
        <p:spPr>
          <a:xfrm>
            <a:off x="3566160" y="3657600"/>
            <a:ext cx="914400" cy="868680"/>
          </a:xfrm>
          <a:prstGeom prst="rect">
            <a:avLst/>
          </a:prstGeom>
          <a:noFill/>
          <a:ln/>
        </p:spPr>
        <p:txBody>
          <a:bodyPr wrap="square" rtlCol="0" anchor="ctr"/>
          <a:lstStyle/>
          <a:p>
            <a:pPr marL="0" indent="0" algn="ctr">
              <a:buNone/>
            </a:pPr>
            <a:r>
              <a:rPr lang="en-US" sz="750" b="1" dirty="0">
                <a:solidFill>
                  <a:srgbClr val="FFFFFF"/>
                </a:solidFill>
              </a:rPr>
              <a:t>SATs</a:t>
            </a:r>
            <a:endParaRPr lang="en-US" sz="750" dirty="0"/>
          </a:p>
          <a:p>
            <a:pPr marL="0" indent="0" algn="ctr">
              <a:buNone/>
            </a:pPr>
            <a:r>
              <a:rPr lang="en-US" sz="750" b="1" dirty="0">
                <a:solidFill>
                  <a:srgbClr val="FFFFFF"/>
                </a:solidFill>
              </a:rPr>
              <a:t>(9)</a:t>
            </a:r>
            <a:endParaRPr lang="en-US" sz="750" dirty="0"/>
          </a:p>
        </p:txBody>
      </p:sp>
      <p:sp>
        <p:nvSpPr>
          <p:cNvPr id="36" name="Text 34"/>
          <p:cNvSpPr/>
          <p:nvPr/>
        </p:nvSpPr>
        <p:spPr>
          <a:xfrm>
            <a:off x="4480560" y="3840480"/>
            <a:ext cx="137160" cy="365760"/>
          </a:xfrm>
          <a:prstGeom prst="rect">
            <a:avLst/>
          </a:prstGeom>
          <a:noFill/>
          <a:ln/>
        </p:spPr>
        <p:txBody>
          <a:bodyPr wrap="square" rtlCol="0" anchor="ctr"/>
          <a:lstStyle/>
          <a:p>
            <a:pPr marL="0" indent="0">
              <a:buNone/>
            </a:pPr>
            <a:r>
              <a:rPr lang="en-US" sz="1200" dirty="0">
                <a:solidFill>
                  <a:srgbClr val="2A9D8F"/>
                </a:solidFill>
              </a:rPr>
              <a:t>→</a:t>
            </a:r>
            <a:endParaRPr lang="en-US" sz="1200" dirty="0"/>
          </a:p>
        </p:txBody>
      </p:sp>
      <p:sp>
        <p:nvSpPr>
          <p:cNvPr id="37" name="Shape 35"/>
          <p:cNvSpPr/>
          <p:nvPr/>
        </p:nvSpPr>
        <p:spPr>
          <a:xfrm>
            <a:off x="4617720" y="3657600"/>
            <a:ext cx="914400" cy="868680"/>
          </a:xfrm>
          <a:prstGeom prst="rect">
            <a:avLst/>
          </a:prstGeom>
          <a:solidFill>
            <a:srgbClr val="CD7F32"/>
          </a:solidFill>
          <a:ln/>
          <a:effectLst>
            <a:outerShdw blurRad="50800" dist="25400" dir="8100000" algn="bl" rotWithShape="0">
              <a:srgbClr val="000000">
                <a:alpha val="10000"/>
              </a:srgbClr>
            </a:outerShdw>
          </a:effectLst>
        </p:spPr>
        <p:txBody>
          <a:bodyPr/>
          <a:lstStyle/>
          <a:p>
            <a:endParaRPr/>
          </a:p>
        </p:txBody>
      </p:sp>
      <p:sp>
        <p:nvSpPr>
          <p:cNvPr id="38" name="Text 36"/>
          <p:cNvSpPr/>
          <p:nvPr/>
        </p:nvSpPr>
        <p:spPr>
          <a:xfrm>
            <a:off x="4617720" y="3657600"/>
            <a:ext cx="914400" cy="868680"/>
          </a:xfrm>
          <a:prstGeom prst="rect">
            <a:avLst/>
          </a:prstGeom>
          <a:noFill/>
          <a:ln/>
        </p:spPr>
        <p:txBody>
          <a:bodyPr wrap="square" rtlCol="0" anchor="ctr"/>
          <a:lstStyle/>
          <a:p>
            <a:pPr marL="0" indent="0" algn="ctr">
              <a:buNone/>
            </a:pPr>
            <a:r>
              <a:rPr lang="en-US" sz="750" b="1" dirty="0">
                <a:solidFill>
                  <a:srgbClr val="FFFFFF"/>
                </a:solidFill>
              </a:rPr>
              <a:t>Links</a:t>
            </a:r>
            <a:endParaRPr lang="en-US" sz="750" dirty="0"/>
          </a:p>
          <a:p>
            <a:pPr marL="0" indent="0" algn="ctr">
              <a:buNone/>
            </a:pPr>
            <a:r>
              <a:rPr lang="en-US" sz="750" b="1" dirty="0">
                <a:solidFill>
                  <a:srgbClr val="FFFFFF"/>
                </a:solidFill>
              </a:rPr>
              <a:t>(5)</a:t>
            </a:r>
            <a:endParaRPr lang="en-US" sz="750" dirty="0"/>
          </a:p>
        </p:txBody>
      </p:sp>
      <p:sp>
        <p:nvSpPr>
          <p:cNvPr id="39" name="Text 37"/>
          <p:cNvSpPr/>
          <p:nvPr/>
        </p:nvSpPr>
        <p:spPr>
          <a:xfrm>
            <a:off x="5532120" y="3840480"/>
            <a:ext cx="137160" cy="365760"/>
          </a:xfrm>
          <a:prstGeom prst="rect">
            <a:avLst/>
          </a:prstGeom>
          <a:noFill/>
          <a:ln/>
        </p:spPr>
        <p:txBody>
          <a:bodyPr wrap="square" rtlCol="0" anchor="ctr"/>
          <a:lstStyle/>
          <a:p>
            <a:pPr marL="0" indent="0">
              <a:buNone/>
            </a:pPr>
            <a:r>
              <a:rPr lang="en-US" sz="1200" dirty="0">
                <a:solidFill>
                  <a:srgbClr val="2A9D8F"/>
                </a:solidFill>
              </a:rPr>
              <a:t>→</a:t>
            </a:r>
            <a:endParaRPr lang="en-US" sz="1200" dirty="0"/>
          </a:p>
        </p:txBody>
      </p:sp>
      <p:sp>
        <p:nvSpPr>
          <p:cNvPr id="40" name="Shape 38"/>
          <p:cNvSpPr/>
          <p:nvPr/>
        </p:nvSpPr>
        <p:spPr>
          <a:xfrm>
            <a:off x="5669280" y="3657600"/>
            <a:ext cx="914400" cy="868680"/>
          </a:xfrm>
          <a:prstGeom prst="rect">
            <a:avLst/>
          </a:prstGeom>
          <a:solidFill>
            <a:srgbClr val="A8A8A8"/>
          </a:solidFill>
          <a:ln/>
          <a:effectLst>
            <a:outerShdw blurRad="50800" dist="25400" dir="8100000" algn="bl" rotWithShape="0">
              <a:srgbClr val="000000">
                <a:alpha val="10000"/>
              </a:srgbClr>
            </a:outerShdw>
          </a:effectLst>
        </p:spPr>
        <p:txBody>
          <a:bodyPr/>
          <a:lstStyle/>
          <a:p>
            <a:endParaRPr/>
          </a:p>
        </p:txBody>
      </p:sp>
      <p:sp>
        <p:nvSpPr>
          <p:cNvPr id="41" name="Text 39"/>
          <p:cNvSpPr/>
          <p:nvPr/>
        </p:nvSpPr>
        <p:spPr>
          <a:xfrm>
            <a:off x="5669280" y="3657600"/>
            <a:ext cx="914400" cy="868680"/>
          </a:xfrm>
          <a:prstGeom prst="rect">
            <a:avLst/>
          </a:prstGeom>
          <a:noFill/>
          <a:ln/>
        </p:spPr>
        <p:txBody>
          <a:bodyPr wrap="square" rtlCol="0" anchor="ctr"/>
          <a:lstStyle/>
          <a:p>
            <a:pPr marL="0" indent="0" algn="ctr">
              <a:buNone/>
            </a:pPr>
            <a:r>
              <a:rPr lang="en-US" sz="750" b="1" dirty="0">
                <a:solidFill>
                  <a:srgbClr val="FFFFFF"/>
                </a:solidFill>
              </a:rPr>
              <a:t>Silver</a:t>
            </a:r>
            <a:endParaRPr lang="en-US" sz="750" dirty="0"/>
          </a:p>
          <a:p>
            <a:pPr marL="0" indent="0" algn="ctr">
              <a:buNone/>
            </a:pPr>
            <a:r>
              <a:rPr lang="en-US" sz="750" b="1" dirty="0">
                <a:solidFill>
                  <a:srgbClr val="FFFFFF"/>
                </a:solidFill>
              </a:rPr>
              <a:t>(6)</a:t>
            </a:r>
            <a:endParaRPr lang="en-US" sz="750" dirty="0"/>
          </a:p>
        </p:txBody>
      </p:sp>
      <p:sp>
        <p:nvSpPr>
          <p:cNvPr id="42" name="Text 40"/>
          <p:cNvSpPr/>
          <p:nvPr/>
        </p:nvSpPr>
        <p:spPr>
          <a:xfrm>
            <a:off x="6583680" y="3840480"/>
            <a:ext cx="137160" cy="365760"/>
          </a:xfrm>
          <a:prstGeom prst="rect">
            <a:avLst/>
          </a:prstGeom>
          <a:noFill/>
          <a:ln/>
        </p:spPr>
        <p:txBody>
          <a:bodyPr wrap="square" rtlCol="0" anchor="ctr"/>
          <a:lstStyle/>
          <a:p>
            <a:pPr marL="0" indent="0">
              <a:buNone/>
            </a:pPr>
            <a:r>
              <a:rPr lang="en-US" sz="1200" dirty="0">
                <a:solidFill>
                  <a:srgbClr val="2A9D8F"/>
                </a:solidFill>
              </a:rPr>
              <a:t>→</a:t>
            </a:r>
            <a:endParaRPr lang="en-US" sz="1200" dirty="0"/>
          </a:p>
        </p:txBody>
      </p:sp>
      <p:sp>
        <p:nvSpPr>
          <p:cNvPr id="43" name="Shape 41"/>
          <p:cNvSpPr/>
          <p:nvPr/>
        </p:nvSpPr>
        <p:spPr>
          <a:xfrm>
            <a:off x="6720840" y="3657600"/>
            <a:ext cx="914400" cy="868680"/>
          </a:xfrm>
          <a:prstGeom prst="rect">
            <a:avLst/>
          </a:prstGeom>
          <a:solidFill>
            <a:srgbClr val="D4A843"/>
          </a:solidFill>
          <a:ln/>
          <a:effectLst>
            <a:outerShdw blurRad="50800" dist="25400" dir="8100000" algn="bl" rotWithShape="0">
              <a:srgbClr val="000000">
                <a:alpha val="10000"/>
              </a:srgbClr>
            </a:outerShdw>
          </a:effectLst>
        </p:spPr>
        <p:txBody>
          <a:bodyPr/>
          <a:lstStyle/>
          <a:p>
            <a:endParaRPr/>
          </a:p>
        </p:txBody>
      </p:sp>
      <p:sp>
        <p:nvSpPr>
          <p:cNvPr id="44" name="Text 42"/>
          <p:cNvSpPr/>
          <p:nvPr/>
        </p:nvSpPr>
        <p:spPr>
          <a:xfrm>
            <a:off x="6720840" y="3657600"/>
            <a:ext cx="914400" cy="868680"/>
          </a:xfrm>
          <a:prstGeom prst="rect">
            <a:avLst/>
          </a:prstGeom>
          <a:noFill/>
          <a:ln/>
        </p:spPr>
        <p:txBody>
          <a:bodyPr wrap="square" rtlCol="0" anchor="ctr"/>
          <a:lstStyle/>
          <a:p>
            <a:pPr marL="0" indent="0" algn="ctr">
              <a:buNone/>
            </a:pPr>
            <a:r>
              <a:rPr lang="en-US" sz="750" b="1" dirty="0">
                <a:solidFill>
                  <a:srgbClr val="FFFFFF"/>
                </a:solidFill>
              </a:rPr>
              <a:t>Gold</a:t>
            </a:r>
            <a:endParaRPr lang="en-US" sz="750" dirty="0"/>
          </a:p>
          <a:p>
            <a:pPr marL="0" indent="0" algn="ctr">
              <a:buNone/>
            </a:pPr>
            <a:r>
              <a:rPr lang="en-US" sz="750" b="1" dirty="0">
                <a:solidFill>
                  <a:srgbClr val="FFFFFF"/>
                </a:solidFill>
              </a:rPr>
              <a:t>(11)</a:t>
            </a:r>
            <a:endParaRPr lang="en-US" sz="750" dirty="0"/>
          </a:p>
        </p:txBody>
      </p:sp>
      <p:sp>
        <p:nvSpPr>
          <p:cNvPr id="45" name="Text 43"/>
          <p:cNvSpPr/>
          <p:nvPr/>
        </p:nvSpPr>
        <p:spPr>
          <a:xfrm>
            <a:off x="7635240" y="3840480"/>
            <a:ext cx="137160" cy="365760"/>
          </a:xfrm>
          <a:prstGeom prst="rect">
            <a:avLst/>
          </a:prstGeom>
          <a:noFill/>
          <a:ln/>
        </p:spPr>
        <p:txBody>
          <a:bodyPr wrap="square" rtlCol="0" anchor="ctr"/>
          <a:lstStyle/>
          <a:p>
            <a:pPr marL="0" indent="0">
              <a:buNone/>
            </a:pPr>
            <a:r>
              <a:rPr lang="en-US" sz="1200" dirty="0">
                <a:solidFill>
                  <a:srgbClr val="2A9D8F"/>
                </a:solidFill>
              </a:rPr>
              <a:t>→</a:t>
            </a:r>
            <a:endParaRPr lang="en-US" sz="1200" dirty="0"/>
          </a:p>
        </p:txBody>
      </p:sp>
      <p:sp>
        <p:nvSpPr>
          <p:cNvPr id="46" name="Shape 44"/>
          <p:cNvSpPr/>
          <p:nvPr/>
        </p:nvSpPr>
        <p:spPr>
          <a:xfrm>
            <a:off x="7772400" y="3657600"/>
            <a:ext cx="914400" cy="868680"/>
          </a:xfrm>
          <a:prstGeom prst="rect">
            <a:avLst/>
          </a:prstGeom>
          <a:solidFill>
            <a:srgbClr val="1B3A5C"/>
          </a:solidFill>
          <a:ln/>
          <a:effectLst>
            <a:outerShdw blurRad="50800" dist="25400" dir="8100000" algn="bl" rotWithShape="0">
              <a:srgbClr val="000000">
                <a:alpha val="10000"/>
              </a:srgbClr>
            </a:outerShdw>
          </a:effectLst>
        </p:spPr>
        <p:txBody>
          <a:bodyPr/>
          <a:lstStyle/>
          <a:p>
            <a:endParaRPr/>
          </a:p>
        </p:txBody>
      </p:sp>
      <p:sp>
        <p:nvSpPr>
          <p:cNvPr id="47" name="Text 45"/>
          <p:cNvSpPr/>
          <p:nvPr/>
        </p:nvSpPr>
        <p:spPr>
          <a:xfrm>
            <a:off x="7772400" y="3657600"/>
            <a:ext cx="914400" cy="868680"/>
          </a:xfrm>
          <a:prstGeom prst="rect">
            <a:avLst/>
          </a:prstGeom>
          <a:noFill/>
          <a:ln/>
        </p:spPr>
        <p:txBody>
          <a:bodyPr wrap="square" rtlCol="0" anchor="ctr"/>
          <a:lstStyle/>
          <a:p>
            <a:pPr marL="0" indent="0" algn="ctr">
              <a:buNone/>
            </a:pPr>
            <a:r>
              <a:rPr lang="en-US" sz="750" b="1" dirty="0">
                <a:solidFill>
                  <a:srgbClr val="FFFFFF"/>
                </a:solidFill>
              </a:rPr>
              <a:t>Close</a:t>
            </a:r>
            <a:endParaRPr lang="en-US" sz="750" dirty="0"/>
          </a:p>
          <a:p>
            <a:pPr marL="0" indent="0" algn="ctr">
              <a:buNone/>
            </a:pPr>
            <a:r>
              <a:rPr lang="en-US" sz="750" b="1" dirty="0">
                <a:solidFill>
                  <a:srgbClr val="FFFFFF"/>
                </a:solidFill>
              </a:rPr>
              <a:t>Batch</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txBody>
          <a:bodyPr/>
          <a:lstStyle/>
          <a:p>
            <a:endParaRPr/>
          </a:p>
        </p:txBody>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9 / 13</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Source Database &amp; Sample Data</a:t>
            </a:r>
            <a:endParaRPr lang="en-US" sz="2200" dirty="0"/>
          </a:p>
        </p:txBody>
      </p:sp>
      <p:sp>
        <p:nvSpPr>
          <p:cNvPr id="5" name="Shape 3"/>
          <p:cNvSpPr/>
          <p:nvPr/>
        </p:nvSpPr>
        <p:spPr>
          <a:xfrm>
            <a:off x="457200" y="731520"/>
            <a:ext cx="1097280" cy="36576"/>
          </a:xfrm>
          <a:prstGeom prst="rect">
            <a:avLst/>
          </a:prstGeom>
          <a:solidFill>
            <a:srgbClr val="2A9D8F"/>
          </a:solidFill>
          <a:ln/>
        </p:spPr>
        <p:txBody>
          <a:bodyPr/>
          <a:lstStyle/>
          <a:p>
            <a:endParaRPr/>
          </a:p>
        </p:txBody>
      </p:sp>
      <p:sp>
        <p:nvSpPr>
          <p:cNvPr id="6" name="Text 4"/>
          <p:cNvSpPr/>
          <p:nvPr/>
        </p:nvSpPr>
        <p:spPr>
          <a:xfrm>
            <a:off x="457200" y="914400"/>
            <a:ext cx="8229600" cy="274320"/>
          </a:xfrm>
          <a:prstGeom prst="rect">
            <a:avLst/>
          </a:prstGeom>
          <a:noFill/>
          <a:ln/>
        </p:spPr>
        <p:txBody>
          <a:bodyPr wrap="square" rtlCol="0" anchor="ctr"/>
          <a:lstStyle/>
          <a:p>
            <a:pPr marL="0" indent="0">
              <a:buNone/>
            </a:pPr>
            <a:r>
              <a:rPr lang="en-US" sz="1200" b="1" dirty="0">
                <a:solidFill>
                  <a:srgbClr val="1B3A5C"/>
                </a:solidFill>
              </a:rPr>
              <a:t>TaxSystemDB — 9 Source Tables (3 Lookup + 3 Reference + 3 Transaction)</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143012250"/>
              </p:ext>
            </p:extLst>
          </p:nvPr>
        </p:nvGraphicFramePr>
        <p:xfrm>
          <a:off x="274320" y="1280160"/>
          <a:ext cx="8595360" cy="2748744"/>
        </p:xfrm>
        <a:graphic>
          <a:graphicData uri="http://schemas.openxmlformats.org/drawingml/2006/table">
            <a:tbl>
              <a:tblPr/>
              <a:tblGrid>
                <a:gridCol w="20116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299283">
                <a:tc>
                  <a:txBody>
                    <a:bodyPr/>
                    <a:lstStyle/>
                    <a:p>
                      <a:pPr marL="0" indent="0" algn="ctr">
                        <a:buNone/>
                      </a:pPr>
                      <a:r>
                        <a:rPr lang="en-US" sz="850" b="1" dirty="0">
                          <a:solidFill>
                            <a:srgbClr val="FFFFFF"/>
                          </a:solidFill>
                        </a:rPr>
                        <a:t>Table</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lgn="ctr">
                        <a:buNone/>
                      </a:pPr>
                      <a:r>
                        <a:rPr lang="en-US" sz="850" b="1" dirty="0">
                          <a:solidFill>
                            <a:srgbClr val="FFFFFF"/>
                          </a:solidFill>
                        </a:rPr>
                        <a:t>Type</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lgn="ctr">
                        <a:buNone/>
                      </a:pPr>
                      <a:r>
                        <a:rPr lang="en-US" sz="850" b="1" dirty="0">
                          <a:solidFill>
                            <a:srgbClr val="FFFFFF"/>
                          </a:solidFill>
                        </a:rPr>
                        <a:t>Description</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lgn="ctr">
                        <a:buNone/>
                      </a:pPr>
                      <a:r>
                        <a:rPr lang="en-US" sz="850" b="1" dirty="0">
                          <a:solidFill>
                            <a:srgbClr val="FFFFFF"/>
                          </a:solidFill>
                        </a:rPr>
                        <a:t>Records</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288963">
                <a:tc>
                  <a:txBody>
                    <a:bodyPr/>
                    <a:lstStyle/>
                    <a:p>
                      <a:pPr marL="0" indent="0">
                        <a:buNone/>
                      </a:pPr>
                      <a:r>
                        <a:rPr lang="en-US" sz="800" b="1" dirty="0">
                          <a:solidFill>
                            <a:srgbClr val="1B3A5C"/>
                          </a:solidFill>
                        </a:rPr>
                        <a:t>Category</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Lookup</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Taxpayer categories (Individual, SME, Corp)</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b="1" dirty="0">
                          <a:solidFill>
                            <a:srgbClr val="2A9D8F"/>
                          </a:solidFill>
                        </a:rPr>
                        <a:t>5</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800" b="1" dirty="0">
                          <a:solidFill>
                            <a:srgbClr val="1B3A5C"/>
                          </a:solidFill>
                        </a:rPr>
                        <a:t>Structure</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Lookup</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Business structure types (Individual, Partnership, Corp)</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b="1" dirty="0">
                          <a:solidFill>
                            <a:srgbClr val="2A9D8F"/>
                          </a:solidFill>
                        </a:rPr>
                        <a:t>5</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153074418"/>
                  </a:ext>
                </a:extLst>
              </a:tr>
              <a:tr h="0">
                <a:tc>
                  <a:txBody>
                    <a:bodyPr/>
                    <a:lstStyle/>
                    <a:p>
                      <a:pPr marL="0" indent="0">
                        <a:buNone/>
                      </a:pPr>
                      <a:r>
                        <a:rPr lang="en-US" sz="800" b="1" dirty="0">
                          <a:solidFill>
                            <a:srgbClr val="1B3A5C"/>
                          </a:solidFill>
                        </a:rPr>
                        <a:t>Activity</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Lookup</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Business activity sectors (Manufacturing, Service, etc.)</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b="1" dirty="0">
                          <a:solidFill>
                            <a:srgbClr val="2A9D8F"/>
                          </a:solidFill>
                        </a:rPr>
                        <a:t>5</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470788513"/>
                  </a:ext>
                </a:extLst>
              </a:tr>
              <a:tr h="288963">
                <a:tc>
                  <a:txBody>
                    <a:bodyPr/>
                    <a:lstStyle/>
                    <a:p>
                      <a:pPr marL="0" indent="0">
                        <a:buNone/>
                      </a:pPr>
                      <a:r>
                        <a:rPr lang="en-US" sz="800" b="1" dirty="0">
                          <a:solidFill>
                            <a:srgbClr val="1B3A5C"/>
                          </a:solidFill>
                        </a:rPr>
                        <a:t>Taxpayer</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Reference</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Registered taxpayers with TaxID, business name</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b="1" dirty="0">
                          <a:solidFill>
                            <a:srgbClr val="2A9D8F"/>
                          </a:solidFill>
                        </a:rPr>
                        <a:t>1,000</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8963">
                <a:tc>
                  <a:txBody>
                    <a:bodyPr/>
                    <a:lstStyle/>
                    <a:p>
                      <a:pPr marL="0" indent="0">
                        <a:buNone/>
                      </a:pPr>
                      <a:r>
                        <a:rPr lang="en-US" sz="800" b="1" dirty="0">
                          <a:solidFill>
                            <a:srgbClr val="1B3A5C"/>
                          </a:solidFill>
                        </a:rPr>
                        <a:t>Officer</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Reference</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Tax collection officers with department</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b="1" dirty="0">
                          <a:solidFill>
                            <a:srgbClr val="2A9D8F"/>
                          </a:solidFill>
                        </a:rPr>
                        <a:t>10</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extLst>
                  <a:ext uri="{0D108BD9-81ED-4DB2-BD59-A6C34878D82A}">
                    <a16:rowId xmlns:a16="http://schemas.microsoft.com/office/drawing/2014/main" val="10002"/>
                  </a:ext>
                </a:extLst>
              </a:tr>
              <a:tr h="288963">
                <a:tc>
                  <a:txBody>
                    <a:bodyPr/>
                    <a:lstStyle/>
                    <a:p>
                      <a:pPr marL="0" indent="0">
                        <a:buNone/>
                      </a:pPr>
                      <a:r>
                        <a:rPr lang="en-US" sz="800" b="1" dirty="0">
                          <a:solidFill>
                            <a:srgbClr val="1B3A5C"/>
                          </a:solidFill>
                        </a:rPr>
                        <a:t>Owner</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Reference</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Business owners with ownership percentages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b="1" dirty="0">
                          <a:solidFill>
                            <a:srgbClr val="2A9D8F"/>
                          </a:solidFill>
                        </a:rPr>
                        <a:t>~1,956</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88963">
                <a:tc>
                  <a:txBody>
                    <a:bodyPr/>
                    <a:lstStyle/>
                    <a:p>
                      <a:pPr marL="0" indent="0">
                        <a:buNone/>
                      </a:pPr>
                      <a:r>
                        <a:rPr lang="en-US" sz="800" b="1" dirty="0">
                          <a:solidFill>
                            <a:srgbClr val="1B3A5C"/>
                          </a:solidFill>
                        </a:rPr>
                        <a:t>MonthlyDeclaration</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Transaction</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Monthly tax declarations with revenue, tax, penalties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b="1" dirty="0">
                          <a:solidFill>
                            <a:srgbClr val="2A9D8F"/>
                          </a:solidFill>
                        </a:rPr>
                        <a:t>~38,491</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extLst>
                  <a:ext uri="{0D108BD9-81ED-4DB2-BD59-A6C34878D82A}">
                    <a16:rowId xmlns:a16="http://schemas.microsoft.com/office/drawing/2014/main" val="10004"/>
                  </a:ext>
                </a:extLst>
              </a:tr>
              <a:tr h="288963">
                <a:tc>
                  <a:txBody>
                    <a:bodyPr/>
                    <a:lstStyle/>
                    <a:p>
                      <a:pPr marL="0" indent="0">
                        <a:buNone/>
                      </a:pPr>
                      <a:r>
                        <a:rPr lang="en-US" sz="800" b="1" dirty="0">
                          <a:solidFill>
                            <a:srgbClr val="1B3A5C"/>
                          </a:solidFill>
                        </a:rPr>
                        <a:t>Payment</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Transaction</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Tax payments linked to declarations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b="1" dirty="0">
                          <a:solidFill>
                            <a:srgbClr val="2A9D8F"/>
                          </a:solidFill>
                        </a:rPr>
                        <a:t>~13,733</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88963">
                <a:tc>
                  <a:txBody>
                    <a:bodyPr/>
                    <a:lstStyle/>
                    <a:p>
                      <a:pPr marL="0" indent="0">
                        <a:buNone/>
                      </a:pPr>
                      <a:r>
                        <a:rPr lang="en-US" sz="800" b="1" dirty="0">
                          <a:solidFill>
                            <a:srgbClr val="1B3A5C"/>
                          </a:solidFill>
                        </a:rPr>
                        <a:t>AnnualDeclaration</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Transaction</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Annual tax declarations with yearly summaries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b="1" dirty="0">
                          <a:solidFill>
                            <a:srgbClr val="2A9D8F"/>
                          </a:solidFill>
                        </a:rPr>
                        <a:t>2,785</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extLst>
                  <a:ext uri="{0D108BD9-81ED-4DB2-BD59-A6C34878D82A}">
                    <a16:rowId xmlns:a16="http://schemas.microsoft.com/office/drawing/2014/main" val="10006"/>
                  </a:ext>
                </a:extLst>
              </a:tr>
            </a:tbl>
          </a:graphicData>
        </a:graphic>
      </p:graphicFrame>
      <p:sp>
        <p:nvSpPr>
          <p:cNvPr id="8" name="Text 5"/>
          <p:cNvSpPr/>
          <p:nvPr/>
        </p:nvSpPr>
        <p:spPr>
          <a:xfrm>
            <a:off x="457200" y="4238895"/>
            <a:ext cx="8229600" cy="457200"/>
          </a:xfrm>
          <a:prstGeom prst="rect">
            <a:avLst/>
          </a:prstGeom>
          <a:noFill/>
          <a:ln/>
        </p:spPr>
        <p:txBody>
          <a:bodyPr wrap="square" rtlCol="0" anchor="ctr"/>
          <a:lstStyle/>
          <a:p>
            <a:pPr marL="0" indent="0">
              <a:buNone/>
            </a:pPr>
            <a:r>
              <a:rPr lang="en-US" sz="1000" i="1" dirty="0">
                <a:solidFill>
                  <a:srgbClr val="64748B"/>
                </a:solidFill>
              </a:rPr>
              <a:t>Data Generator (02_TransactionData.sql): 1,000 taxpayers, 4 years (2020–2023), 99.8% filing coverage, 58,813 records. Verified: 10 FKs, 19 CHECK constraints, 35 indexes, 0 orphans, 0 NULLs (see Source Database Verification document).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txBody>
          <a:bodyPr/>
          <a:lstStyle/>
          <a:p>
            <a:endParaRPr/>
          </a:p>
        </p:txBody>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10 / 13</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POC Evidence — 4 Challenges Addressed</a:t>
            </a:r>
            <a:endParaRPr lang="en-US" sz="2200" dirty="0"/>
          </a:p>
        </p:txBody>
      </p:sp>
      <p:sp>
        <p:nvSpPr>
          <p:cNvPr id="5" name="Shape 3"/>
          <p:cNvSpPr/>
          <p:nvPr/>
        </p:nvSpPr>
        <p:spPr>
          <a:xfrm>
            <a:off x="457200" y="731520"/>
            <a:ext cx="1097280" cy="36576"/>
          </a:xfrm>
          <a:prstGeom prst="rect">
            <a:avLst/>
          </a:prstGeom>
          <a:solidFill>
            <a:srgbClr val="2A9D8F"/>
          </a:solidFill>
          <a:ln/>
        </p:spPr>
        <p:txBody>
          <a:bodyPr/>
          <a:lstStyle/>
          <a:p>
            <a:endParaRPr/>
          </a:p>
        </p:txBody>
      </p:sp>
      <p:sp>
        <p:nvSpPr>
          <p:cNvPr id="6" name="Shape 4"/>
          <p:cNvSpPr/>
          <p:nvPr/>
        </p:nvSpPr>
        <p:spPr>
          <a:xfrm>
            <a:off x="274320" y="914400"/>
            <a:ext cx="8595360" cy="822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7" name="Shape 5"/>
          <p:cNvSpPr/>
          <p:nvPr/>
        </p:nvSpPr>
        <p:spPr>
          <a:xfrm>
            <a:off x="274320" y="914400"/>
            <a:ext cx="54864" cy="822960"/>
          </a:xfrm>
          <a:prstGeom prst="rect">
            <a:avLst/>
          </a:prstGeom>
          <a:solidFill>
            <a:srgbClr val="2A9D8F"/>
          </a:solidFill>
          <a:ln/>
        </p:spPr>
        <p:txBody>
          <a:bodyPr/>
          <a:lstStyle/>
          <a:p>
            <a:endParaRPr/>
          </a:p>
        </p:txBody>
      </p:sp>
      <p:sp>
        <p:nvSpPr>
          <p:cNvPr id="8" name="Text 6"/>
          <p:cNvSpPr/>
          <p:nvPr/>
        </p:nvSpPr>
        <p:spPr>
          <a:xfrm>
            <a:off x="457200" y="914400"/>
            <a:ext cx="2011680" cy="822960"/>
          </a:xfrm>
          <a:prstGeom prst="rect">
            <a:avLst/>
          </a:prstGeom>
          <a:noFill/>
          <a:ln/>
        </p:spPr>
        <p:txBody>
          <a:bodyPr wrap="square" rtlCol="0" anchor="ctr"/>
          <a:lstStyle/>
          <a:p>
            <a:pPr marL="0" indent="0">
              <a:buNone/>
            </a:pPr>
            <a:r>
              <a:rPr lang="en-US" sz="1050" b="1" dirty="0">
                <a:solidFill>
                  <a:srgbClr val="1B3A5C"/>
                </a:solidFill>
                <a:latin typeface="Georgia" pitchFamily="34" charset="0"/>
                <a:ea typeface="Georgia" pitchFamily="34" charset="-122"/>
                <a:cs typeface="Georgia" pitchFamily="34" charset="-120"/>
              </a:rPr>
              <a:t>C1: Schema Rigidity</a:t>
            </a:r>
            <a:endParaRPr lang="en-US" sz="1050" dirty="0"/>
          </a:p>
        </p:txBody>
      </p:sp>
      <p:sp>
        <p:nvSpPr>
          <p:cNvPr id="9" name="Text 7"/>
          <p:cNvSpPr/>
          <p:nvPr/>
        </p:nvSpPr>
        <p:spPr>
          <a:xfrm>
            <a:off x="2560320" y="914400"/>
            <a:ext cx="2926080" cy="822960"/>
          </a:xfrm>
          <a:prstGeom prst="rect">
            <a:avLst/>
          </a:prstGeom>
          <a:noFill/>
          <a:ln/>
        </p:spPr>
        <p:txBody>
          <a:bodyPr wrap="square" rtlCol="0" anchor="ctr"/>
          <a:lstStyle/>
          <a:p>
            <a:pPr marL="0" indent="0">
              <a:buNone/>
            </a:pPr>
            <a:r>
              <a:rPr lang="en-US" sz="900" dirty="0">
                <a:solidFill>
                  <a:srgbClr val="DC2626"/>
                </a:solidFill>
              </a:rPr>
              <a:t>Problem: ALTER TABLE impacts multiple dependent objects</a:t>
            </a:r>
            <a:endParaRPr lang="en-US" sz="900" dirty="0"/>
          </a:p>
        </p:txBody>
      </p:sp>
      <p:sp>
        <p:nvSpPr>
          <p:cNvPr id="10" name="Text 8"/>
          <p:cNvSpPr/>
          <p:nvPr/>
        </p:nvSpPr>
        <p:spPr>
          <a:xfrm>
            <a:off x="5577840" y="914400"/>
            <a:ext cx="3200400" cy="822960"/>
          </a:xfrm>
          <a:prstGeom prst="rect">
            <a:avLst/>
          </a:prstGeom>
          <a:noFill/>
          <a:ln/>
        </p:spPr>
        <p:txBody>
          <a:bodyPr wrap="square" rtlCol="0" anchor="ctr"/>
          <a:lstStyle/>
          <a:p>
            <a:pPr marL="0" indent="0">
              <a:buNone/>
            </a:pPr>
            <a:r>
              <a:rPr lang="en-US" sz="900" dirty="0">
                <a:solidFill>
                  <a:srgbClr val="16A34A"/>
                </a:solidFill>
              </a:rPr>
              <a:t>DV2: CREATE new Satellite only — zero impact on 60 SSIS packages</a:t>
            </a:r>
            <a:endParaRPr lang="en-US" sz="900" dirty="0"/>
          </a:p>
        </p:txBody>
      </p:sp>
      <p:sp>
        <p:nvSpPr>
          <p:cNvPr id="11" name="Shape 9"/>
          <p:cNvSpPr/>
          <p:nvPr/>
        </p:nvSpPr>
        <p:spPr>
          <a:xfrm>
            <a:off x="274320" y="1874520"/>
            <a:ext cx="8595360" cy="822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12" name="Shape 10"/>
          <p:cNvSpPr/>
          <p:nvPr/>
        </p:nvSpPr>
        <p:spPr>
          <a:xfrm>
            <a:off x="274320" y="1874520"/>
            <a:ext cx="54864" cy="822960"/>
          </a:xfrm>
          <a:prstGeom prst="rect">
            <a:avLst/>
          </a:prstGeom>
          <a:solidFill>
            <a:srgbClr val="1B3A5C"/>
          </a:solidFill>
          <a:ln/>
        </p:spPr>
        <p:txBody>
          <a:bodyPr/>
          <a:lstStyle/>
          <a:p>
            <a:endParaRPr/>
          </a:p>
        </p:txBody>
      </p:sp>
      <p:sp>
        <p:nvSpPr>
          <p:cNvPr id="13" name="Text 11"/>
          <p:cNvSpPr/>
          <p:nvPr/>
        </p:nvSpPr>
        <p:spPr>
          <a:xfrm>
            <a:off x="457200" y="1874520"/>
            <a:ext cx="2011680" cy="822960"/>
          </a:xfrm>
          <a:prstGeom prst="rect">
            <a:avLst/>
          </a:prstGeom>
          <a:noFill/>
          <a:ln/>
        </p:spPr>
        <p:txBody>
          <a:bodyPr wrap="square" rtlCol="0" anchor="ctr"/>
          <a:lstStyle/>
          <a:p>
            <a:pPr marL="0" indent="0">
              <a:buNone/>
            </a:pPr>
            <a:r>
              <a:rPr lang="en-US" sz="1050" b="1" dirty="0">
                <a:solidFill>
                  <a:srgbClr val="1B3A5C"/>
                </a:solidFill>
                <a:latin typeface="Georgia" pitchFamily="34" charset="0"/>
                <a:ea typeface="Georgia" pitchFamily="34" charset="-122"/>
                <a:cs typeface="Georgia" pitchFamily="34" charset="-120"/>
              </a:rPr>
              <a:t>C2: Historical Tracking</a:t>
            </a:r>
            <a:endParaRPr lang="en-US" sz="1050" dirty="0"/>
          </a:p>
        </p:txBody>
      </p:sp>
      <p:sp>
        <p:nvSpPr>
          <p:cNvPr id="14" name="Text 12"/>
          <p:cNvSpPr/>
          <p:nvPr/>
        </p:nvSpPr>
        <p:spPr>
          <a:xfrm>
            <a:off x="2560320" y="1874520"/>
            <a:ext cx="2926080" cy="822960"/>
          </a:xfrm>
          <a:prstGeom prst="rect">
            <a:avLst/>
          </a:prstGeom>
          <a:noFill/>
          <a:ln/>
        </p:spPr>
        <p:txBody>
          <a:bodyPr wrap="square" rtlCol="0" anchor="ctr"/>
          <a:lstStyle/>
          <a:p>
            <a:pPr marL="0" indent="0">
              <a:buNone/>
            </a:pPr>
            <a:r>
              <a:rPr lang="en-US" sz="900" dirty="0">
                <a:solidFill>
                  <a:srgbClr val="DC2626"/>
                </a:solidFill>
              </a:rPr>
              <a:t>Problem: Limited audit trail, no full version history</a:t>
            </a:r>
            <a:endParaRPr lang="en-US" sz="900" dirty="0"/>
          </a:p>
        </p:txBody>
      </p:sp>
      <p:sp>
        <p:nvSpPr>
          <p:cNvPr id="15" name="Text 13"/>
          <p:cNvSpPr/>
          <p:nvPr/>
        </p:nvSpPr>
        <p:spPr>
          <a:xfrm>
            <a:off x="5577840" y="1874520"/>
            <a:ext cx="3200400" cy="822960"/>
          </a:xfrm>
          <a:prstGeom prst="rect">
            <a:avLst/>
          </a:prstGeom>
          <a:noFill/>
          <a:ln/>
        </p:spPr>
        <p:txBody>
          <a:bodyPr wrap="square" rtlCol="0" anchor="ctr"/>
          <a:lstStyle/>
          <a:p>
            <a:pPr marL="0" indent="0">
              <a:buNone/>
            </a:pPr>
            <a:r>
              <a:rPr lang="en-US" sz="900" dirty="0">
                <a:solidFill>
                  <a:srgbClr val="16A34A"/>
                </a:solidFill>
              </a:rPr>
              <a:t>DV2: Insert-only SATs preserve ALL versions with HashDiff + timestamps</a:t>
            </a:r>
            <a:endParaRPr lang="en-US" sz="900" dirty="0"/>
          </a:p>
        </p:txBody>
      </p:sp>
      <p:sp>
        <p:nvSpPr>
          <p:cNvPr id="16" name="Shape 14"/>
          <p:cNvSpPr/>
          <p:nvPr/>
        </p:nvSpPr>
        <p:spPr>
          <a:xfrm>
            <a:off x="274320" y="2834640"/>
            <a:ext cx="8595360" cy="822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17" name="Shape 15"/>
          <p:cNvSpPr/>
          <p:nvPr/>
        </p:nvSpPr>
        <p:spPr>
          <a:xfrm>
            <a:off x="274320" y="2834640"/>
            <a:ext cx="54864" cy="822960"/>
          </a:xfrm>
          <a:prstGeom prst="rect">
            <a:avLst/>
          </a:prstGeom>
          <a:solidFill>
            <a:srgbClr val="D4A843"/>
          </a:solidFill>
          <a:ln/>
        </p:spPr>
        <p:txBody>
          <a:bodyPr/>
          <a:lstStyle/>
          <a:p>
            <a:endParaRPr/>
          </a:p>
        </p:txBody>
      </p:sp>
      <p:sp>
        <p:nvSpPr>
          <p:cNvPr id="18" name="Text 16"/>
          <p:cNvSpPr/>
          <p:nvPr/>
        </p:nvSpPr>
        <p:spPr>
          <a:xfrm>
            <a:off x="457200" y="2834640"/>
            <a:ext cx="2011680" cy="822960"/>
          </a:xfrm>
          <a:prstGeom prst="rect">
            <a:avLst/>
          </a:prstGeom>
          <a:noFill/>
          <a:ln/>
        </p:spPr>
        <p:txBody>
          <a:bodyPr wrap="square" rtlCol="0" anchor="ctr"/>
          <a:lstStyle/>
          <a:p>
            <a:pPr marL="0" indent="0">
              <a:buNone/>
            </a:pPr>
            <a:r>
              <a:rPr lang="en-US" sz="1050" b="1" dirty="0">
                <a:solidFill>
                  <a:srgbClr val="1B3A5C"/>
                </a:solidFill>
                <a:latin typeface="Georgia" pitchFamily="34" charset="0"/>
                <a:ea typeface="Georgia" pitchFamily="34" charset="-122"/>
                <a:cs typeface="Georgia" pitchFamily="34" charset="-120"/>
              </a:rPr>
              <a:t>C3: Scalable ETL</a:t>
            </a:r>
            <a:endParaRPr lang="en-US" sz="1050" dirty="0"/>
          </a:p>
        </p:txBody>
      </p:sp>
      <p:sp>
        <p:nvSpPr>
          <p:cNvPr id="19" name="Text 17"/>
          <p:cNvSpPr/>
          <p:nvPr/>
        </p:nvSpPr>
        <p:spPr>
          <a:xfrm>
            <a:off x="2560320" y="2834640"/>
            <a:ext cx="2926080" cy="822960"/>
          </a:xfrm>
          <a:prstGeom prst="rect">
            <a:avLst/>
          </a:prstGeom>
          <a:noFill/>
          <a:ln/>
        </p:spPr>
        <p:txBody>
          <a:bodyPr wrap="square" rtlCol="0" anchor="ctr"/>
          <a:lstStyle/>
          <a:p>
            <a:pPr marL="0" indent="0">
              <a:buNone/>
            </a:pPr>
            <a:r>
              <a:rPr lang="en-US" sz="900" dirty="0">
                <a:solidFill>
                  <a:srgbClr val="DC2626"/>
                </a:solidFill>
              </a:rPr>
              <a:t>Problem: Monolithic pipelines, no step-level logging or error recovery</a:t>
            </a:r>
            <a:endParaRPr lang="en-US" sz="900" dirty="0"/>
          </a:p>
        </p:txBody>
      </p:sp>
      <p:sp>
        <p:nvSpPr>
          <p:cNvPr id="20" name="Text 18"/>
          <p:cNvSpPr/>
          <p:nvPr/>
        </p:nvSpPr>
        <p:spPr>
          <a:xfrm>
            <a:off x="5577840" y="2834640"/>
            <a:ext cx="3200400" cy="822960"/>
          </a:xfrm>
          <a:prstGeom prst="rect">
            <a:avLst/>
          </a:prstGeom>
          <a:noFill/>
          <a:ln/>
        </p:spPr>
        <p:txBody>
          <a:bodyPr wrap="square" rtlCol="0" anchor="ctr"/>
          <a:lstStyle/>
          <a:p>
            <a:pPr marL="0" indent="0">
              <a:buNone/>
            </a:pPr>
            <a:r>
              <a:rPr lang="en-US" sz="900" dirty="0">
                <a:solidFill>
                  <a:srgbClr val="16A34A"/>
                </a:solidFill>
              </a:rPr>
              <a:t>DV2: ETL control with BatchLog/StepLog/ErrorLog, OnError Event Handlers</a:t>
            </a:r>
            <a:endParaRPr lang="en-US" sz="900" dirty="0"/>
          </a:p>
        </p:txBody>
      </p:sp>
      <p:sp>
        <p:nvSpPr>
          <p:cNvPr id="21" name="Shape 19"/>
          <p:cNvSpPr/>
          <p:nvPr/>
        </p:nvSpPr>
        <p:spPr>
          <a:xfrm>
            <a:off x="274320" y="3794760"/>
            <a:ext cx="8595360" cy="822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22" name="Shape 20"/>
          <p:cNvSpPr/>
          <p:nvPr/>
        </p:nvSpPr>
        <p:spPr>
          <a:xfrm>
            <a:off x="274320" y="3794760"/>
            <a:ext cx="54864" cy="822960"/>
          </a:xfrm>
          <a:prstGeom prst="rect">
            <a:avLst/>
          </a:prstGeom>
          <a:solidFill>
            <a:srgbClr val="CD7F32"/>
          </a:solidFill>
          <a:ln/>
        </p:spPr>
        <p:txBody>
          <a:bodyPr/>
          <a:lstStyle/>
          <a:p>
            <a:endParaRPr/>
          </a:p>
        </p:txBody>
      </p:sp>
      <p:sp>
        <p:nvSpPr>
          <p:cNvPr id="23" name="Text 21"/>
          <p:cNvSpPr/>
          <p:nvPr/>
        </p:nvSpPr>
        <p:spPr>
          <a:xfrm>
            <a:off x="457200" y="3794760"/>
            <a:ext cx="2011680" cy="822960"/>
          </a:xfrm>
          <a:prstGeom prst="rect">
            <a:avLst/>
          </a:prstGeom>
          <a:noFill/>
          <a:ln/>
        </p:spPr>
        <p:txBody>
          <a:bodyPr wrap="square" rtlCol="0" anchor="ctr"/>
          <a:lstStyle/>
          <a:p>
            <a:pPr marL="0" indent="0">
              <a:buNone/>
            </a:pPr>
            <a:r>
              <a:rPr lang="en-US" sz="1050" b="1" dirty="0">
                <a:solidFill>
                  <a:srgbClr val="1B3A5C"/>
                </a:solidFill>
                <a:latin typeface="Georgia" pitchFamily="34" charset="0"/>
                <a:ea typeface="Georgia" pitchFamily="34" charset="-122"/>
                <a:cs typeface="Georgia" pitchFamily="34" charset="-120"/>
              </a:rPr>
              <a:t>C4: Business Rules Gap</a:t>
            </a:r>
            <a:endParaRPr lang="en-US" sz="1050" dirty="0"/>
          </a:p>
        </p:txBody>
      </p:sp>
      <p:sp>
        <p:nvSpPr>
          <p:cNvPr id="24" name="Text 22"/>
          <p:cNvSpPr/>
          <p:nvPr/>
        </p:nvSpPr>
        <p:spPr>
          <a:xfrm>
            <a:off x="2560320" y="3794760"/>
            <a:ext cx="2926080" cy="822960"/>
          </a:xfrm>
          <a:prstGeom prst="rect">
            <a:avLst/>
          </a:prstGeom>
          <a:noFill/>
          <a:ln/>
        </p:spPr>
        <p:txBody>
          <a:bodyPr wrap="square" rtlCol="0" anchor="ctr"/>
          <a:lstStyle/>
          <a:p>
            <a:pPr marL="0" indent="0">
              <a:buNone/>
            </a:pPr>
            <a:r>
              <a:rPr lang="en-US" sz="900" dirty="0">
                <a:solidFill>
                  <a:srgbClr val="DC2626"/>
                </a:solidFill>
              </a:rPr>
              <a:t>Problem: No separation of raw data from derived business logic</a:t>
            </a:r>
            <a:endParaRPr lang="en-US" sz="900" dirty="0"/>
          </a:p>
        </p:txBody>
      </p:sp>
      <p:sp>
        <p:nvSpPr>
          <p:cNvPr id="25" name="Text 23"/>
          <p:cNvSpPr/>
          <p:nvPr/>
        </p:nvSpPr>
        <p:spPr>
          <a:xfrm>
            <a:off x="5577840" y="3794760"/>
            <a:ext cx="3200400" cy="822960"/>
          </a:xfrm>
          <a:prstGeom prst="rect">
            <a:avLst/>
          </a:prstGeom>
          <a:noFill/>
          <a:ln/>
        </p:spPr>
        <p:txBody>
          <a:bodyPr wrap="square" rtlCol="0" anchor="ctr"/>
          <a:lstStyle/>
          <a:p>
            <a:pPr marL="0" indent="0">
              <a:buNone/>
            </a:pPr>
            <a:r>
              <a:rPr lang="en-US" sz="900" dirty="0">
                <a:solidFill>
                  <a:srgbClr val="16A34A"/>
                </a:solidFill>
              </a:rPr>
              <a:t>DV2: Silver applies business rules (ComplianceScore); Bronze preserves raw</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6">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txBody>
          <a:bodyPr/>
          <a:lstStyle/>
          <a:p>
            <a:endParaRPr/>
          </a:p>
        </p:txBody>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11 / 13</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Conclusion</a:t>
            </a:r>
            <a:endParaRPr lang="en-US" sz="2200" dirty="0"/>
          </a:p>
        </p:txBody>
      </p:sp>
      <p:sp>
        <p:nvSpPr>
          <p:cNvPr id="5" name="Shape 3"/>
          <p:cNvSpPr/>
          <p:nvPr/>
        </p:nvSpPr>
        <p:spPr>
          <a:xfrm>
            <a:off x="457200" y="731520"/>
            <a:ext cx="1097280" cy="36576"/>
          </a:xfrm>
          <a:prstGeom prst="rect">
            <a:avLst/>
          </a:prstGeom>
          <a:solidFill>
            <a:srgbClr val="2A9D8F"/>
          </a:solidFill>
          <a:ln/>
        </p:spPr>
        <p:txBody>
          <a:bodyPr/>
          <a:lstStyle/>
          <a:p>
            <a:endParaRPr/>
          </a:p>
        </p:txBody>
      </p:sp>
      <p:sp>
        <p:nvSpPr>
          <p:cNvPr id="6" name="Text 4"/>
          <p:cNvSpPr/>
          <p:nvPr/>
        </p:nvSpPr>
        <p:spPr>
          <a:xfrm>
            <a:off x="457200" y="914400"/>
            <a:ext cx="8229600" cy="457200"/>
          </a:xfrm>
          <a:prstGeom prst="rect">
            <a:avLst/>
          </a:prstGeom>
          <a:noFill/>
          <a:ln/>
        </p:spPr>
        <p:txBody>
          <a:bodyPr wrap="square" rtlCol="0" anchor="ctr"/>
          <a:lstStyle/>
          <a:p>
            <a:pPr marL="0" indent="0">
              <a:buNone/>
            </a:pPr>
            <a:r>
              <a:rPr lang="en-US" sz="1100" i="1" dirty="0">
                <a:solidFill>
                  <a:srgbClr val="1E293B"/>
                </a:solidFill>
              </a:rPr>
              <a:t>This research successfully designed, implemented, and evaluated a complete Data Vault 2.0 data warehouse for the Cambodia tax system using medallion architecture on Microsoft SQL Server.</a:t>
            </a:r>
            <a:endParaRPr lang="en-US" sz="1100" dirty="0"/>
          </a:p>
        </p:txBody>
      </p:sp>
      <p:pic>
        <p:nvPicPr>
          <p:cNvPr id="7" name="Image 0" descr="preencoded.png"/>
          <p:cNvPicPr>
            <a:picLocks noChangeAspect="1"/>
          </p:cNvPicPr>
          <p:nvPr/>
        </p:nvPicPr>
        <p:blipFill>
          <a:blip r:embed="rId3"/>
          <a:stretch>
            <a:fillRect/>
          </a:stretch>
        </p:blipFill>
        <p:spPr>
          <a:xfrm>
            <a:off x="457200" y="1581912"/>
            <a:ext cx="201168" cy="201168"/>
          </a:xfrm>
          <a:prstGeom prst="rect">
            <a:avLst/>
          </a:prstGeom>
        </p:spPr>
      </p:pic>
      <p:sp>
        <p:nvSpPr>
          <p:cNvPr id="8" name="Text 5"/>
          <p:cNvSpPr/>
          <p:nvPr/>
        </p:nvSpPr>
        <p:spPr>
          <a:xfrm>
            <a:off x="777240" y="1508760"/>
            <a:ext cx="7955280" cy="457200"/>
          </a:xfrm>
          <a:prstGeom prst="rect">
            <a:avLst/>
          </a:prstGeom>
          <a:noFill/>
          <a:ln/>
        </p:spPr>
        <p:txBody>
          <a:bodyPr wrap="square" rtlCol="0" anchor="ctr"/>
          <a:lstStyle/>
          <a:p>
            <a:pPr marL="0" indent="0">
              <a:buNone/>
            </a:pPr>
            <a:r>
              <a:rPr lang="en-US" sz="1000" dirty="0">
                <a:solidFill>
                  <a:srgbClr val="1E293B"/>
                </a:solidFill>
              </a:rPr>
              <a:t>Complete 4-layer architecture: 67 objects, 60 SSIS packages, 49 ETL steps across 6 databases</a:t>
            </a:r>
            <a:endParaRPr lang="en-US" sz="1000" dirty="0"/>
          </a:p>
        </p:txBody>
      </p:sp>
      <p:pic>
        <p:nvPicPr>
          <p:cNvPr id="9" name="Image 1" descr="preencoded.png"/>
          <p:cNvPicPr>
            <a:picLocks noChangeAspect="1"/>
          </p:cNvPicPr>
          <p:nvPr/>
        </p:nvPicPr>
        <p:blipFill>
          <a:blip r:embed="rId3"/>
          <a:stretch>
            <a:fillRect/>
          </a:stretch>
        </p:blipFill>
        <p:spPr>
          <a:xfrm>
            <a:off x="457200" y="2103120"/>
            <a:ext cx="201168" cy="201168"/>
          </a:xfrm>
          <a:prstGeom prst="rect">
            <a:avLst/>
          </a:prstGeom>
        </p:spPr>
      </p:pic>
      <p:sp>
        <p:nvSpPr>
          <p:cNvPr id="10" name="Text 6"/>
          <p:cNvSpPr/>
          <p:nvPr/>
        </p:nvSpPr>
        <p:spPr>
          <a:xfrm>
            <a:off x="777240" y="2029968"/>
            <a:ext cx="7955280" cy="457200"/>
          </a:xfrm>
          <a:prstGeom prst="rect">
            <a:avLst/>
          </a:prstGeom>
          <a:noFill/>
          <a:ln/>
        </p:spPr>
        <p:txBody>
          <a:bodyPr wrap="square" rtlCol="0" anchor="ctr"/>
          <a:lstStyle/>
          <a:p>
            <a:pPr marL="0" indent="0">
              <a:buNone/>
            </a:pPr>
            <a:r>
              <a:rPr lang="en-US" sz="1000" dirty="0">
                <a:solidFill>
                  <a:srgbClr val="1E293B"/>
                </a:solidFill>
              </a:rPr>
              <a:t>ETL pipeline: Full and incremental loading with watermark-based change detection and per-step error isolation</a:t>
            </a:r>
            <a:endParaRPr lang="en-US" sz="1000" dirty="0"/>
          </a:p>
        </p:txBody>
      </p:sp>
      <p:pic>
        <p:nvPicPr>
          <p:cNvPr id="11" name="Image 2" descr="preencoded.png"/>
          <p:cNvPicPr>
            <a:picLocks noChangeAspect="1"/>
          </p:cNvPicPr>
          <p:nvPr/>
        </p:nvPicPr>
        <p:blipFill>
          <a:blip r:embed="rId3"/>
          <a:stretch>
            <a:fillRect/>
          </a:stretch>
        </p:blipFill>
        <p:spPr>
          <a:xfrm>
            <a:off x="457200" y="2624328"/>
            <a:ext cx="201168" cy="201168"/>
          </a:xfrm>
          <a:prstGeom prst="rect">
            <a:avLst/>
          </a:prstGeom>
        </p:spPr>
      </p:pic>
      <p:sp>
        <p:nvSpPr>
          <p:cNvPr id="12" name="Text 7"/>
          <p:cNvSpPr/>
          <p:nvPr/>
        </p:nvSpPr>
        <p:spPr>
          <a:xfrm>
            <a:off x="777240" y="2551176"/>
            <a:ext cx="7955280" cy="457200"/>
          </a:xfrm>
          <a:prstGeom prst="rect">
            <a:avLst/>
          </a:prstGeom>
          <a:noFill/>
          <a:ln/>
        </p:spPr>
        <p:txBody>
          <a:bodyPr wrap="square" rtlCol="0" anchor="ctr"/>
          <a:lstStyle/>
          <a:p>
            <a:pPr marL="0" indent="0">
              <a:buNone/>
            </a:pPr>
            <a:r>
              <a:rPr lang="en-US" sz="1000" dirty="0">
                <a:solidFill>
                  <a:srgbClr val="1E293B"/>
                </a:solidFill>
              </a:rPr>
              <a:t>Gold layer star schema provides consumption-ready dimensional model for BI reporting</a:t>
            </a:r>
            <a:endParaRPr lang="en-US" sz="1000" dirty="0"/>
          </a:p>
        </p:txBody>
      </p:sp>
      <p:pic>
        <p:nvPicPr>
          <p:cNvPr id="13" name="Image 3" descr="preencoded.png"/>
          <p:cNvPicPr>
            <a:picLocks noChangeAspect="1"/>
          </p:cNvPicPr>
          <p:nvPr/>
        </p:nvPicPr>
        <p:blipFill>
          <a:blip r:embed="rId3"/>
          <a:stretch>
            <a:fillRect/>
          </a:stretch>
        </p:blipFill>
        <p:spPr>
          <a:xfrm>
            <a:off x="457200" y="3145536"/>
            <a:ext cx="201168" cy="201168"/>
          </a:xfrm>
          <a:prstGeom prst="rect">
            <a:avLst/>
          </a:prstGeom>
        </p:spPr>
      </p:pic>
      <p:sp>
        <p:nvSpPr>
          <p:cNvPr id="14" name="Text 8"/>
          <p:cNvSpPr/>
          <p:nvPr/>
        </p:nvSpPr>
        <p:spPr>
          <a:xfrm>
            <a:off x="777240" y="3072384"/>
            <a:ext cx="7955280" cy="457200"/>
          </a:xfrm>
          <a:prstGeom prst="rect">
            <a:avLst/>
          </a:prstGeom>
          <a:noFill/>
          <a:ln/>
        </p:spPr>
        <p:txBody>
          <a:bodyPr wrap="square" rtlCol="0" anchor="ctr"/>
          <a:lstStyle/>
          <a:p>
            <a:pPr marL="0" indent="0">
              <a:buNone/>
            </a:pPr>
            <a:r>
              <a:rPr lang="en-US" sz="1000" dirty="0">
                <a:solidFill>
                  <a:srgbClr val="1E293B"/>
                </a:solidFill>
              </a:rPr>
              <a:t>Performance benchmarking and scalability analysis identified as future work</a:t>
            </a:r>
            <a:endParaRPr lang="en-US" sz="1000" dirty="0"/>
          </a:p>
        </p:txBody>
      </p:sp>
      <p:pic>
        <p:nvPicPr>
          <p:cNvPr id="15" name="Image 4" descr="preencoded.png"/>
          <p:cNvPicPr>
            <a:picLocks noChangeAspect="1"/>
          </p:cNvPicPr>
          <p:nvPr/>
        </p:nvPicPr>
        <p:blipFill>
          <a:blip r:embed="rId3"/>
          <a:stretch>
            <a:fillRect/>
          </a:stretch>
        </p:blipFill>
        <p:spPr>
          <a:xfrm>
            <a:off x="457200" y="3666744"/>
            <a:ext cx="201168" cy="201168"/>
          </a:xfrm>
          <a:prstGeom prst="rect">
            <a:avLst/>
          </a:prstGeom>
        </p:spPr>
      </p:pic>
      <p:sp>
        <p:nvSpPr>
          <p:cNvPr id="16" name="Text 9"/>
          <p:cNvSpPr/>
          <p:nvPr/>
        </p:nvSpPr>
        <p:spPr>
          <a:xfrm>
            <a:off x="777240" y="3593592"/>
            <a:ext cx="7955280" cy="457200"/>
          </a:xfrm>
          <a:prstGeom prst="rect">
            <a:avLst/>
          </a:prstGeom>
          <a:noFill/>
          <a:ln/>
        </p:spPr>
        <p:txBody>
          <a:bodyPr wrap="square" rtlCol="0" anchor="ctr"/>
          <a:lstStyle/>
          <a:p>
            <a:pPr marL="0" indent="0">
              <a:buNone/>
            </a:pPr>
            <a:r>
              <a:rPr lang="en-US" sz="1000" dirty="0">
                <a:solidFill>
                  <a:srgbClr val="1E293B"/>
                </a:solidFill>
              </a:rPr>
              <a:t>POC validation: All 4 challenges (schema rigidity, history, scalable ETL, business rules) addressed</a:t>
            </a:r>
            <a:endParaRPr lang="en-US" sz="1000" dirty="0"/>
          </a:p>
        </p:txBody>
      </p:sp>
      <p:pic>
        <p:nvPicPr>
          <p:cNvPr id="17" name="Image 5" descr="preencoded.png"/>
          <p:cNvPicPr>
            <a:picLocks noChangeAspect="1"/>
          </p:cNvPicPr>
          <p:nvPr/>
        </p:nvPicPr>
        <p:blipFill>
          <a:blip r:embed="rId3"/>
          <a:stretch>
            <a:fillRect/>
          </a:stretch>
        </p:blipFill>
        <p:spPr>
          <a:xfrm>
            <a:off x="457200" y="4187952"/>
            <a:ext cx="201168" cy="201168"/>
          </a:xfrm>
          <a:prstGeom prst="rect">
            <a:avLst/>
          </a:prstGeom>
        </p:spPr>
      </p:pic>
      <p:sp>
        <p:nvSpPr>
          <p:cNvPr id="18" name="Text 10"/>
          <p:cNvSpPr/>
          <p:nvPr/>
        </p:nvSpPr>
        <p:spPr>
          <a:xfrm>
            <a:off x="777240" y="4114800"/>
            <a:ext cx="7955280" cy="457200"/>
          </a:xfrm>
          <a:prstGeom prst="rect">
            <a:avLst/>
          </a:prstGeom>
          <a:noFill/>
          <a:ln/>
        </p:spPr>
        <p:txBody>
          <a:bodyPr wrap="square" rtlCol="0" anchor="ctr"/>
          <a:lstStyle/>
          <a:p>
            <a:pPr marL="0" indent="0">
              <a:buNone/>
            </a:pPr>
            <a:r>
              <a:rPr lang="en-US" sz="1000" dirty="0">
                <a:solidFill>
                  <a:srgbClr val="1E293B"/>
                </a:solidFill>
              </a:rPr>
              <a:t>3 companion documents [32][33][34] provide full reproducibility with SQL scripts and SSMS screenshots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txBody>
          <a:bodyPr/>
          <a:lstStyle/>
          <a:p>
            <a:endParaRPr/>
          </a:p>
        </p:txBody>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12 / 13</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Future Work &amp; Recommendations</a:t>
            </a:r>
            <a:endParaRPr lang="en-US" sz="2200" dirty="0"/>
          </a:p>
        </p:txBody>
      </p:sp>
      <p:sp>
        <p:nvSpPr>
          <p:cNvPr id="5" name="Shape 3"/>
          <p:cNvSpPr/>
          <p:nvPr/>
        </p:nvSpPr>
        <p:spPr>
          <a:xfrm>
            <a:off x="457200" y="731520"/>
            <a:ext cx="1097280" cy="36576"/>
          </a:xfrm>
          <a:prstGeom prst="rect">
            <a:avLst/>
          </a:prstGeom>
          <a:solidFill>
            <a:srgbClr val="2A9D8F"/>
          </a:solidFill>
          <a:ln/>
        </p:spPr>
        <p:txBody>
          <a:bodyPr/>
          <a:lstStyle/>
          <a:p>
            <a:endParaRPr/>
          </a:p>
        </p:txBody>
      </p:sp>
      <p:sp>
        <p:nvSpPr>
          <p:cNvPr id="6" name="Shape 4"/>
          <p:cNvSpPr/>
          <p:nvPr/>
        </p:nvSpPr>
        <p:spPr>
          <a:xfrm>
            <a:off x="457200" y="100584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7" name="Shape 5"/>
          <p:cNvSpPr/>
          <p:nvPr/>
        </p:nvSpPr>
        <p:spPr>
          <a:xfrm>
            <a:off x="457200" y="1005840"/>
            <a:ext cx="54864" cy="548640"/>
          </a:xfrm>
          <a:prstGeom prst="rect">
            <a:avLst/>
          </a:prstGeom>
          <a:solidFill>
            <a:srgbClr val="2A9D8F"/>
          </a:solidFill>
          <a:ln/>
        </p:spPr>
        <p:txBody>
          <a:bodyPr/>
          <a:lstStyle/>
          <a:p>
            <a:endParaRPr/>
          </a:p>
        </p:txBody>
      </p:sp>
      <p:sp>
        <p:nvSpPr>
          <p:cNvPr id="8" name="Text 6"/>
          <p:cNvSpPr/>
          <p:nvPr/>
        </p:nvSpPr>
        <p:spPr>
          <a:xfrm>
            <a:off x="685800" y="1005840"/>
            <a:ext cx="7772400" cy="548640"/>
          </a:xfrm>
          <a:prstGeom prst="rect">
            <a:avLst/>
          </a:prstGeom>
          <a:noFill/>
          <a:ln/>
        </p:spPr>
        <p:txBody>
          <a:bodyPr wrap="square" rtlCol="0" anchor="ctr"/>
          <a:lstStyle/>
          <a:p>
            <a:pPr marL="0" indent="0">
              <a:buNone/>
            </a:pPr>
            <a:r>
              <a:rPr lang="en-US" sz="1050" dirty="0">
                <a:solidFill>
                  <a:srgbClr val="1E293B"/>
                </a:solidFill>
              </a:rPr>
              <a:t>1. Real-time processing with CDC (Change Data Capture) for critical compliance monitoring tables</a:t>
            </a:r>
            <a:endParaRPr lang="en-US" sz="1050" dirty="0"/>
          </a:p>
        </p:txBody>
      </p:sp>
      <p:sp>
        <p:nvSpPr>
          <p:cNvPr id="9" name="Shape 7"/>
          <p:cNvSpPr/>
          <p:nvPr/>
        </p:nvSpPr>
        <p:spPr>
          <a:xfrm>
            <a:off x="457200" y="1645920"/>
            <a:ext cx="8229600" cy="548640"/>
          </a:xfrm>
          <a:prstGeom prst="rect">
            <a:avLst/>
          </a:prstGeom>
          <a:solidFill>
            <a:srgbClr val="E8F4F2"/>
          </a:solidFill>
          <a:ln/>
          <a:effectLst>
            <a:outerShdw blurRad="50800" dist="25400" dir="8100000" algn="bl" rotWithShape="0">
              <a:srgbClr val="000000">
                <a:alpha val="10000"/>
              </a:srgbClr>
            </a:outerShdw>
          </a:effectLst>
        </p:spPr>
        <p:txBody>
          <a:bodyPr/>
          <a:lstStyle/>
          <a:p>
            <a:endParaRPr/>
          </a:p>
        </p:txBody>
      </p:sp>
      <p:sp>
        <p:nvSpPr>
          <p:cNvPr id="10" name="Shape 8"/>
          <p:cNvSpPr/>
          <p:nvPr/>
        </p:nvSpPr>
        <p:spPr>
          <a:xfrm>
            <a:off x="457200" y="1645920"/>
            <a:ext cx="54864" cy="548640"/>
          </a:xfrm>
          <a:prstGeom prst="rect">
            <a:avLst/>
          </a:prstGeom>
          <a:solidFill>
            <a:srgbClr val="2A9D8F"/>
          </a:solidFill>
          <a:ln/>
        </p:spPr>
        <p:txBody>
          <a:bodyPr/>
          <a:lstStyle/>
          <a:p>
            <a:endParaRPr/>
          </a:p>
        </p:txBody>
      </p:sp>
      <p:sp>
        <p:nvSpPr>
          <p:cNvPr id="11" name="Text 9"/>
          <p:cNvSpPr/>
          <p:nvPr/>
        </p:nvSpPr>
        <p:spPr>
          <a:xfrm>
            <a:off x="685800" y="1645920"/>
            <a:ext cx="7772400" cy="548640"/>
          </a:xfrm>
          <a:prstGeom prst="rect">
            <a:avLst/>
          </a:prstGeom>
          <a:noFill/>
          <a:ln/>
        </p:spPr>
        <p:txBody>
          <a:bodyPr wrap="square" rtlCol="0" anchor="ctr"/>
          <a:lstStyle/>
          <a:p>
            <a:pPr marL="0" indent="0">
              <a:buNone/>
            </a:pPr>
            <a:r>
              <a:rPr lang="en-US" sz="1050" dirty="0">
                <a:solidFill>
                  <a:srgbClr val="1E293B"/>
                </a:solidFill>
              </a:rPr>
              <a:t>2. Production deployment with real GDT data — data quality validation, security classification, access controls</a:t>
            </a:r>
            <a:endParaRPr lang="en-US" sz="1050" dirty="0"/>
          </a:p>
        </p:txBody>
      </p:sp>
      <p:sp>
        <p:nvSpPr>
          <p:cNvPr id="12" name="Shape 10"/>
          <p:cNvSpPr/>
          <p:nvPr/>
        </p:nvSpPr>
        <p:spPr>
          <a:xfrm>
            <a:off x="457200" y="228600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13" name="Shape 11"/>
          <p:cNvSpPr/>
          <p:nvPr/>
        </p:nvSpPr>
        <p:spPr>
          <a:xfrm>
            <a:off x="457200" y="2286000"/>
            <a:ext cx="54864" cy="548640"/>
          </a:xfrm>
          <a:prstGeom prst="rect">
            <a:avLst/>
          </a:prstGeom>
          <a:solidFill>
            <a:srgbClr val="2A9D8F"/>
          </a:solidFill>
          <a:ln/>
        </p:spPr>
        <p:txBody>
          <a:bodyPr/>
          <a:lstStyle/>
          <a:p>
            <a:endParaRPr/>
          </a:p>
        </p:txBody>
      </p:sp>
      <p:sp>
        <p:nvSpPr>
          <p:cNvPr id="14" name="Text 12"/>
          <p:cNvSpPr/>
          <p:nvPr/>
        </p:nvSpPr>
        <p:spPr>
          <a:xfrm>
            <a:off x="685800" y="2286000"/>
            <a:ext cx="7772400" cy="548640"/>
          </a:xfrm>
          <a:prstGeom prst="rect">
            <a:avLst/>
          </a:prstGeom>
          <a:noFill/>
          <a:ln/>
        </p:spPr>
        <p:txBody>
          <a:bodyPr wrap="square" rtlCol="0" anchor="ctr"/>
          <a:lstStyle/>
          <a:p>
            <a:pPr marL="0" indent="0">
              <a:buNone/>
            </a:pPr>
            <a:r>
              <a:rPr lang="en-US" sz="1050" dirty="0">
                <a:solidFill>
                  <a:srgbClr val="1E293B"/>
                </a:solidFill>
              </a:rPr>
              <a:t>3. Performance benchmarking: ETL load times, query performance (Gold vs Raw Vault), scalability analysis with columnstore indexes</a:t>
            </a:r>
            <a:endParaRPr lang="en-US" sz="1050" dirty="0"/>
          </a:p>
        </p:txBody>
      </p:sp>
      <p:sp>
        <p:nvSpPr>
          <p:cNvPr id="15" name="Shape 13"/>
          <p:cNvSpPr/>
          <p:nvPr/>
        </p:nvSpPr>
        <p:spPr>
          <a:xfrm>
            <a:off x="457200" y="2926080"/>
            <a:ext cx="8229600" cy="548640"/>
          </a:xfrm>
          <a:prstGeom prst="rect">
            <a:avLst/>
          </a:prstGeom>
          <a:solidFill>
            <a:srgbClr val="E8F4F2"/>
          </a:solidFill>
          <a:ln/>
          <a:effectLst>
            <a:outerShdw blurRad="50800" dist="25400" dir="8100000" algn="bl" rotWithShape="0">
              <a:srgbClr val="000000">
                <a:alpha val="10000"/>
              </a:srgbClr>
            </a:outerShdw>
          </a:effectLst>
        </p:spPr>
        <p:txBody>
          <a:bodyPr/>
          <a:lstStyle/>
          <a:p>
            <a:endParaRPr/>
          </a:p>
        </p:txBody>
      </p:sp>
      <p:sp>
        <p:nvSpPr>
          <p:cNvPr id="16" name="Shape 14"/>
          <p:cNvSpPr/>
          <p:nvPr/>
        </p:nvSpPr>
        <p:spPr>
          <a:xfrm>
            <a:off x="457200" y="2926080"/>
            <a:ext cx="54864" cy="548640"/>
          </a:xfrm>
          <a:prstGeom prst="rect">
            <a:avLst/>
          </a:prstGeom>
          <a:solidFill>
            <a:srgbClr val="2A9D8F"/>
          </a:solidFill>
          <a:ln/>
        </p:spPr>
        <p:txBody>
          <a:bodyPr/>
          <a:lstStyle/>
          <a:p>
            <a:endParaRPr/>
          </a:p>
        </p:txBody>
      </p:sp>
      <p:sp>
        <p:nvSpPr>
          <p:cNvPr id="17" name="Text 15"/>
          <p:cNvSpPr/>
          <p:nvPr/>
        </p:nvSpPr>
        <p:spPr>
          <a:xfrm>
            <a:off x="685800" y="2926080"/>
            <a:ext cx="7772400" cy="548640"/>
          </a:xfrm>
          <a:prstGeom prst="rect">
            <a:avLst/>
          </a:prstGeom>
          <a:noFill/>
          <a:ln/>
        </p:spPr>
        <p:txBody>
          <a:bodyPr wrap="square" rtlCol="0" anchor="ctr"/>
          <a:lstStyle/>
          <a:p>
            <a:pPr marL="0" indent="0">
              <a:buNone/>
            </a:pPr>
            <a:r>
              <a:rPr lang="en-US" sz="1050" dirty="0">
                <a:solidFill>
                  <a:srgbClr val="1E293B"/>
                </a:solidFill>
              </a:rPr>
              <a:t>4. BI dashboard integration (Power BI, Metabase) consuming Gold layer star schema for tax analytics</a:t>
            </a:r>
            <a:endParaRPr lang="en-US" sz="1050" dirty="0"/>
          </a:p>
        </p:txBody>
      </p:sp>
      <p:sp>
        <p:nvSpPr>
          <p:cNvPr id="18" name="Shape 16"/>
          <p:cNvSpPr/>
          <p:nvPr/>
        </p:nvSpPr>
        <p:spPr>
          <a:xfrm>
            <a:off x="457200" y="356616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a:p>
        </p:txBody>
      </p:sp>
      <p:sp>
        <p:nvSpPr>
          <p:cNvPr id="19" name="Shape 17"/>
          <p:cNvSpPr/>
          <p:nvPr/>
        </p:nvSpPr>
        <p:spPr>
          <a:xfrm>
            <a:off x="457200" y="3566160"/>
            <a:ext cx="54864" cy="548640"/>
          </a:xfrm>
          <a:prstGeom prst="rect">
            <a:avLst/>
          </a:prstGeom>
          <a:solidFill>
            <a:srgbClr val="2A9D8F"/>
          </a:solidFill>
          <a:ln/>
        </p:spPr>
        <p:txBody>
          <a:bodyPr/>
          <a:lstStyle/>
          <a:p>
            <a:endParaRPr/>
          </a:p>
        </p:txBody>
      </p:sp>
      <p:sp>
        <p:nvSpPr>
          <p:cNvPr id="20" name="Text 18"/>
          <p:cNvSpPr/>
          <p:nvPr/>
        </p:nvSpPr>
        <p:spPr>
          <a:xfrm>
            <a:off x="685800" y="3566160"/>
            <a:ext cx="7772400" cy="548640"/>
          </a:xfrm>
          <a:prstGeom prst="rect">
            <a:avLst/>
          </a:prstGeom>
          <a:noFill/>
          <a:ln/>
        </p:spPr>
        <p:txBody>
          <a:bodyPr wrap="square" rtlCol="0" anchor="ctr"/>
          <a:lstStyle/>
          <a:p>
            <a:pPr marL="0" indent="0">
              <a:buNone/>
            </a:pPr>
            <a:r>
              <a:rPr lang="en-US" sz="1050" dirty="0">
                <a:solidFill>
                  <a:srgbClr val="1E293B"/>
                </a:solidFill>
              </a:rPr>
              <a:t>5. Multi-source integration: customs, banking, e-invoicing via Same-As Links &amp; Multi-Active Satellites</a:t>
            </a:r>
            <a:endParaRPr lang="en-US" sz="1050" dirty="0"/>
          </a:p>
        </p:txBody>
      </p:sp>
      <p:sp>
        <p:nvSpPr>
          <p:cNvPr id="24" name="Shape 22"/>
          <p:cNvSpPr/>
          <p:nvPr/>
        </p:nvSpPr>
        <p:spPr>
          <a:xfrm>
            <a:off x="457200" y="4206240"/>
            <a:ext cx="8229600" cy="548640"/>
          </a:xfrm>
          <a:prstGeom prst="rect">
            <a:avLst/>
          </a:prstGeom>
          <a:solidFill>
            <a:srgbClr val="E8F4F2"/>
          </a:solidFill>
          <a:ln/>
          <a:effectLst>
            <a:outerShdw blurRad="50800" dist="25400" dir="8100000" algn="bl" rotWithShape="0">
              <a:srgbClr val="000000">
                <a:alpha val="10000"/>
              </a:srgbClr>
            </a:outerShdw>
          </a:effectLst>
        </p:spPr>
        <p:txBody>
          <a:bodyPr/>
          <a:lstStyle/>
          <a:p>
            <a:endParaRPr/>
          </a:p>
        </p:txBody>
      </p:sp>
      <p:sp>
        <p:nvSpPr>
          <p:cNvPr id="25" name="Shape 23"/>
          <p:cNvSpPr/>
          <p:nvPr/>
        </p:nvSpPr>
        <p:spPr>
          <a:xfrm>
            <a:off x="457200" y="4206240"/>
            <a:ext cx="54864" cy="548640"/>
          </a:xfrm>
          <a:prstGeom prst="rect">
            <a:avLst/>
          </a:prstGeom>
          <a:solidFill>
            <a:srgbClr val="2A9D8F"/>
          </a:solidFill>
          <a:ln/>
        </p:spPr>
        <p:txBody>
          <a:bodyPr/>
          <a:lstStyle/>
          <a:p>
            <a:endParaRPr/>
          </a:p>
        </p:txBody>
      </p:sp>
      <p:sp>
        <p:nvSpPr>
          <p:cNvPr id="26" name="Text 24"/>
          <p:cNvSpPr/>
          <p:nvPr/>
        </p:nvSpPr>
        <p:spPr>
          <a:xfrm>
            <a:off x="685800" y="4206240"/>
            <a:ext cx="7772400" cy="548640"/>
          </a:xfrm>
          <a:prstGeom prst="rect">
            <a:avLst/>
          </a:prstGeom>
          <a:noFill/>
          <a:ln/>
        </p:spPr>
        <p:txBody>
          <a:bodyPr wrap="square" rtlCol="0" anchor="ctr"/>
          <a:lstStyle/>
          <a:p>
            <a:pPr marL="0" indent="0">
              <a:buNone/>
            </a:pPr>
            <a:r>
              <a:rPr lang="en-US" sz="1050" dirty="0">
                <a:solidFill>
                  <a:srgbClr val="1E293B"/>
                </a:solidFill>
              </a:rPr>
              <a:t>6. Advanced analytics: ML models on Gold layer for compliance risk scoring, revenue forecasting, fraud detection, and anomaly detection</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bg>
      <p:bgPr>
        <a:solidFill>
          <a:srgbClr val="0D2B4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A9D8F"/>
          </a:solidFill>
          <a:ln/>
        </p:spPr>
        <p:txBody>
          <a:bodyPr/>
          <a:lstStyle/>
          <a:p>
            <a:endParaRPr/>
          </a:p>
        </p:txBody>
      </p:sp>
      <p:sp>
        <p:nvSpPr>
          <p:cNvPr id="3" name="Shape 1"/>
          <p:cNvSpPr/>
          <p:nvPr/>
        </p:nvSpPr>
        <p:spPr>
          <a:xfrm>
            <a:off x="0" y="5070348"/>
            <a:ext cx="9144000" cy="73152"/>
          </a:xfrm>
          <a:prstGeom prst="rect">
            <a:avLst/>
          </a:prstGeom>
          <a:solidFill>
            <a:srgbClr val="2A9D8F"/>
          </a:solidFill>
          <a:ln/>
        </p:spPr>
        <p:txBody>
          <a:bodyPr/>
          <a:lstStyle/>
          <a:p>
            <a:endParaRPr/>
          </a:p>
        </p:txBody>
      </p:sp>
      <p:pic>
        <p:nvPicPr>
          <p:cNvPr id="4" name="Image 0" descr="preencoded.png"/>
          <p:cNvPicPr>
            <a:picLocks noChangeAspect="1"/>
          </p:cNvPicPr>
          <p:nvPr/>
        </p:nvPicPr>
        <p:blipFill>
          <a:blip r:embed="rId3"/>
          <a:stretch>
            <a:fillRect/>
          </a:stretch>
        </p:blipFill>
        <p:spPr>
          <a:xfrm>
            <a:off x="4114800" y="1097280"/>
            <a:ext cx="914400" cy="914400"/>
          </a:xfrm>
          <a:prstGeom prst="rect">
            <a:avLst/>
          </a:prstGeom>
        </p:spPr>
      </p:pic>
      <p:sp>
        <p:nvSpPr>
          <p:cNvPr id="5" name="Text 2"/>
          <p:cNvSpPr/>
          <p:nvPr/>
        </p:nvSpPr>
        <p:spPr>
          <a:xfrm>
            <a:off x="457200" y="2194560"/>
            <a:ext cx="8229600" cy="640080"/>
          </a:xfrm>
          <a:prstGeom prst="rect">
            <a:avLst/>
          </a:prstGeom>
          <a:noFill/>
          <a:ln/>
        </p:spPr>
        <p:txBody>
          <a:bodyPr wrap="square"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Thank You</a:t>
            </a:r>
            <a:endParaRPr lang="en-US" sz="3600" dirty="0"/>
          </a:p>
        </p:txBody>
      </p:sp>
      <p:sp>
        <p:nvSpPr>
          <p:cNvPr id="6" name="Shape 3"/>
          <p:cNvSpPr/>
          <p:nvPr/>
        </p:nvSpPr>
        <p:spPr>
          <a:xfrm>
            <a:off x="2743200" y="2926080"/>
            <a:ext cx="3657600" cy="27432"/>
          </a:xfrm>
          <a:prstGeom prst="rect">
            <a:avLst/>
          </a:prstGeom>
          <a:solidFill>
            <a:srgbClr val="2A9D8F"/>
          </a:solidFill>
          <a:ln/>
        </p:spPr>
        <p:txBody>
          <a:bodyPr/>
          <a:lstStyle/>
          <a:p>
            <a:endParaRPr/>
          </a:p>
        </p:txBody>
      </p:sp>
      <p:sp>
        <p:nvSpPr>
          <p:cNvPr id="7" name="Text 4"/>
          <p:cNvSpPr/>
          <p:nvPr/>
        </p:nvSpPr>
        <p:spPr>
          <a:xfrm>
            <a:off x="457200" y="3108960"/>
            <a:ext cx="8229600" cy="365760"/>
          </a:xfrm>
          <a:prstGeom prst="rect">
            <a:avLst/>
          </a:prstGeom>
          <a:noFill/>
          <a:ln/>
        </p:spPr>
        <p:txBody>
          <a:bodyPr wrap="square" rtlCol="0" anchor="ctr"/>
          <a:lstStyle/>
          <a:p>
            <a:pPr marL="0" indent="0" algn="ctr">
              <a:buNone/>
            </a:pPr>
            <a:r>
              <a:rPr lang="en-US" sz="1600" dirty="0">
                <a:solidFill>
                  <a:srgbClr val="48BFA7"/>
                </a:solidFill>
              </a:rPr>
              <a:t>Questions &amp; Discussion</a:t>
            </a:r>
            <a:endParaRPr lang="en-US" sz="1600" dirty="0"/>
          </a:p>
        </p:txBody>
      </p:sp>
      <p:sp>
        <p:nvSpPr>
          <p:cNvPr id="8" name="Text 5"/>
          <p:cNvSpPr/>
          <p:nvPr/>
        </p:nvSpPr>
        <p:spPr>
          <a:xfrm>
            <a:off x="914400" y="3657600"/>
            <a:ext cx="7315200" cy="548640"/>
          </a:xfrm>
          <a:prstGeom prst="rect">
            <a:avLst/>
          </a:prstGeom>
          <a:noFill/>
          <a:ln/>
        </p:spPr>
        <p:txBody>
          <a:bodyPr wrap="square" rtlCol="0" anchor="ctr"/>
          <a:lstStyle/>
          <a:p>
            <a:pPr marL="0" indent="0" algn="ctr">
              <a:buNone/>
            </a:pPr>
            <a:r>
              <a:rPr lang="en-US" sz="1100" dirty="0">
                <a:solidFill>
                  <a:srgbClr val="64748B"/>
                </a:solidFill>
              </a:rPr>
              <a:t>Data Vault 2.0 Implementation for Cambodia Tax System Data Warehouse</a:t>
            </a:r>
            <a:endParaRPr lang="en-US" sz="1100" dirty="0"/>
          </a:p>
          <a:p>
            <a:pPr marL="0" indent="0" algn="ctr">
              <a:buNone/>
            </a:pPr>
            <a:r>
              <a:rPr lang="en-US" sz="1100" dirty="0">
                <a:solidFill>
                  <a:srgbClr val="64748B"/>
                </a:solidFill>
              </a:rPr>
              <a:t>Using Medallion Architecture</a:t>
            </a:r>
            <a:endParaRPr lang="en-US" sz="1100" dirty="0"/>
          </a:p>
        </p:txBody>
      </p:sp>
      <p:sp>
        <p:nvSpPr>
          <p:cNvPr id="9" name="Text 6"/>
          <p:cNvSpPr/>
          <p:nvPr/>
        </p:nvSpPr>
        <p:spPr>
          <a:xfrm>
            <a:off x="914400" y="4297680"/>
            <a:ext cx="7315200" cy="457200"/>
          </a:xfrm>
          <a:prstGeom prst="rect">
            <a:avLst/>
          </a:prstGeom>
          <a:noFill/>
          <a:ln/>
        </p:spPr>
        <p:txBody>
          <a:bodyPr wrap="square" rtlCol="0" anchor="ctr"/>
          <a:lstStyle/>
          <a:p>
            <a:pPr marL="0" indent="0" algn="ctr">
              <a:buNone/>
            </a:pPr>
            <a:r>
              <a:rPr lang="en-US" sz="1000" dirty="0">
                <a:solidFill>
                  <a:srgbClr val="64748B"/>
                </a:solidFill>
              </a:rPr>
              <a:t>Mr. Sot So  •  Supervisor: Mr. Chap Chanpiseth</a:t>
            </a:r>
            <a:endParaRPr lang="en-US" sz="1000" dirty="0"/>
          </a:p>
          <a:p>
            <a:pPr marL="0" indent="0" algn="ctr">
              <a:buNone/>
            </a:pPr>
            <a:r>
              <a:rPr lang="en-US" sz="1000" dirty="0">
                <a:solidFill>
                  <a:srgbClr val="64748B"/>
                </a:solidFill>
              </a:rPr>
              <a:t>Royal University of Phnom Penh  •  February 2026</a:t>
            </a:r>
            <a:endParaRPr lang="en-US" sz="1000" dirty="0"/>
          </a:p>
        </p:txBody>
      </p:sp>
      <p:sp>
        <p:nvSpPr>
          <p:cNvPr id="10" name="Text 7"/>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13 / 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2881</Words>
  <Application>Microsoft Office PowerPoint</Application>
  <PresentationFormat>On-screen Show (16:9)</PresentationFormat>
  <Paragraphs>314</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Vault 2.0 Implementation for Cambodia Tax System Data Warehouse Using Medallion Architecture</dc:title>
  <dc:subject>PptxGenJS Presentation</dc:subject>
  <dc:creator>Mr. Sot So</dc:creator>
  <cp:lastModifiedBy>SOTSO</cp:lastModifiedBy>
  <cp:revision>3</cp:revision>
  <dcterms:created xsi:type="dcterms:W3CDTF">2026-02-24T07:35:53Z</dcterms:created>
  <dcterms:modified xsi:type="dcterms:W3CDTF">2026-03-02T09:24:48Z</dcterms:modified>
</cp:coreProperties>
</file>
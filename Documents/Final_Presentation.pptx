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results including ETL benchmarks and query performance,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performance benchmarks,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delivers measurable performance benchmarks. C4 is POC evaluation addressing all 4 challenges with implementation evidence. C5 provides a reproducible Technical Implementation Guide.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2016 Data Vault 2.0 methodology, which defines the hub-satellite-link architecture, hash key generation using SHA-256, and insert-only loading patterns.
Second, Armbrust et al.'s 2021 Medallion Architecture with Bronze, Silver, and Gold layers providing progressive data refinement. We adapted this for SQL Server by mapping Bronze to Raw Vault, Silver to Business Vault, and Gold to Star Schema.
Third, Kimball's 34 ETL subsystems framework guides our control architecture. We combine this with DAMA data quality dimensions and watermark-based incremental loading using the MAX ModifiedDate pattern.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6 related studies. Yessad and Labiod in 2016 compared Inmon, Kimball, and Data Vault theoretically but had no implementation. Schafer et al. in 2020 implemented DV2 in healthcare but without Medallion Architecture. Giebler et al. in 2021 worked with big data on Hadoop. Vines in 2024 is the most recent using TPC-DS benchmarks.
Our study is the first to combine DV2 + Medallion + ETL Control + Performance Benchmarks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10 Satellites for descriptive attributes with hash diff change detection, 5 Links for relationships.
Silver: 2 PIT tables for Point-In-Time lookups, 1 Bridge table, 3 Business Vault objects including ComplianceScore. Gold: 6 SCD Type 2 dimensions, 3 fact tables, 2 analytical views.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37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SAT_Taxpayer_RiskLevel requires zero modifications to existing objects, detailed in our Implementation Scenarios document.
Historical Tracking: Satellites maintain complete insert-only history, no destructive updates. Every change is a new row.
ETL Control: 49-step pipeline in 120.9 seconds with per-step error isolation. If step 23 fails, steps 1-22 are preserved.
Business Rules: Silver layer derived attributes like ComplianceScore are isolated from Bronze raw data.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 all empirically verified on our GCP VM with SSMS screenshot evidence.
First, Flexibility and Scalability: we created SAT_Taxpayer_RiskLevel with RiskLevel, RiskScore, and AssessmentDate columns. After loading 10 risk records, we verified all 23 existing Bronze objects had identical create_date and modify_date — proving zero impact on existing structures. The new Satellite was immediately queryable via LEFT JOIN with existing SAT_Taxpayer.
Second, Materialized Views: we implemented vw_GoldMonthlyRevenue with SCHEMABINDING and a unique clustered index. Baseline complex query measured 73ms elapsed. With the NOEXPAND hint, it dropped to 34ms — a verified 2.1x speedup. This is less than the projected 4-6x because our POC has only 38,491 fact records; with production-scale millions of records, the improvement scales proportionally.
Third, Early Arriving Facts: we tested with TAX-2026-EARLY. Hub was created at 06:40:14 with only the business key and zero Satellites. The Link to Declaration 99999 loaded at 06:40:15 — no Satellite data needed. Then 263 seconds later, the SAT_Taxpayer record arrived as a simple INSERT at 06:44:37. The 4-step chronological timeline proves DV2 handles this naturally — zero placeholders, zero UPDATEs, zero reconciliation. Full evidence in our Implementation Scenarios companion document.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validity threats addressed. Internal: all 49 steps verified with row counts, hash key verification, zero data loss. Benchmarks averaged over 5 runs.
External: simulated data verified with 12-point checklist in companion document. Real-world data would add complexity.
Construct: ETL time, query latency, scalability, and POC assessment are standard DV2 metrics.
Conclusion Validity: benchmarks report single-run timings without standard deviation or confidence intervals; GCP shared-core CPU may introduce timing variability.
Conclusion: fully reproducible via Technical Implementation Guide and SQL scripts in appendices.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processing 336,677 records in 120.9 seconds. Gold queries 1.03x to 8.3x faster than raw Bronze. ETL scales linearly at approximately 2,200 records per second. All 4 challenges addressed with implementation evidence.
Three companion documents submitted: [32] Implementation Scenarios with verified SSMS screenshots for Flexibility (23/23 objects unchanged), Materialized Views (73ms to 34ms, 2.1x speedup), and Early Arriving Facts (263-second Hub-to-SAT delay, zero UPDATEs). [33] Performance Benchmarks Verification with reproducible SQL scripts and 14-point checklist.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implement RBAC security, add Power BI dashboards. Medium-term: real-time CDC for near-real-time updates, Big Data scaling with columnstore indexes, implement indexed views.
Long-term: multi-source integration with customs and business registration, machine learning for fraud detection, cloud migration to Azure SQL.
Methodological priority: controlled experiment in production GDT environment with real data and user acceptance testing.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336,677 records in 120.9 seconds, Gold queries 1.03x-8.3x faster, linear scalability at 2,200 records/second, 12 verification checks all passed.
Companion documents submitted: [32] Implementation Scenarios (13 pages, 12 SSMS screenshots, verified results for Flexibility, Materialized Views, Early Arriving Facts), [33] Performance Benchmarks Verification (13 pages, reproducible SQL scripts, 14-point checklist), [34] Source Database Verification (8 pages, 12-point checklist). All SQL scripts and screenshots are independently reproducible on the GCP VM.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Science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Benchmarks, POC Evidence,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DC2626"/>
          </a:solidFill>
          <a:ln/>
        </p:spPr>
        <p:txBody>
          <a:bodyPr/>
          <a:lstStyle/>
          <a:p>
            <a:endParaR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834640"/>
            <a:ext cx="8595360" cy="54864"/>
          </a:xfrm>
          <a:prstGeom prst="rect">
            <a:avLst/>
          </a:prstGeom>
          <a:solidFill>
            <a:srgbClr val="2A9D8F"/>
          </a:solidFill>
          <a:ln/>
        </p:spPr>
        <p:txBody>
          <a:bodyPr/>
          <a:lstStyle/>
          <a:p>
            <a:endParaR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Validate architecture through POC demonstrations addressing 4 key challenges with evidence</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502920"/>
          </a:xfrm>
          <a:prstGeom prst="rect">
            <a:avLst/>
          </a:prstGeom>
          <a:solidFill>
            <a:srgbClr val="D4A843"/>
          </a:solidFill>
          <a:ln/>
        </p:spPr>
        <p:txBody>
          <a:bodyPr/>
          <a:lstStyle/>
          <a:p>
            <a:endParaR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POC evaluation addressing 4 challenges with measurable before/after evidence on Cambodia tax domain</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Technical Implementation Guide — reproducibility artifact for SSIS deployment</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Source Database Verification + companion documents for full reproducibility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1B3A5C"/>
          </a:solidFill>
          <a:ln/>
        </p:spPr>
        <p:txBody>
          <a:bodyPr/>
          <a:lstStyle/>
          <a:p>
            <a:endParaR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926080"/>
            <a:ext cx="8595360" cy="54864"/>
          </a:xfrm>
          <a:prstGeom prst="rect">
            <a:avLst/>
          </a:prstGeom>
          <a:solidFill>
            <a:srgbClr val="2A9D8F"/>
          </a:solidFill>
          <a:ln/>
        </p:spPr>
        <p:txBody>
          <a:bodyPr/>
          <a:lstStyle/>
          <a:p>
            <a:endParaR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Kimball ETL Subsystem: 34 subsystems for enterprise ETL [Kimball &amp; Ross, 2013]</a:t>
            </a:r>
            <a:endParaRPr lang="en-US" sz="900" dirty="0"/>
          </a:p>
          <a:p>
            <a:pPr marL="342900" indent="-342900">
              <a:spcAft>
                <a:spcPts val="300"/>
              </a:spcAft>
              <a:buSzPct val="100000"/>
              <a:buChar char="•"/>
            </a:pPr>
            <a:r>
              <a:rPr lang="en-US" sz="900" dirty="0">
                <a:solidFill>
                  <a:srgbClr val="1E293B"/>
                </a:solidFill>
              </a:rPr>
              <a:t>DAMA Data Quality: Completeness, Accuracy, Consistency, Timeliness, Uniqueness, Validity</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89738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0">
                <a:tc>
                  <a:txBody>
                    <a:bodyPr/>
                    <a:lstStyle/>
                    <a:p>
                      <a:pPr marL="0" indent="0">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POC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POC eval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60120"/>
            <a:ext cx="1508760" cy="365760"/>
          </a:xfrm>
          <a:prstGeom prst="rect">
            <a:avLst/>
          </a:prstGeom>
          <a:solidFill>
            <a:srgbClr val="475569"/>
          </a:solidFill>
          <a:ln/>
        </p:spPr>
        <p:txBody>
          <a:bodyPr/>
          <a:lstStyle/>
          <a:p>
            <a:endParaRPr/>
          </a:p>
        </p:txBody>
      </p:sp>
      <p:sp>
        <p:nvSpPr>
          <p:cNvPr id="8" name="Text 6"/>
          <p:cNvSpPr/>
          <p:nvPr/>
        </p:nvSpPr>
        <p:spPr>
          <a:xfrm>
            <a:off x="274320" y="960120"/>
            <a:ext cx="1508760" cy="365760"/>
          </a:xfrm>
          <a:prstGeom prst="rect">
            <a:avLst/>
          </a:prstGeom>
          <a:noFill/>
          <a:ln/>
        </p:spPr>
        <p:txBody>
          <a:bodyPr wrap="square" rtlCol="0" anchor="ctr"/>
          <a:lstStyle/>
          <a:p>
            <a:pPr marL="0" indent="0" algn="ctr">
              <a:buNone/>
            </a:pPr>
            <a:r>
              <a:rPr lang="en-US" sz="1100" b="1" dirty="0">
                <a:solidFill>
                  <a:srgbClr val="FFFFFF"/>
                </a:solidFill>
              </a:rPr>
              <a:t>Source</a:t>
            </a:r>
            <a:endParaRPr lang="en-US" sz="1100" dirty="0"/>
          </a:p>
        </p:txBody>
      </p:sp>
      <p:sp>
        <p:nvSpPr>
          <p:cNvPr id="9" name="Text 7"/>
          <p:cNvSpPr/>
          <p:nvPr/>
        </p:nvSpPr>
        <p:spPr>
          <a:xfrm>
            <a:off x="274320" y="1371600"/>
            <a:ext cx="1508760" cy="274320"/>
          </a:xfrm>
          <a:prstGeom prst="rect">
            <a:avLst/>
          </a:prstGeom>
          <a:noFill/>
          <a:ln/>
        </p:spPr>
        <p:txBody>
          <a:bodyPr wrap="square" rtlCol="0" anchor="ctr"/>
          <a:lstStyle/>
          <a:p>
            <a:pPr marL="0" indent="0" algn="ctr">
              <a:buNone/>
            </a:pPr>
            <a:r>
              <a:rPr lang="en-US" sz="850" b="1" dirty="0">
                <a:solidFill>
                  <a:srgbClr val="1B3A5C"/>
                </a:solidFill>
              </a:rPr>
              <a:t>TaxSystemDB</a:t>
            </a:r>
            <a:endParaRPr lang="en-US" sz="850" dirty="0"/>
          </a:p>
        </p:txBody>
      </p:sp>
      <p:sp>
        <p:nvSpPr>
          <p:cNvPr id="10" name="Text 8"/>
          <p:cNvSpPr/>
          <p:nvPr/>
        </p:nvSpPr>
        <p:spPr>
          <a:xfrm>
            <a:off x="320040" y="1691640"/>
            <a:ext cx="1417320" cy="914400"/>
          </a:xfrm>
          <a:prstGeom prst="rect">
            <a:avLst/>
          </a:prstGeom>
          <a:noFill/>
          <a:ln/>
        </p:spPr>
        <p:txBody>
          <a:bodyPr wrap="square" rtlCol="0" anchor="t"/>
          <a:lstStyle/>
          <a:p>
            <a:pPr marL="0" indent="0" algn="ctr">
              <a:buNone/>
            </a:pPr>
            <a:r>
              <a:rPr lang="en-US" sz="850" dirty="0">
                <a:solidFill>
                  <a:srgbClr val="64748B"/>
                </a:solidFill>
              </a:rPr>
              <a:t>9 tables</a:t>
            </a:r>
            <a:endParaRPr lang="en-US" sz="850" dirty="0"/>
          </a:p>
          <a:p>
            <a:pPr marL="0" indent="0" algn="ctr">
              <a:buNone/>
            </a:pPr>
            <a:r>
              <a:rPr lang="en-US" sz="850" dirty="0">
                <a:solidFill>
                  <a:srgbClr val="64748B"/>
                </a:solidFill>
              </a:rPr>
              <a:t>+ 3 lookups</a:t>
            </a:r>
            <a:endParaRPr lang="en-US" sz="850" dirty="0"/>
          </a:p>
        </p:txBody>
      </p:sp>
      <p:sp>
        <p:nvSpPr>
          <p:cNvPr id="11" name="Shape 9"/>
          <p:cNvSpPr/>
          <p:nvPr/>
        </p:nvSpPr>
        <p:spPr>
          <a:xfrm>
            <a:off x="196596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1965960" y="960120"/>
            <a:ext cx="1508760" cy="365760"/>
          </a:xfrm>
          <a:prstGeom prst="rect">
            <a:avLst/>
          </a:prstGeom>
          <a:solidFill>
            <a:srgbClr val="94A3B8"/>
          </a:solidFill>
          <a:ln/>
        </p:spPr>
        <p:txBody>
          <a:bodyPr/>
          <a:lstStyle/>
          <a:p>
            <a:endParaRPr/>
          </a:p>
        </p:txBody>
      </p:sp>
      <p:sp>
        <p:nvSpPr>
          <p:cNvPr id="13" name="Text 11"/>
          <p:cNvSpPr/>
          <p:nvPr/>
        </p:nvSpPr>
        <p:spPr>
          <a:xfrm>
            <a:off x="1965960" y="960120"/>
            <a:ext cx="1508760" cy="365760"/>
          </a:xfrm>
          <a:prstGeom prst="rect">
            <a:avLst/>
          </a:prstGeom>
          <a:noFill/>
          <a:ln/>
        </p:spPr>
        <p:txBody>
          <a:bodyPr wrap="square" rtlCol="0" anchor="ctr"/>
          <a:lstStyle/>
          <a:p>
            <a:pPr marL="0" indent="0" algn="ctr">
              <a:buNone/>
            </a:pPr>
            <a:r>
              <a:rPr lang="en-US" sz="1100" b="1" dirty="0">
                <a:solidFill>
                  <a:srgbClr val="FFFFFF"/>
                </a:solidFill>
              </a:rPr>
              <a:t>Staging</a:t>
            </a:r>
            <a:endParaRPr lang="en-US" sz="1100" dirty="0"/>
          </a:p>
        </p:txBody>
      </p:sp>
      <p:sp>
        <p:nvSpPr>
          <p:cNvPr id="14" name="Text 12"/>
          <p:cNvSpPr/>
          <p:nvPr/>
        </p:nvSpPr>
        <p:spPr>
          <a:xfrm>
            <a:off x="1965960" y="1371600"/>
            <a:ext cx="1508760" cy="274320"/>
          </a:xfrm>
          <a:prstGeom prst="rect">
            <a:avLst/>
          </a:prstGeom>
          <a:noFill/>
          <a:ln/>
        </p:spPr>
        <p:txBody>
          <a:bodyPr wrap="square" rtlCol="0" anchor="ctr"/>
          <a:lstStyle/>
          <a:p>
            <a:pPr marL="0" indent="0" algn="ctr">
              <a:buNone/>
            </a:pPr>
            <a:r>
              <a:rPr lang="en-US" sz="850" b="1" dirty="0">
                <a:solidFill>
                  <a:srgbClr val="1B3A5C"/>
                </a:solidFill>
              </a:rPr>
              <a:t>DV_Staging</a:t>
            </a:r>
            <a:endParaRPr lang="en-US" sz="850" dirty="0"/>
          </a:p>
        </p:txBody>
      </p:sp>
      <p:sp>
        <p:nvSpPr>
          <p:cNvPr id="15" name="Text 13"/>
          <p:cNvSpPr/>
          <p:nvPr/>
        </p:nvSpPr>
        <p:spPr>
          <a:xfrm>
            <a:off x="2011680" y="1691640"/>
            <a:ext cx="1417320" cy="914400"/>
          </a:xfrm>
          <a:prstGeom prst="rect">
            <a:avLst/>
          </a:prstGeom>
          <a:noFill/>
          <a:ln/>
        </p:spPr>
        <p:txBody>
          <a:bodyPr wrap="square" rtlCol="0" anchor="t"/>
          <a:lstStyle/>
          <a:p>
            <a:pPr marL="0" indent="0" algn="ctr">
              <a:buNone/>
            </a:pPr>
            <a:r>
              <a:rPr lang="en-US" sz="850" dirty="0">
                <a:solidFill>
                  <a:srgbClr val="64748B"/>
                </a:solidFill>
              </a:rPr>
              <a:t>9 STG</a:t>
            </a:r>
            <a:endParaRPr lang="en-US" sz="850" dirty="0"/>
          </a:p>
          <a:p>
            <a:pPr marL="0" indent="0" algn="ctr">
              <a:buNone/>
            </a:pPr>
            <a:r>
              <a:rPr lang="en-US" sz="850" dirty="0">
                <a:solidFill>
                  <a:srgbClr val="64748B"/>
                </a:solidFill>
              </a:rPr>
              <a:t>tables</a:t>
            </a:r>
            <a:endParaRPr lang="en-US" sz="850" dirty="0"/>
          </a:p>
        </p:txBody>
      </p:sp>
      <p:sp>
        <p:nvSpPr>
          <p:cNvPr id="16" name="Shape 14"/>
          <p:cNvSpPr/>
          <p:nvPr/>
        </p:nvSpPr>
        <p:spPr>
          <a:xfrm>
            <a:off x="365760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3657600" y="960120"/>
            <a:ext cx="1508760" cy="365760"/>
          </a:xfrm>
          <a:prstGeom prst="rect">
            <a:avLst/>
          </a:prstGeom>
          <a:solidFill>
            <a:srgbClr val="CD7F32"/>
          </a:solidFill>
          <a:ln/>
        </p:spPr>
        <p:txBody>
          <a:bodyPr/>
          <a:lstStyle/>
          <a:p>
            <a:endParaRPr/>
          </a:p>
        </p:txBody>
      </p:sp>
      <p:sp>
        <p:nvSpPr>
          <p:cNvPr id="18" name="Text 16"/>
          <p:cNvSpPr/>
          <p:nvPr/>
        </p:nvSpPr>
        <p:spPr>
          <a:xfrm>
            <a:off x="3657600" y="960120"/>
            <a:ext cx="1508760" cy="365760"/>
          </a:xfrm>
          <a:prstGeom prst="rect">
            <a:avLst/>
          </a:prstGeom>
          <a:noFill/>
          <a:ln/>
        </p:spPr>
        <p:txBody>
          <a:bodyPr wrap="square" rtlCol="0" anchor="ctr"/>
          <a:lstStyle/>
          <a:p>
            <a:pPr marL="0" indent="0" algn="ctr">
              <a:buNone/>
            </a:pPr>
            <a:r>
              <a:rPr lang="en-US" sz="1100" b="1" dirty="0">
                <a:solidFill>
                  <a:srgbClr val="FFFFFF"/>
                </a:solidFill>
              </a:rPr>
              <a:t>Bronze</a:t>
            </a:r>
            <a:endParaRPr lang="en-US" sz="1100" dirty="0"/>
          </a:p>
        </p:txBody>
      </p:sp>
      <p:sp>
        <p:nvSpPr>
          <p:cNvPr id="19" name="Text 17"/>
          <p:cNvSpPr/>
          <p:nvPr/>
        </p:nvSpPr>
        <p:spPr>
          <a:xfrm>
            <a:off x="3657600" y="1371600"/>
            <a:ext cx="1508760" cy="274320"/>
          </a:xfrm>
          <a:prstGeom prst="rect">
            <a:avLst/>
          </a:prstGeom>
          <a:noFill/>
          <a:ln/>
        </p:spPr>
        <p:txBody>
          <a:bodyPr wrap="square" rtlCol="0" anchor="ctr"/>
          <a:lstStyle/>
          <a:p>
            <a:pPr marL="0" indent="0" algn="ctr">
              <a:buNone/>
            </a:pPr>
            <a:r>
              <a:rPr lang="en-US" sz="850" b="1" dirty="0">
                <a:solidFill>
                  <a:srgbClr val="1B3A5C"/>
                </a:solidFill>
              </a:rPr>
              <a:t>DV_Bronze</a:t>
            </a:r>
            <a:endParaRPr lang="en-US" sz="850" dirty="0"/>
          </a:p>
        </p:txBody>
      </p:sp>
      <p:sp>
        <p:nvSpPr>
          <p:cNvPr id="20" name="Text 18"/>
          <p:cNvSpPr/>
          <p:nvPr/>
        </p:nvSpPr>
        <p:spPr>
          <a:xfrm>
            <a:off x="3703320" y="1691640"/>
            <a:ext cx="1417320" cy="914400"/>
          </a:xfrm>
          <a:prstGeom prst="rect">
            <a:avLst/>
          </a:prstGeom>
          <a:noFill/>
          <a:ln/>
        </p:spPr>
        <p:txBody>
          <a:bodyPr wrap="square" rtlCol="0" anchor="t"/>
          <a:lstStyle/>
          <a:p>
            <a:pPr marL="0" indent="0" algn="ctr">
              <a:buNone/>
            </a:pPr>
            <a:r>
              <a:rPr lang="en-US" sz="850" dirty="0">
                <a:solidFill>
                  <a:srgbClr val="64748B"/>
                </a:solidFill>
              </a:rPr>
              <a:t>9 Hub</a:t>
            </a:r>
            <a:endParaRPr lang="en-US" sz="850" dirty="0"/>
          </a:p>
          <a:p>
            <a:pPr marL="0" indent="0" algn="ctr">
              <a:buNone/>
            </a:pPr>
            <a:r>
              <a:rPr lang="en-US" sz="850" dirty="0">
                <a:solidFill>
                  <a:srgbClr val="64748B"/>
                </a:solidFill>
              </a:rPr>
              <a:t>9 SAT</a:t>
            </a:r>
            <a:endParaRPr lang="en-US" sz="850" dirty="0"/>
          </a:p>
          <a:p>
            <a:pPr marL="0" indent="0" algn="ctr">
              <a:buNone/>
            </a:pPr>
            <a:r>
              <a:rPr lang="en-US" sz="850" dirty="0">
                <a:solidFill>
                  <a:srgbClr val="64748B"/>
                </a:solidFill>
              </a:rPr>
              <a:t>5 Link</a:t>
            </a:r>
            <a:endParaRPr lang="en-US" sz="850" dirty="0"/>
          </a:p>
        </p:txBody>
      </p:sp>
      <p:sp>
        <p:nvSpPr>
          <p:cNvPr id="21" name="Shape 19"/>
          <p:cNvSpPr/>
          <p:nvPr/>
        </p:nvSpPr>
        <p:spPr>
          <a:xfrm>
            <a:off x="534924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5349240" y="960120"/>
            <a:ext cx="1508760" cy="365760"/>
          </a:xfrm>
          <a:prstGeom prst="rect">
            <a:avLst/>
          </a:prstGeom>
          <a:solidFill>
            <a:srgbClr val="A8A8A8"/>
          </a:solidFill>
          <a:ln/>
        </p:spPr>
        <p:txBody>
          <a:bodyPr/>
          <a:lstStyle/>
          <a:p>
            <a:endParaRPr/>
          </a:p>
        </p:txBody>
      </p:sp>
      <p:sp>
        <p:nvSpPr>
          <p:cNvPr id="23" name="Text 21"/>
          <p:cNvSpPr/>
          <p:nvPr/>
        </p:nvSpPr>
        <p:spPr>
          <a:xfrm>
            <a:off x="5349240" y="960120"/>
            <a:ext cx="1508760" cy="365760"/>
          </a:xfrm>
          <a:prstGeom prst="rect">
            <a:avLst/>
          </a:prstGeom>
          <a:noFill/>
          <a:ln/>
        </p:spPr>
        <p:txBody>
          <a:bodyPr wrap="square" rtlCol="0" anchor="ctr"/>
          <a:lstStyle/>
          <a:p>
            <a:pPr marL="0" indent="0" algn="ctr">
              <a:buNone/>
            </a:pPr>
            <a:r>
              <a:rPr lang="en-US" sz="1100" b="1" dirty="0">
                <a:solidFill>
                  <a:srgbClr val="FFFFFF"/>
                </a:solidFill>
              </a:rPr>
              <a:t>Silver</a:t>
            </a:r>
            <a:endParaRPr lang="en-US" sz="1100" dirty="0"/>
          </a:p>
        </p:txBody>
      </p:sp>
      <p:sp>
        <p:nvSpPr>
          <p:cNvPr id="24" name="Text 22"/>
          <p:cNvSpPr/>
          <p:nvPr/>
        </p:nvSpPr>
        <p:spPr>
          <a:xfrm>
            <a:off x="5349240" y="1371600"/>
            <a:ext cx="1508760" cy="274320"/>
          </a:xfrm>
          <a:prstGeom prst="rect">
            <a:avLst/>
          </a:prstGeom>
          <a:noFill/>
          <a:ln/>
        </p:spPr>
        <p:txBody>
          <a:bodyPr wrap="square" rtlCol="0" anchor="ctr"/>
          <a:lstStyle/>
          <a:p>
            <a:pPr marL="0" indent="0" algn="ctr">
              <a:buNone/>
            </a:pPr>
            <a:r>
              <a:rPr lang="en-US" sz="850" b="1" dirty="0">
                <a:solidFill>
                  <a:srgbClr val="1B3A5C"/>
                </a:solidFill>
              </a:rPr>
              <a:t>DV_Silver</a:t>
            </a:r>
            <a:endParaRPr lang="en-US" sz="850" dirty="0"/>
          </a:p>
        </p:txBody>
      </p:sp>
      <p:sp>
        <p:nvSpPr>
          <p:cNvPr id="25" name="Text 23"/>
          <p:cNvSpPr/>
          <p:nvPr/>
        </p:nvSpPr>
        <p:spPr>
          <a:xfrm>
            <a:off x="5394960" y="1691640"/>
            <a:ext cx="1417320" cy="914400"/>
          </a:xfrm>
          <a:prstGeom prst="rect">
            <a:avLst/>
          </a:prstGeom>
          <a:noFill/>
          <a:ln/>
        </p:spPr>
        <p:txBody>
          <a:bodyPr wrap="square" rtlCol="0" anchor="t"/>
          <a:lstStyle/>
          <a:p>
            <a:pPr marL="0" indent="0" algn="ctr">
              <a:buNone/>
            </a:pPr>
            <a:r>
              <a:rPr lang="en-US" sz="850" dirty="0">
                <a:solidFill>
                  <a:srgbClr val="64748B"/>
                </a:solidFill>
              </a:rPr>
              <a:t>3 PIT</a:t>
            </a:r>
            <a:endParaRPr lang="en-US" sz="850" dirty="0"/>
          </a:p>
          <a:p>
            <a:pPr marL="0" indent="0" algn="ctr">
              <a:buNone/>
            </a:pPr>
            <a:r>
              <a:rPr lang="en-US" sz="850" dirty="0">
                <a:solidFill>
                  <a:srgbClr val="64748B"/>
                </a:solidFill>
              </a:rPr>
              <a:t>1 BRG</a:t>
            </a:r>
            <a:endParaRPr lang="en-US" sz="850" dirty="0"/>
          </a:p>
          <a:p>
            <a:pPr marL="0" indent="0" algn="ctr">
              <a:buNone/>
            </a:pPr>
            <a:r>
              <a:rPr lang="en-US" sz="850" dirty="0">
                <a:solidFill>
                  <a:srgbClr val="64748B"/>
                </a:solidFill>
              </a:rPr>
              <a:t>2 BUS</a:t>
            </a:r>
            <a:endParaRPr lang="en-US" sz="850" dirty="0"/>
          </a:p>
        </p:txBody>
      </p:sp>
      <p:sp>
        <p:nvSpPr>
          <p:cNvPr id="26" name="Shape 24"/>
          <p:cNvSpPr/>
          <p:nvPr/>
        </p:nvSpPr>
        <p:spPr>
          <a:xfrm>
            <a:off x="704088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7" name="Shape 25"/>
          <p:cNvSpPr/>
          <p:nvPr/>
        </p:nvSpPr>
        <p:spPr>
          <a:xfrm>
            <a:off x="7040880" y="960120"/>
            <a:ext cx="1508760" cy="365760"/>
          </a:xfrm>
          <a:prstGeom prst="rect">
            <a:avLst/>
          </a:prstGeom>
          <a:solidFill>
            <a:srgbClr val="D4A843"/>
          </a:solidFill>
          <a:ln/>
        </p:spPr>
        <p:txBody>
          <a:bodyPr/>
          <a:lstStyle/>
          <a:p>
            <a:endParaRPr/>
          </a:p>
        </p:txBody>
      </p:sp>
      <p:sp>
        <p:nvSpPr>
          <p:cNvPr id="28" name="Text 26"/>
          <p:cNvSpPr/>
          <p:nvPr/>
        </p:nvSpPr>
        <p:spPr>
          <a:xfrm>
            <a:off x="7040880" y="960120"/>
            <a:ext cx="1508760" cy="365760"/>
          </a:xfrm>
          <a:prstGeom prst="rect">
            <a:avLst/>
          </a:prstGeom>
          <a:noFill/>
          <a:ln/>
        </p:spPr>
        <p:txBody>
          <a:bodyPr wrap="square" rtlCol="0" anchor="ctr"/>
          <a:lstStyle/>
          <a:p>
            <a:pPr marL="0" indent="0" algn="ctr">
              <a:buNone/>
            </a:pPr>
            <a:r>
              <a:rPr lang="en-US" sz="1100" b="1" dirty="0">
                <a:solidFill>
                  <a:srgbClr val="FFFFFF"/>
                </a:solidFill>
              </a:rPr>
              <a:t>Gold</a:t>
            </a:r>
            <a:endParaRPr lang="en-US" sz="1100" dirty="0"/>
          </a:p>
        </p:txBody>
      </p:sp>
      <p:sp>
        <p:nvSpPr>
          <p:cNvPr id="29" name="Text 27"/>
          <p:cNvSpPr/>
          <p:nvPr/>
        </p:nvSpPr>
        <p:spPr>
          <a:xfrm>
            <a:off x="7040880" y="1371600"/>
            <a:ext cx="1508760" cy="274320"/>
          </a:xfrm>
          <a:prstGeom prst="rect">
            <a:avLst/>
          </a:prstGeom>
          <a:noFill/>
          <a:ln/>
        </p:spPr>
        <p:txBody>
          <a:bodyPr wrap="square" rtlCol="0" anchor="ctr"/>
          <a:lstStyle/>
          <a:p>
            <a:pPr marL="0" indent="0" algn="ctr">
              <a:buNone/>
            </a:pPr>
            <a:r>
              <a:rPr lang="en-US" sz="850" b="1" dirty="0">
                <a:solidFill>
                  <a:srgbClr val="1B3A5C"/>
                </a:solidFill>
              </a:rPr>
              <a:t>DV_Gold</a:t>
            </a:r>
            <a:endParaRPr lang="en-US" sz="850" dirty="0"/>
          </a:p>
        </p:txBody>
      </p:sp>
      <p:sp>
        <p:nvSpPr>
          <p:cNvPr id="30" name="Text 28"/>
          <p:cNvSpPr/>
          <p:nvPr/>
        </p:nvSpPr>
        <p:spPr>
          <a:xfrm>
            <a:off x="7086600" y="1691640"/>
            <a:ext cx="1417320" cy="914400"/>
          </a:xfrm>
          <a:prstGeom prst="rect">
            <a:avLst/>
          </a:prstGeom>
          <a:noFill/>
          <a:ln/>
        </p:spPr>
        <p:txBody>
          <a:bodyPr wrap="square" rtlCol="0" anchor="t"/>
          <a:lstStyle/>
          <a:p>
            <a:pPr marL="0" indent="0" algn="ctr">
              <a:buNone/>
            </a:pPr>
            <a:r>
              <a:rPr lang="en-US" sz="850" dirty="0">
                <a:solidFill>
                  <a:srgbClr val="64748B"/>
                </a:solidFill>
              </a:rPr>
              <a:t>7 DIM</a:t>
            </a:r>
            <a:endParaRPr lang="en-US" sz="850" dirty="0"/>
          </a:p>
          <a:p>
            <a:pPr marL="0" indent="0" algn="ctr">
              <a:buNone/>
            </a:pPr>
            <a:r>
              <a:rPr lang="en-US" sz="850" dirty="0">
                <a:solidFill>
                  <a:srgbClr val="64748B"/>
                </a:solidFill>
              </a:rPr>
              <a:t>4 FACT</a:t>
            </a:r>
            <a:endParaRPr lang="en-US" sz="850" dirty="0"/>
          </a:p>
        </p:txBody>
      </p:sp>
      <p:sp>
        <p:nvSpPr>
          <p:cNvPr id="31" name="Text 29"/>
          <p:cNvSpPr/>
          <p:nvPr/>
        </p:nvSpPr>
        <p:spPr>
          <a:xfrm>
            <a:off x="173736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2" name="Text 30"/>
          <p:cNvSpPr/>
          <p:nvPr/>
        </p:nvSpPr>
        <p:spPr>
          <a:xfrm>
            <a:off x="342900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3" name="Text 31"/>
          <p:cNvSpPr/>
          <p:nvPr/>
        </p:nvSpPr>
        <p:spPr>
          <a:xfrm>
            <a:off x="512064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4" name="Text 32"/>
          <p:cNvSpPr/>
          <p:nvPr/>
        </p:nvSpPr>
        <p:spPr>
          <a:xfrm>
            <a:off x="681228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5" name="Shape 33"/>
          <p:cNvSpPr/>
          <p:nvPr/>
        </p:nvSpPr>
        <p:spPr>
          <a:xfrm>
            <a:off x="27432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36" name="Shape 34"/>
          <p:cNvSpPr/>
          <p:nvPr/>
        </p:nvSpPr>
        <p:spPr>
          <a:xfrm>
            <a:off x="274320" y="3017520"/>
            <a:ext cx="54864" cy="1737360"/>
          </a:xfrm>
          <a:prstGeom prst="rect">
            <a:avLst/>
          </a:prstGeom>
          <a:solidFill>
            <a:srgbClr val="2A9D8F"/>
          </a:solidFill>
          <a:ln/>
        </p:spPr>
        <p:txBody>
          <a:bodyPr/>
          <a:lstStyle/>
          <a:p>
            <a:endParaRPr/>
          </a:p>
        </p:txBody>
      </p:sp>
      <p:sp>
        <p:nvSpPr>
          <p:cNvPr id="37" name="Text 35"/>
          <p:cNvSpPr/>
          <p:nvPr/>
        </p:nvSpPr>
        <p:spPr>
          <a:xfrm>
            <a:off x="457200" y="3063240"/>
            <a:ext cx="3657600" cy="228600"/>
          </a:xfrm>
          <a:prstGeom prst="rect">
            <a:avLst/>
          </a:prstGeom>
          <a:noFill/>
          <a:ln/>
        </p:spPr>
        <p:txBody>
          <a:bodyPr wrap="square" rtlCol="0" anchor="ctr"/>
          <a:lstStyle/>
          <a:p>
            <a:pPr marL="0" indent="0">
              <a:buNone/>
            </a:pPr>
            <a:r>
              <a:rPr lang="en-US" sz="1100" b="1" dirty="0">
                <a:solidFill>
                  <a:srgbClr val="1B3A5C"/>
                </a:solidFill>
              </a:rPr>
              <a:t>ETL Control Framework</a:t>
            </a:r>
            <a:endParaRPr lang="en-US" sz="1100" dirty="0"/>
          </a:p>
        </p:txBody>
      </p:sp>
      <p:sp>
        <p:nvSpPr>
          <p:cNvPr id="38" name="Text 36"/>
          <p:cNvSpPr/>
          <p:nvPr/>
        </p:nvSpPr>
        <p:spPr>
          <a:xfrm>
            <a:off x="45720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ETL_Configuration — Entity registry &amp; load order</a:t>
            </a:r>
            <a:endParaRPr lang="en-US" sz="900" dirty="0"/>
          </a:p>
          <a:p>
            <a:pPr marL="342900" indent="-342900">
              <a:spcAft>
                <a:spcPts val="400"/>
              </a:spcAft>
              <a:buSzPct val="100000"/>
              <a:buChar char="•"/>
            </a:pPr>
            <a:r>
              <a:rPr lang="en-US" sz="900" dirty="0">
                <a:solidFill>
                  <a:srgbClr val="1E293B"/>
                </a:solidFill>
              </a:rPr>
              <a:t>ETL_BatchLog / StepLog — Execution tracking</a:t>
            </a:r>
            <a:endParaRPr lang="en-US" sz="900" dirty="0"/>
          </a:p>
          <a:p>
            <a:pPr marL="342900" indent="-342900">
              <a:spcAft>
                <a:spcPts val="400"/>
              </a:spcAft>
              <a:buSzPct val="100000"/>
              <a:buChar char="•"/>
            </a:pPr>
            <a:r>
              <a:rPr lang="en-US" sz="900" dirty="0">
                <a:solidFill>
                  <a:srgbClr val="1E293B"/>
                </a:solidFill>
              </a:rPr>
              <a:t>ETL_Watermark — High-water mark per table</a:t>
            </a:r>
            <a:endParaRPr lang="en-US" sz="900" dirty="0"/>
          </a:p>
          <a:p>
            <a:pPr marL="342900" indent="-342900">
              <a:spcAft>
                <a:spcPts val="400"/>
              </a:spcAft>
              <a:buSzPct val="100000"/>
              <a:buChar char="•"/>
            </a:pPr>
            <a:r>
              <a:rPr lang="en-US" sz="900" dirty="0">
                <a:solidFill>
                  <a:srgbClr val="1E293B"/>
                </a:solidFill>
              </a:rPr>
              <a:t>ETL_ErrorLog / DataQualityLog — Error &amp; DQ</a:t>
            </a:r>
            <a:endParaRPr lang="en-US" sz="900" dirty="0"/>
          </a:p>
          <a:p>
            <a:pPr marL="342900" indent="-342900">
              <a:spcAft>
                <a:spcPts val="400"/>
              </a:spcAft>
              <a:buSzPct val="100000"/>
              <a:buChar char="•"/>
            </a:pPr>
            <a:r>
              <a:rPr lang="en-US" sz="900" b="1" dirty="0">
                <a:solidFill>
                  <a:srgbClr val="2A9D8F"/>
                </a:solidFill>
              </a:rPr>
              <a:t>Master: Master_Complete_Pipeline.dtsx</a:t>
            </a:r>
            <a:endParaRPr lang="en-US" sz="900" dirty="0"/>
          </a:p>
        </p:txBody>
      </p:sp>
      <p:sp>
        <p:nvSpPr>
          <p:cNvPr id="39" name="Shape 37"/>
          <p:cNvSpPr/>
          <p:nvPr/>
        </p:nvSpPr>
        <p:spPr>
          <a:xfrm>
            <a:off x="475488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40" name="Shape 38"/>
          <p:cNvSpPr/>
          <p:nvPr/>
        </p:nvSpPr>
        <p:spPr>
          <a:xfrm>
            <a:off x="4754880" y="3017520"/>
            <a:ext cx="54864" cy="1737360"/>
          </a:xfrm>
          <a:prstGeom prst="rect">
            <a:avLst/>
          </a:prstGeom>
          <a:solidFill>
            <a:srgbClr val="1B3A5C"/>
          </a:solidFill>
          <a:ln/>
        </p:spPr>
        <p:txBody>
          <a:bodyPr/>
          <a:lstStyle/>
          <a:p>
            <a:endParaRPr/>
          </a:p>
        </p:txBody>
      </p:sp>
      <p:sp>
        <p:nvSpPr>
          <p:cNvPr id="41" name="Text 39"/>
          <p:cNvSpPr/>
          <p:nvPr/>
        </p:nvSpPr>
        <p:spPr>
          <a:xfrm>
            <a:off x="4937760" y="3063240"/>
            <a:ext cx="3657600" cy="228600"/>
          </a:xfrm>
          <a:prstGeom prst="rect">
            <a:avLst/>
          </a:prstGeom>
          <a:noFill/>
          <a:ln/>
        </p:spPr>
        <p:txBody>
          <a:bodyPr wrap="square" rtlCol="0" anchor="ctr"/>
          <a:lstStyle/>
          <a:p>
            <a:pPr marL="0" indent="0">
              <a:buNone/>
            </a:pPr>
            <a:r>
              <a:rPr lang="en-US" sz="1100" b="1" dirty="0">
                <a:solidFill>
                  <a:srgbClr val="1B3A5C"/>
                </a:solidFill>
              </a:rPr>
              <a:t>Technology Stack</a:t>
            </a:r>
            <a:endParaRPr lang="en-US" sz="1100" dirty="0"/>
          </a:p>
        </p:txBody>
      </p:sp>
      <p:sp>
        <p:nvSpPr>
          <p:cNvPr id="42" name="Text 40"/>
          <p:cNvSpPr/>
          <p:nvPr/>
        </p:nvSpPr>
        <p:spPr>
          <a:xfrm>
            <a:off x="493776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SQL Server 2025 Developer Edition (v17)</a:t>
            </a:r>
            <a:endParaRPr lang="en-US" sz="900" dirty="0"/>
          </a:p>
          <a:p>
            <a:pPr marL="342900" indent="-342900">
              <a:spcAft>
                <a:spcPts val="400"/>
              </a:spcAft>
              <a:buSzPct val="100000"/>
              <a:buChar char="•"/>
            </a:pPr>
            <a:r>
              <a:rPr lang="en-US" sz="900" dirty="0">
                <a:solidFill>
                  <a:srgbClr val="1E293B"/>
                </a:solidFill>
              </a:rPr>
              <a:t>SSIS 2022+ — Project Deployment on SSISDB</a:t>
            </a:r>
            <a:endParaRPr lang="en-US" sz="900" dirty="0"/>
          </a:p>
          <a:p>
            <a:pPr marL="342900" indent="-342900">
              <a:spcAft>
                <a:spcPts val="400"/>
              </a:spcAft>
              <a:buSzPct val="100000"/>
              <a:buChar char="•"/>
            </a:pPr>
            <a:r>
              <a:rPr lang="en-US" sz="900" dirty="0">
                <a:solidFill>
                  <a:srgbClr val="1E293B"/>
                </a:solidFill>
              </a:rPr>
              <a:t>SHA-256 via HASHBYTES → VARBINARY(32)</a:t>
            </a:r>
            <a:endParaRPr lang="en-US" sz="900" dirty="0"/>
          </a:p>
          <a:p>
            <a:pPr marL="342900" indent="-342900">
              <a:spcAft>
                <a:spcPts val="400"/>
              </a:spcAft>
              <a:buSzPct val="100000"/>
              <a:buChar char="•"/>
            </a:pPr>
            <a:r>
              <a:rPr lang="en-US" sz="900" dirty="0">
                <a:solidFill>
                  <a:srgbClr val="1E293B"/>
                </a:solidFill>
              </a:rPr>
              <a:t>GCP e2-standard-4 (4 vCPU, 16GB, 128GB SSD)</a:t>
            </a:r>
            <a:endParaRPr lang="en-US" sz="900" dirty="0"/>
          </a:p>
          <a:p>
            <a:pPr marL="342900" indent="-342900">
              <a:spcAft>
                <a:spcPts val="400"/>
              </a:spcAft>
              <a:buSzPct val="100000"/>
              <a:buChar char="•"/>
            </a:pPr>
            <a:r>
              <a:rPr lang="en-US" sz="900" b="1" dirty="0">
                <a:solidFill>
                  <a:srgbClr val="2A9D8F"/>
                </a:solidFill>
              </a:rPr>
              <a:t>67 objects • 60 SSIS packages • 49 ETL steps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2011680" cy="320040"/>
          </a:xfrm>
          <a:prstGeom prst="rect">
            <a:avLst/>
          </a:prstGeom>
          <a:solidFill>
            <a:srgbClr val="94A3B8"/>
          </a:solidFill>
          <a:ln/>
        </p:spPr>
        <p:txBody>
          <a:bodyPr/>
          <a:lstStyle/>
          <a:p>
            <a:endParaR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2468880" y="914400"/>
            <a:ext cx="2011680" cy="320040"/>
          </a:xfrm>
          <a:prstGeom prst="rect">
            <a:avLst/>
          </a:prstGeom>
          <a:solidFill>
            <a:srgbClr val="CD7F32"/>
          </a:solidFill>
          <a:ln/>
        </p:spPr>
        <p:txBody>
          <a:bodyPr/>
          <a:lstStyle/>
          <a:p>
            <a:endParaR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4663440" y="914400"/>
            <a:ext cx="2011680" cy="320040"/>
          </a:xfrm>
          <a:prstGeom prst="rect">
            <a:avLst/>
          </a:prstGeom>
          <a:solidFill>
            <a:srgbClr val="A8A8A8"/>
          </a:solidFill>
          <a:ln/>
        </p:spPr>
        <p:txBody>
          <a:bodyPr/>
          <a:lstStyle/>
          <a:p>
            <a:endParaR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6858000" y="914400"/>
            <a:ext cx="2011680" cy="320040"/>
          </a:xfrm>
          <a:prstGeom prst="rect">
            <a:avLst/>
          </a:prstGeom>
          <a:solidFill>
            <a:srgbClr val="D4A843"/>
          </a:solidFill>
          <a:ln/>
        </p:spPr>
        <p:txBody>
          <a:bodyPr/>
          <a:lstStyle/>
          <a:p>
            <a:endParaR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3" name="Shape 21"/>
          <p:cNvSpPr/>
          <p:nvPr/>
        </p:nvSpPr>
        <p:spPr>
          <a:xfrm>
            <a:off x="274320" y="3246120"/>
            <a:ext cx="8595360" cy="54864"/>
          </a:xfrm>
          <a:prstGeom prst="rect">
            <a:avLst/>
          </a:prstGeom>
          <a:solidFill>
            <a:srgbClr val="2A9D8F"/>
          </a:solidFill>
          <a:ln/>
        </p:spPr>
        <p:txBody>
          <a:bodyPr/>
          <a:lstStyle/>
          <a:p>
            <a:endParaR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lstStyle/>
          <a:p>
            <a:endParaR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lstStyle/>
          <a:p>
            <a:endParaR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lstStyle/>
          <a:p>
            <a:endParaR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1280160"/>
          <a:ext cx="8595360" cy="171450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0">
                <a:tc>
                  <a:txBody>
                    <a:bodyPr/>
                    <a:lstStyle/>
                    <a:p>
                      <a:pPr marL="0" indent="0">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1,002</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r h="0">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Text 5"/>
          <p:cNvSpPr/>
          <p:nvPr/>
        </p:nvSpPr>
        <p:spPr>
          <a:xfrm>
            <a:off x="457200" y="3931920"/>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Also includes Structure (5) &amp; Activity (5) lookup tables. 1,000 taxpayers, 4 years (2020–2023), 99.8% filing coverage, 58,813 records. Verified: 10 FKs, 19 CHECK constraints, 37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822960"/>
          </a:xfrm>
          <a:prstGeom prst="rect">
            <a:avLst/>
          </a:prstGeom>
          <a:solidFill>
            <a:srgbClr val="2A9D8F"/>
          </a:solidFill>
          <a:ln/>
        </p:spPr>
        <p:txBody>
          <a:bodyPr/>
          <a:lstStyle/>
          <a:p>
            <a:endParaR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274320" y="1874520"/>
            <a:ext cx="54864" cy="822960"/>
          </a:xfrm>
          <a:prstGeom prst="rect">
            <a:avLst/>
          </a:prstGeom>
          <a:solidFill>
            <a:srgbClr val="1B3A5C"/>
          </a:solidFill>
          <a:ln/>
        </p:spPr>
        <p:txBody>
          <a:bodyPr/>
          <a:lstStyle/>
          <a:p>
            <a:endParaR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274320" y="2834640"/>
            <a:ext cx="54864" cy="822960"/>
          </a:xfrm>
          <a:prstGeom prst="rect">
            <a:avLst/>
          </a:prstGeom>
          <a:solidFill>
            <a:srgbClr val="D4A843"/>
          </a:solidFill>
          <a:ln/>
        </p:spPr>
        <p:txBody>
          <a:bodyPr/>
          <a:lstStyle/>
          <a:p>
            <a:endParaR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274320" y="3794760"/>
            <a:ext cx="54864" cy="822960"/>
          </a:xfrm>
          <a:prstGeom prst="rect">
            <a:avLst/>
          </a:prstGeom>
          <a:solidFill>
            <a:srgbClr val="CD7F32"/>
          </a:solidFill>
          <a:ln/>
        </p:spPr>
        <p:txBody>
          <a:bodyPr/>
          <a:lstStyle/>
          <a:p>
            <a:endParaR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Discussion — Key Insights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3749040"/>
          </a:xfrm>
          <a:prstGeom prst="rect">
            <a:avLst/>
          </a:prstGeom>
          <a:solidFill>
            <a:srgbClr val="2A9D8F"/>
          </a:solidFill>
          <a:ln/>
        </p:spPr>
        <p:txBody>
          <a:bodyPr/>
          <a:lstStyle/>
          <a:p>
            <a:endParaRPr/>
          </a:p>
        </p:txBody>
      </p:sp>
      <p:sp>
        <p:nvSpPr>
          <p:cNvPr id="8" name="Text 6"/>
          <p:cNvSpPr/>
          <p:nvPr/>
        </p:nvSpPr>
        <p:spPr>
          <a:xfrm>
            <a:off x="41148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5.2.5 Flexibility &amp; Scalability</a:t>
            </a:r>
            <a:endParaRPr lang="en-US" sz="1100" dirty="0"/>
          </a:p>
        </p:txBody>
      </p:sp>
      <p:sp>
        <p:nvSpPr>
          <p:cNvPr id="9" name="Text 7"/>
          <p:cNvSpPr/>
          <p:nvPr/>
        </p:nvSpPr>
        <p:spPr>
          <a:xfrm>
            <a:off x="41148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New attributes → add Satellite only (no Hub/Link impact)</a:t>
            </a:r>
            <a:endParaRPr lang="en-US" sz="900" dirty="0"/>
          </a:p>
          <a:p>
            <a:pPr marL="342900" indent="-342900">
              <a:spcAft>
                <a:spcPts val="500"/>
              </a:spcAft>
              <a:buSzPct val="100000"/>
              <a:buChar char="•"/>
            </a:pPr>
            <a:r>
              <a:rPr lang="en-US" sz="900" dirty="0">
                <a:solidFill>
                  <a:srgbClr val="1E293B"/>
                </a:solidFill>
              </a:rPr>
              <a:t>New business rules → modify Silver layer only</a:t>
            </a:r>
            <a:endParaRPr lang="en-US" sz="900" dirty="0"/>
          </a:p>
          <a:p>
            <a:pPr marL="342900" indent="-342900">
              <a:spcAft>
                <a:spcPts val="500"/>
              </a:spcAft>
              <a:buSzPct val="100000"/>
              <a:buChar char="•"/>
            </a:pPr>
            <a:r>
              <a:rPr lang="en-US" sz="900" dirty="0">
                <a:solidFill>
                  <a:srgbClr val="1E293B"/>
                </a:solidFill>
              </a:rPr>
              <a:t>New reporting → add Gold dims/facts independently</a:t>
            </a:r>
            <a:endParaRPr lang="en-US" sz="900" dirty="0"/>
          </a:p>
          <a:p>
            <a:pPr marL="342900" indent="-342900">
              <a:spcAft>
                <a:spcPts val="500"/>
              </a:spcAft>
              <a:buSzPct val="100000"/>
              <a:buChar char="•"/>
            </a:pPr>
            <a:r>
              <a:rPr lang="en-US" sz="900" b="1" dirty="0">
                <a:solidFill>
                  <a:srgbClr val="2A9D8F"/>
                </a:solidFill>
              </a:rPr>
              <a:t>Verified: 23/23 objects UNCHANGED after adding SAT_Taxpayer_RiskLevel</a:t>
            </a:r>
            <a:endParaRPr lang="en-US" sz="900" dirty="0"/>
          </a:p>
        </p:txBody>
      </p:sp>
      <p:sp>
        <p:nvSpPr>
          <p:cNvPr id="10" name="Shape 8"/>
          <p:cNvSpPr/>
          <p:nvPr/>
        </p:nvSpPr>
        <p:spPr>
          <a:xfrm>
            <a:off x="411480" y="3931920"/>
            <a:ext cx="2560320" cy="548640"/>
          </a:xfrm>
          <a:prstGeom prst="rect">
            <a:avLst/>
          </a:prstGeom>
          <a:solidFill>
            <a:srgbClr val="E8F4F2"/>
          </a:solidFill>
          <a:ln/>
        </p:spPr>
        <p:txBody>
          <a:bodyPr/>
          <a:lstStyle/>
          <a:p>
            <a:endParaRPr/>
          </a:p>
        </p:txBody>
      </p:sp>
      <p:sp>
        <p:nvSpPr>
          <p:cNvPr id="11" name="Text 9"/>
          <p:cNvSpPr/>
          <p:nvPr/>
        </p:nvSpPr>
        <p:spPr>
          <a:xfrm>
            <a:off x="502920" y="3931920"/>
            <a:ext cx="2377440" cy="548640"/>
          </a:xfrm>
          <a:prstGeom prst="rect">
            <a:avLst/>
          </a:prstGeom>
          <a:noFill/>
          <a:ln/>
        </p:spPr>
        <p:txBody>
          <a:bodyPr wrap="square" rtlCol="0" anchor="ctr"/>
          <a:lstStyle/>
          <a:p>
            <a:pPr marL="0" indent="0">
              <a:buNone/>
            </a:pPr>
            <a:r>
              <a:rPr lang="en-US" sz="850" b="1" dirty="0">
                <a:solidFill>
                  <a:srgbClr val="2A9D8F"/>
                </a:solidFill>
              </a:rPr>
              <a:t>✓ 10 risk records loaded, zero impact on existing structures</a:t>
            </a:r>
            <a:endParaRPr lang="en-US" sz="850" dirty="0"/>
          </a:p>
        </p:txBody>
      </p:sp>
      <p:sp>
        <p:nvSpPr>
          <p:cNvPr id="12" name="Shape 10"/>
          <p:cNvSpPr/>
          <p:nvPr/>
        </p:nvSpPr>
        <p:spPr>
          <a:xfrm>
            <a:off x="329184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3" name="Shape 11"/>
          <p:cNvSpPr/>
          <p:nvPr/>
        </p:nvSpPr>
        <p:spPr>
          <a:xfrm>
            <a:off x="3291840" y="914400"/>
            <a:ext cx="54864" cy="3749040"/>
          </a:xfrm>
          <a:prstGeom prst="rect">
            <a:avLst/>
          </a:prstGeom>
          <a:solidFill>
            <a:srgbClr val="D4A843"/>
          </a:solidFill>
          <a:ln/>
        </p:spPr>
        <p:txBody>
          <a:bodyPr/>
          <a:lstStyle/>
          <a:p>
            <a:endParaRPr/>
          </a:p>
        </p:txBody>
      </p:sp>
      <p:sp>
        <p:nvSpPr>
          <p:cNvPr id="14" name="Text 12"/>
          <p:cNvSpPr/>
          <p:nvPr/>
        </p:nvSpPr>
        <p:spPr>
          <a:xfrm>
            <a:off x="342900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5.2.6 Materialized Views</a:t>
            </a:r>
            <a:endParaRPr lang="en-US" sz="1100" dirty="0"/>
          </a:p>
        </p:txBody>
      </p:sp>
      <p:sp>
        <p:nvSpPr>
          <p:cNvPr id="15" name="Text 13"/>
          <p:cNvSpPr/>
          <p:nvPr/>
        </p:nvSpPr>
        <p:spPr>
          <a:xfrm>
            <a:off x="342900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vw_GoldMonthlyRevenue implemented:</a:t>
            </a:r>
            <a:endParaRPr lang="en-US" sz="900" dirty="0"/>
          </a:p>
          <a:p>
            <a:pPr marL="342900" indent="-342900">
              <a:spcAft>
                <a:spcPts val="500"/>
              </a:spcAft>
              <a:buSzPct val="100000"/>
              <a:buChar char="•"/>
            </a:pPr>
            <a:r>
              <a:rPr lang="en-US" sz="900" dirty="0">
                <a:solidFill>
                  <a:srgbClr val="1E293B"/>
                </a:solidFill>
              </a:rPr>
              <a:t>• Baseline: 73ms elapsed (62ms CPU)</a:t>
            </a:r>
            <a:endParaRPr lang="en-US" sz="900" dirty="0"/>
          </a:p>
          <a:p>
            <a:pPr marL="342900" indent="-342900">
              <a:spcAft>
                <a:spcPts val="500"/>
              </a:spcAft>
              <a:buSzPct val="100000"/>
              <a:buChar char="•"/>
            </a:pPr>
            <a:r>
              <a:rPr lang="en-US" sz="900" dirty="0">
                <a:solidFill>
                  <a:srgbClr val="1E293B"/>
                </a:solidFill>
              </a:rPr>
              <a:t>• NOEXPAND: 34ms elapsed — 2.1× faster</a:t>
            </a:r>
            <a:endParaRPr lang="en-US" sz="900" dirty="0"/>
          </a:p>
          <a:p>
            <a:pPr marL="342900" indent="-342900">
              <a:spcAft>
                <a:spcPts val="500"/>
              </a:spcAft>
              <a:buSzPct val="100000"/>
              <a:buChar char="•"/>
            </a:pPr>
            <a:r>
              <a:rPr lang="en-US" sz="900" dirty="0">
                <a:solidFill>
                  <a:srgbClr val="1E293B"/>
                </a:solidFill>
              </a:rPr>
              <a:t>• SCHEMABINDING + unique clustered index</a:t>
            </a:r>
            <a:endParaRPr lang="en-US" sz="900" dirty="0"/>
          </a:p>
          <a:p>
            <a:pPr marL="342900" indent="-342900">
              <a:spcAft>
                <a:spcPts val="500"/>
              </a:spcAft>
              <a:buSzPct val="100000"/>
              <a:buChar char="•"/>
            </a:pPr>
            <a:r>
              <a:rPr lang="en-US" sz="900" b="1" dirty="0">
                <a:solidFill>
                  <a:srgbClr val="2A9D8F"/>
                </a:solidFill>
              </a:rPr>
              <a:t>Hybrid: indexed views + SPs for cross-DB</a:t>
            </a:r>
            <a:endParaRPr lang="en-US" sz="900" dirty="0"/>
          </a:p>
        </p:txBody>
      </p:sp>
      <p:sp>
        <p:nvSpPr>
          <p:cNvPr id="16" name="Shape 14"/>
          <p:cNvSpPr/>
          <p:nvPr/>
        </p:nvSpPr>
        <p:spPr>
          <a:xfrm>
            <a:off x="3429000" y="3931920"/>
            <a:ext cx="2560320" cy="548640"/>
          </a:xfrm>
          <a:prstGeom prst="rect">
            <a:avLst/>
          </a:prstGeom>
          <a:solidFill>
            <a:srgbClr val="E8F4F2"/>
          </a:solidFill>
          <a:ln/>
        </p:spPr>
        <p:txBody>
          <a:bodyPr/>
          <a:lstStyle/>
          <a:p>
            <a:endParaRPr/>
          </a:p>
        </p:txBody>
      </p:sp>
      <p:sp>
        <p:nvSpPr>
          <p:cNvPr id="17" name="Text 15"/>
          <p:cNvSpPr/>
          <p:nvPr/>
        </p:nvSpPr>
        <p:spPr>
          <a:xfrm>
            <a:off x="3520440" y="3931920"/>
            <a:ext cx="2377440" cy="548640"/>
          </a:xfrm>
          <a:prstGeom prst="rect">
            <a:avLst/>
          </a:prstGeom>
          <a:noFill/>
          <a:ln/>
        </p:spPr>
        <p:txBody>
          <a:bodyPr wrap="square" rtlCol="0" anchor="ctr"/>
          <a:lstStyle/>
          <a:p>
            <a:pPr marL="0" indent="0">
              <a:buNone/>
            </a:pPr>
            <a:r>
              <a:rPr lang="en-US" sz="850" b="1" dirty="0">
                <a:solidFill>
                  <a:srgbClr val="2A9D8F"/>
                </a:solidFill>
              </a:rPr>
              <a:t>✓ Verified 2.1× speedup (73ms→34ms); production: 4×–6× projected</a:t>
            </a:r>
            <a:endParaRPr lang="en-US" sz="850" dirty="0"/>
          </a:p>
        </p:txBody>
      </p:sp>
      <p:sp>
        <p:nvSpPr>
          <p:cNvPr id="18" name="Shape 16"/>
          <p:cNvSpPr/>
          <p:nvPr/>
        </p:nvSpPr>
        <p:spPr>
          <a:xfrm>
            <a:off x="630936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6309360" y="914400"/>
            <a:ext cx="54864" cy="3749040"/>
          </a:xfrm>
          <a:prstGeom prst="rect">
            <a:avLst/>
          </a:prstGeom>
          <a:solidFill>
            <a:srgbClr val="1B3A5C"/>
          </a:solidFill>
          <a:ln/>
        </p:spPr>
        <p:txBody>
          <a:bodyPr/>
          <a:lstStyle/>
          <a:p>
            <a:endParaRPr/>
          </a:p>
        </p:txBody>
      </p:sp>
      <p:sp>
        <p:nvSpPr>
          <p:cNvPr id="20" name="Text 18"/>
          <p:cNvSpPr/>
          <p:nvPr/>
        </p:nvSpPr>
        <p:spPr>
          <a:xfrm>
            <a:off x="644652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5.2.7 Early Arriving Facts</a:t>
            </a:r>
            <a:endParaRPr lang="en-US" sz="1100" dirty="0"/>
          </a:p>
        </p:txBody>
      </p:sp>
      <p:sp>
        <p:nvSpPr>
          <p:cNvPr id="21" name="Text 19"/>
          <p:cNvSpPr/>
          <p:nvPr/>
        </p:nvSpPr>
        <p:spPr>
          <a:xfrm>
            <a:off x="644652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Verified with TAX-2026-EARLY test case:</a:t>
            </a:r>
            <a:endParaRPr lang="en-US" sz="900" dirty="0"/>
          </a:p>
          <a:p>
            <a:pPr marL="342900" indent="-342900">
              <a:spcAft>
                <a:spcPts val="500"/>
              </a:spcAft>
              <a:buSzPct val="100000"/>
              <a:buChar char="•"/>
            </a:pPr>
            <a:r>
              <a:rPr lang="en-US" sz="900" dirty="0">
                <a:solidFill>
                  <a:srgbClr val="1E293B"/>
                </a:solidFill>
              </a:rPr>
              <a:t>1. Hub created 06:40:14 (business key only)</a:t>
            </a:r>
            <a:endParaRPr lang="en-US" sz="900" dirty="0"/>
          </a:p>
          <a:p>
            <a:pPr marL="342900" indent="-342900">
              <a:spcAft>
                <a:spcPts val="500"/>
              </a:spcAft>
              <a:buSzPct val="100000"/>
              <a:buChar char="•"/>
            </a:pPr>
            <a:r>
              <a:rPr lang="en-US" sz="900" dirty="0">
                <a:solidFill>
                  <a:srgbClr val="1E293B"/>
                </a:solidFill>
              </a:rPr>
              <a:t>2. Link loaded 06:40:15 (no SAT needed)</a:t>
            </a:r>
            <a:endParaRPr lang="en-US" sz="900" dirty="0"/>
          </a:p>
          <a:p>
            <a:pPr marL="342900" indent="-342900">
              <a:spcAft>
                <a:spcPts val="500"/>
              </a:spcAft>
              <a:buSzPct val="100000"/>
              <a:buChar char="•"/>
            </a:pPr>
            <a:r>
              <a:rPr lang="en-US" sz="900" dirty="0">
                <a:solidFill>
                  <a:srgbClr val="1E293B"/>
                </a:solidFill>
              </a:rPr>
              <a:t>3. SAT arrived 06:44:37 (263s later, INSERT only)</a:t>
            </a:r>
            <a:endParaRPr lang="en-US" sz="900" dirty="0"/>
          </a:p>
          <a:p>
            <a:pPr marL="342900" indent="-342900">
              <a:spcAft>
                <a:spcPts val="500"/>
              </a:spcAft>
              <a:buSzPct val="100000"/>
              <a:buChar char="•"/>
            </a:pPr>
            <a:r>
              <a:rPr lang="en-US" sz="900" b="1" dirty="0">
                <a:solidFill>
                  <a:srgbClr val="2A9D8F"/>
                </a:solidFill>
              </a:rPr>
              <a:t>Zero placeholders, zero UPDATEs, zero reconciliation</a:t>
            </a:r>
            <a:endParaRPr lang="en-US" sz="900" dirty="0"/>
          </a:p>
        </p:txBody>
      </p:sp>
      <p:sp>
        <p:nvSpPr>
          <p:cNvPr id="22" name="Shape 20"/>
          <p:cNvSpPr/>
          <p:nvPr/>
        </p:nvSpPr>
        <p:spPr>
          <a:xfrm>
            <a:off x="6446520" y="3931920"/>
            <a:ext cx="2560320" cy="548640"/>
          </a:xfrm>
          <a:prstGeom prst="rect">
            <a:avLst/>
          </a:prstGeom>
          <a:solidFill>
            <a:srgbClr val="E8F4F2"/>
          </a:solidFill>
          <a:ln/>
        </p:spPr>
        <p:txBody>
          <a:bodyPr/>
          <a:lstStyle/>
          <a:p>
            <a:endParaRPr/>
          </a:p>
        </p:txBody>
      </p:sp>
      <p:sp>
        <p:nvSpPr>
          <p:cNvPr id="23" name="Text 21"/>
          <p:cNvSpPr/>
          <p:nvPr/>
        </p:nvSpPr>
        <p:spPr>
          <a:xfrm>
            <a:off x="6537960" y="3931920"/>
            <a:ext cx="2377440" cy="548640"/>
          </a:xfrm>
          <a:prstGeom prst="rect">
            <a:avLst/>
          </a:prstGeom>
          <a:noFill/>
          <a:ln/>
        </p:spPr>
        <p:txBody>
          <a:bodyPr wrap="square" rtlCol="0" anchor="ctr"/>
          <a:lstStyle/>
          <a:p>
            <a:pPr marL="0" indent="0">
              <a:buNone/>
            </a:pPr>
            <a:r>
              <a:rPr lang="en-US" sz="850" b="1" dirty="0">
                <a:solidFill>
                  <a:srgbClr val="2A9D8F"/>
                </a:solidFill>
              </a:rPr>
              <a:t>✓ 4-step timeline proves Hub/SAT separation handles it naturally</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Threats to Validity</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457200" y="100584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457200" y="1005840"/>
            <a:ext cx="54864" cy="1051560"/>
          </a:xfrm>
          <a:prstGeom prst="rect">
            <a:avLst/>
          </a:prstGeom>
          <a:solidFill>
            <a:srgbClr val="2A9D8F"/>
          </a:solidFill>
          <a:ln/>
        </p:spPr>
        <p:txBody>
          <a:bodyPr/>
          <a:lstStyle/>
          <a:p>
            <a:endParaRPr/>
          </a:p>
        </p:txBody>
      </p:sp>
      <p:sp>
        <p:nvSpPr>
          <p:cNvPr id="8" name="Text 6"/>
          <p:cNvSpPr/>
          <p:nvPr/>
        </p:nvSpPr>
        <p:spPr>
          <a:xfrm>
            <a:off x="685800" y="105156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Internal Validity</a:t>
            </a:r>
            <a:endParaRPr lang="en-US" sz="1300" dirty="0"/>
          </a:p>
        </p:txBody>
      </p:sp>
      <p:sp>
        <p:nvSpPr>
          <p:cNvPr id="9" name="Text 7"/>
          <p:cNvSpPr/>
          <p:nvPr/>
        </p:nvSpPr>
        <p:spPr>
          <a:xfrm>
            <a:off x="685800" y="1325880"/>
            <a:ext cx="7772400" cy="640080"/>
          </a:xfrm>
          <a:prstGeom prst="rect">
            <a:avLst/>
          </a:prstGeom>
          <a:noFill/>
          <a:ln/>
        </p:spPr>
        <p:txBody>
          <a:bodyPr wrap="square" rtlCol="0" anchor="t"/>
          <a:lstStyle/>
          <a:p>
            <a:pPr marL="0" indent="0">
              <a:buNone/>
            </a:pPr>
            <a:r>
              <a:rPr lang="en-US" sz="1050" dirty="0">
                <a:solidFill>
                  <a:srgbClr val="1E293B"/>
                </a:solidFill>
              </a:rPr>
              <a:t>Single dev environment (GCP e2-standard-4, 16GB RAM); hardware/config variations could affect observed behavior. Mitigated by running all POC demonstrations under identical conditions.</a:t>
            </a:r>
            <a:endParaRPr lang="en-US" sz="1050" dirty="0"/>
          </a:p>
        </p:txBody>
      </p:sp>
      <p:sp>
        <p:nvSpPr>
          <p:cNvPr id="10" name="Shape 8"/>
          <p:cNvSpPr/>
          <p:nvPr/>
        </p:nvSpPr>
        <p:spPr>
          <a:xfrm>
            <a:off x="457200" y="224028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57200" y="2240280"/>
            <a:ext cx="54864" cy="1051560"/>
          </a:xfrm>
          <a:prstGeom prst="rect">
            <a:avLst/>
          </a:prstGeom>
          <a:solidFill>
            <a:srgbClr val="1B3A5C"/>
          </a:solidFill>
          <a:ln/>
        </p:spPr>
        <p:txBody>
          <a:bodyPr/>
          <a:lstStyle/>
          <a:p>
            <a:endParaRPr/>
          </a:p>
        </p:txBody>
      </p:sp>
      <p:sp>
        <p:nvSpPr>
          <p:cNvPr id="12" name="Text 10"/>
          <p:cNvSpPr/>
          <p:nvPr/>
        </p:nvSpPr>
        <p:spPr>
          <a:xfrm>
            <a:off x="685800" y="228600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External Validity</a:t>
            </a:r>
            <a:endParaRPr lang="en-US" sz="1300" dirty="0"/>
          </a:p>
        </p:txBody>
      </p:sp>
      <p:sp>
        <p:nvSpPr>
          <p:cNvPr id="13" name="Text 11"/>
          <p:cNvSpPr/>
          <p:nvPr/>
        </p:nvSpPr>
        <p:spPr>
          <a:xfrm>
            <a:off x="685800" y="2560320"/>
            <a:ext cx="7772400" cy="640080"/>
          </a:xfrm>
          <a:prstGeom prst="rect">
            <a:avLst/>
          </a:prstGeom>
          <a:noFill/>
          <a:ln/>
        </p:spPr>
        <p:txBody>
          <a:bodyPr wrap="square" rtlCol="0" anchor="t"/>
          <a:lstStyle/>
          <a:p>
            <a:pPr marL="0" indent="0">
              <a:buNone/>
            </a:pPr>
            <a:r>
              <a:rPr lang="en-US" sz="1050" dirty="0">
                <a:solidFill>
                  <a:srgbClr val="1E293B"/>
                </a:solidFill>
              </a:rPr>
              <a:t>Simulated data verified in companion document (12-point checklist: 9 tables, 58,813 records, 0 orphans, 0 NULLs, realistic distributions). Real-world data introduces missing values and encoding issues not evaluated.</a:t>
            </a:r>
            <a:endParaRPr lang="en-US" sz="1050" dirty="0"/>
          </a:p>
        </p:txBody>
      </p:sp>
      <p:sp>
        <p:nvSpPr>
          <p:cNvPr id="14" name="Shape 12"/>
          <p:cNvSpPr/>
          <p:nvPr/>
        </p:nvSpPr>
        <p:spPr>
          <a:xfrm>
            <a:off x="457200" y="347472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457200" y="3474720"/>
            <a:ext cx="54864" cy="1051560"/>
          </a:xfrm>
          <a:prstGeom prst="rect">
            <a:avLst/>
          </a:prstGeom>
          <a:solidFill>
            <a:srgbClr val="D4A843"/>
          </a:solidFill>
          <a:ln/>
        </p:spPr>
        <p:txBody>
          <a:bodyPr/>
          <a:lstStyle/>
          <a:p>
            <a:endParaRPr/>
          </a:p>
        </p:txBody>
      </p:sp>
      <p:sp>
        <p:nvSpPr>
          <p:cNvPr id="16" name="Text 14"/>
          <p:cNvSpPr/>
          <p:nvPr/>
        </p:nvSpPr>
        <p:spPr>
          <a:xfrm>
            <a:off x="685800" y="352044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Construct Validity</a:t>
            </a:r>
            <a:endParaRPr lang="en-US" sz="1300" dirty="0"/>
          </a:p>
        </p:txBody>
      </p:sp>
      <p:sp>
        <p:nvSpPr>
          <p:cNvPr id="17" name="Text 15"/>
          <p:cNvSpPr/>
          <p:nvPr/>
        </p:nvSpPr>
        <p:spPr>
          <a:xfrm>
            <a:off x="685800" y="3794760"/>
            <a:ext cx="7772400" cy="640080"/>
          </a:xfrm>
          <a:prstGeom prst="rect">
            <a:avLst/>
          </a:prstGeom>
          <a:noFill/>
          <a:ln/>
        </p:spPr>
        <p:txBody>
          <a:bodyPr wrap="square" rtlCol="0" anchor="t"/>
          <a:lstStyle/>
          <a:p>
            <a:pPr marL="0" indent="0">
              <a:buNone/>
            </a:pPr>
            <a:r>
              <a:rPr lang="en-US" sz="1050" dirty="0">
                <a:solidFill>
                  <a:srgbClr val="1E293B"/>
                </a:solidFill>
              </a:rPr>
              <a:t>Evaluation criteria selected from problem statement and prior studies [9][10][11]. Additional criteria such as data governance, real-time processing, and team skill requirements may also be relevant. Quantitative performance benchmarking (ETL load times, query performance, scalability) identified as future work to strengthen conclusions.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Full and incremental loading with watermark-based change detection and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star schema provides consumption-ready dimensional model for BI reporting</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Performance benchmarking and scalability analysis identified as future work</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14 / 15</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457200" y="1005840"/>
            <a:ext cx="54864" cy="548640"/>
          </a:xfrm>
          <a:prstGeom prst="rect">
            <a:avLst/>
          </a:prstGeom>
          <a:solidFill>
            <a:srgbClr val="2A9D8F"/>
          </a:solidFill>
          <a:ln/>
        </p:spPr>
        <p:txBody>
          <a:bodyPr/>
          <a:lstStyle/>
          <a:p>
            <a:endParaR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0" name="Shape 8"/>
          <p:cNvSpPr/>
          <p:nvPr/>
        </p:nvSpPr>
        <p:spPr>
          <a:xfrm>
            <a:off x="457200" y="1645920"/>
            <a:ext cx="54864" cy="548640"/>
          </a:xfrm>
          <a:prstGeom prst="rect">
            <a:avLst/>
          </a:prstGeom>
          <a:solidFill>
            <a:srgbClr val="2A9D8F"/>
          </a:solidFill>
          <a:ln/>
        </p:spPr>
        <p:txBody>
          <a:bodyPr/>
          <a:lstStyle/>
          <a:p>
            <a:endParaR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3" name="Shape 11"/>
          <p:cNvSpPr/>
          <p:nvPr/>
        </p:nvSpPr>
        <p:spPr>
          <a:xfrm>
            <a:off x="457200" y="2286000"/>
            <a:ext cx="54864" cy="548640"/>
          </a:xfrm>
          <a:prstGeom prst="rect">
            <a:avLst/>
          </a:prstGeom>
          <a:solidFill>
            <a:srgbClr val="2A9D8F"/>
          </a:solidFill>
          <a:ln/>
        </p:spPr>
        <p:txBody>
          <a:bodyPr/>
          <a:lstStyle/>
          <a:p>
            <a:endParaR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Performance benchmarking: ETL load times, query performance (Gold vs Raw Vault), scalability analysis with columnstore indexes</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6" name="Shape 14"/>
          <p:cNvSpPr/>
          <p:nvPr/>
        </p:nvSpPr>
        <p:spPr>
          <a:xfrm>
            <a:off x="457200" y="2926080"/>
            <a:ext cx="54864" cy="548640"/>
          </a:xfrm>
          <a:prstGeom prst="rect">
            <a:avLst/>
          </a:prstGeom>
          <a:solidFill>
            <a:srgbClr val="2A9D8F"/>
          </a:solidFill>
          <a:ln/>
        </p:spPr>
        <p:txBody>
          <a:bodyPr/>
          <a:lstStyle/>
          <a:p>
            <a:endParaR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457200" y="3566160"/>
            <a:ext cx="54864" cy="548640"/>
          </a:xfrm>
          <a:prstGeom prst="rect">
            <a:avLst/>
          </a:prstGeom>
          <a:solidFill>
            <a:srgbClr val="2A9D8F"/>
          </a:solidFill>
          <a:ln/>
        </p:spPr>
        <p:txBody>
          <a:bodyPr/>
          <a:lstStyle/>
          <a:p>
            <a:endParaR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1" name="Shape 19"/>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457200" y="4206240"/>
            <a:ext cx="54864" cy="548640"/>
          </a:xfrm>
          <a:prstGeom prst="rect">
            <a:avLst/>
          </a:prstGeom>
          <a:solidFill>
            <a:srgbClr val="2A9D8F"/>
          </a:solidFill>
          <a:ln/>
        </p:spPr>
        <p:txBody>
          <a:bodyPr/>
          <a:lstStyle/>
          <a:p>
            <a:endParaRPr/>
          </a:p>
        </p:txBody>
      </p:sp>
      <p:sp>
        <p:nvSpPr>
          <p:cNvPr id="23" name="Text 21"/>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Cloud migration path: Azure Synapse / SQL Managed Instance for elastic scaling and managed infrastructure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lstStyle/>
          <a:p>
            <a:endParaRPr/>
          </a:p>
        </p:txBody>
      </p:sp>
      <p:sp>
        <p:nvSpPr>
          <p:cNvPr id="3" name="Shape 1"/>
          <p:cNvSpPr/>
          <p:nvPr/>
        </p:nvSpPr>
        <p:spPr>
          <a:xfrm>
            <a:off x="0" y="5070348"/>
            <a:ext cx="9144000" cy="73152"/>
          </a:xfrm>
          <a:prstGeom prst="rect">
            <a:avLst/>
          </a:prstGeom>
          <a:solidFill>
            <a:srgbClr val="2A9D8F"/>
          </a:solidFill>
          <a:ln/>
        </p:spPr>
        <p:txBody>
          <a:bodyPr/>
          <a:lstStyle/>
          <a:p>
            <a:endParaR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lstStyle/>
          <a:p>
            <a:endParaR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15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4286</Words>
  <Application>Microsoft Office PowerPoint</Application>
  <PresentationFormat>On-screen Show (16:9)</PresentationFormat>
  <Paragraphs>443</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1</cp:revision>
  <dcterms:created xsi:type="dcterms:W3CDTF">2026-02-24T07:35:53Z</dcterms:created>
  <dcterms:modified xsi:type="dcterms:W3CDTF">2026-02-27T08:46:09Z</dcterms:modified>
</cp:coreProperties>
</file>
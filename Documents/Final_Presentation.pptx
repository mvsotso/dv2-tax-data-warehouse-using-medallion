
<file path=[Content_Types].xml><?xml version="1.0" encoding="utf-8"?>
<Types xmlns="http://schemas.openxmlformats.org/package/2006/content-types">
  <Default Extension="png" ContentType="image/png"/>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71" r:id="rId12"/>
    <p:sldId id="272" r:id="rId13"/>
    <p:sldId id="273"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results including ETL benchmarks and query performance,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POC evaluation,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is POC evaluation addressing all 4 challenges with measurable before/after evidence on the Cambodia tax domain. C4 provides a reproducible Technical Implementation Guide for SSIS deployment. C5 provides Source Database Verification plus companion documents for full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2015 Data Vault 2.0 methodology, which defines the hub-satellite-link architecture, hash key generation using SHA-256, and insert-only loading patterns.
Second, Armbrust et al.'s 2021 Medallion Architecture with Bronze, Silver, and Gold layers providing progressive data refinement. We adapted this for SQL Server by mapping Bronze to Raw Vault, Silver to Business Vault, and Gold to Star Schema.
Third, Kimball's 34 ETL subsystems framework guides our control architecture. We combine this with DAMA data quality dimensions and watermark-based incremental loading using the MAX ModifiedDate pattern.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4 key related studies plus our research. Yessad and Labiod in 2016 compared Inmon, Kimball, and Data Vault theoretically but had no implementation. Naamane and Jovanovic in 2016 provided empirical comparison with telecom data but without medallion architecture or a Gold layer. Vines in 2024 is the most recent, using TPC-DS benchmarks for performance evaluation but without domain-specific application. Singh in 2025 analyzed architectural resilience but remained theoretical with no hands-on implementation.
Our study is the first to combine DV2 + Medallion + ETL Control + Performance Benchmarks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9 Satellites for descriptive attributes with hash diff change detection, 5 Links for relationships.
Silver: 2 PIT tables for Point-In-Time lookups, 1 Bridge table, 3 Business Vault objects including ComplianceScore. Gold: 6 SCD Type 2 dimensions, 3 fact tables, 2 analytical views.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35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SAT_Taxpayer_Contact requires zero modifications to existing 23 objects, as demonstrated in POC 1.
Historical Tracking: Satellites maintain complete insert-only history with no destructive updates. Every change creates a new row with hash diff detection, demonstrated in POC 2.
ETL Control: 49-step pipeline with per-step error isolation. If a step fails, all prior steps are preserved and only the failed step needs re-execution, demonstrated in POC 3.
Business Rules: Silver layer derived attributes like ComplianceScore are isolated from Bronze raw data, demonstrated in POC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across 6 databases. Full and incremental loading validated through POC demonstrations. All 4 challenges addressed with implementation evidence. Performance benchmarking and scalability analysis identified as future work. Three companion documents provide full reproducibility.
Three companion documents submitted: [32] Implementation Scenarios with verified SSMS screenshots for Flexibility (23/23 objects unchanged), Materialized Views (73ms to 34ms, 2.1x speedup), and Early Arriving Facts (263-second Hub-to-SAT delay, zero UPDATEs). [33] Performance Benchmarks Verification with reproducible SQL scripts and 14-point checklist.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implement RBAC security, add Power BI dashboards. Medium-term: real-time CDC for near-real-time updates, Big Data scaling with columnstore indexes, implement indexed views.
Long-term: multi-source integration with customs and business registration, machine learning for fraud detection, cloud migration to Azure SQL.
Methodological priority: controlled experiment in production GDT environment with real data and user acceptance testing.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across 6 databases, 4 POC demonstrations validating all challenges, 12 source database verification checks all passed, 3 companion documents for full reproducibility.
Companion documents submitted: [32] Implementation Scenarios (13 pages, 12 SSMS screenshots, verified results for Flexibility, Materialized Views, Early Arriving Facts), [33] Performance Benchmarks Verification (13 pages, reproducible SQL scripts, 14-point checklist), [34] Source Database Verification (8 pages, 12-point checklist). All SQL scripts and screenshots are independently reproducible on the GCP VM.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 Id="rId3" Type="http://schemas.openxmlformats.org/officeDocument/2006/relationships/image" Target="../media/image_fig31.jpg"/></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Science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POC Evidence, 4 Challenges Addressed,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DC2626"/>
          </a:solidFill>
          <a:ln/>
        </p:spPr>
        <p:txBody>
          <a:bodyPr/>
          <a:lstStyle/>
          <a:p>
            <a:endParaR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834640"/>
            <a:ext cx="8595360" cy="54864"/>
          </a:xfrm>
          <a:prstGeom prst="rect">
            <a:avLst/>
          </a:prstGeom>
          <a:solidFill>
            <a:srgbClr val="2A9D8F"/>
          </a:solidFill>
          <a:ln/>
        </p:spPr>
        <p:txBody>
          <a:bodyPr/>
          <a:lstStyle/>
          <a:p>
            <a:endParaR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Validate architecture through POC demonstrations addressing 4 key challenges with evidence</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502920"/>
          </a:xfrm>
          <a:prstGeom prst="rect">
            <a:avLst/>
          </a:prstGeom>
          <a:solidFill>
            <a:srgbClr val="D4A843"/>
          </a:solidFill>
          <a:ln/>
        </p:spPr>
        <p:txBody>
          <a:bodyPr/>
          <a:lstStyle/>
          <a:p>
            <a:endParaR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POC evaluation addressing 4 challenges with measurable before/after evidence on Cambodia tax domain</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Technical Implementation Guide — reproducibility artifact for SSIS deployment</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Source Database Verification + companion documents for full reproducibility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1B3A5C"/>
          </a:solidFill>
          <a:ln/>
        </p:spPr>
        <p:txBody>
          <a:bodyPr/>
          <a:lstStyle/>
          <a:p>
            <a:endParaR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926080"/>
            <a:ext cx="8595360" cy="54864"/>
          </a:xfrm>
          <a:prstGeom prst="rect">
            <a:avLst/>
          </a:prstGeom>
          <a:solidFill>
            <a:srgbClr val="2A9D8F"/>
          </a:solidFill>
          <a:ln/>
        </p:spPr>
        <p:txBody>
          <a:bodyPr/>
          <a:lstStyle/>
          <a:p>
            <a:endParaR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Kimball ETL Subsystem: 34 subsystems for enterprise ETL [Kimball &amp; Ross, 2013]</a:t>
            </a:r>
            <a:endParaRPr lang="en-US" sz="900" dirty="0"/>
          </a:p>
          <a:p>
            <a:pPr marL="342900" indent="-342900">
              <a:spcAft>
                <a:spcPts val="300"/>
              </a:spcAft>
              <a:buSzPct val="100000"/>
              <a:buChar char="•"/>
            </a:pPr>
            <a:r>
              <a:rPr lang="en-US" sz="900" dirty="0">
                <a:solidFill>
                  <a:srgbClr val="1E293B"/>
                </a:solidFill>
              </a:rPr>
              <a:t>DAMA Data Quality: Completeness, Accuracy, Consistency, Timeliness, Uniqueness, Validity</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graphicFrame>
        <p:nvGraphicFramePr>
          <p:cNvPr id="7" name="Table 0"/>
          <p:cNvGraphicFramePr>
            <a:graphicFrameLocks noGrp="1"/>
          </p:cNvGraphicFramePr>
          <p:nvPr>
            <p:extLst>
              <p:ext uri="{D42A27DB-BD31-4B8C-83A1-F6EECF244321}">
                <p14:modId xmlns:p14="http://schemas.microsoft.com/office/powerpoint/2010/main" val="2555424238"/>
              </p:ext>
            </p:extLst>
          </p:nvPr>
        </p:nvGraphicFramePr>
        <p:xfrm>
          <a:off x="274320" y="1005840"/>
          <a:ext cx="8595360" cy="3406139"/>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396699">
                <a:tc>
                  <a:txBody>
                    <a:bodyPr/>
                    <a:lstStyle/>
                    <a:p>
                      <a:pPr marL="0" indent="0" algn="ctr">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601888">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POC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1888">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601888">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1888">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601888">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POC eval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pic>
        <p:nvPicPr>
          <p:cNvPr id="100" name="Figure 3.1"/>
          <p:cNvPicPr>
            <a:picLocks noChangeAspect="1"/>
          </p:cNvPicPr>
          <p:nvPr/>
        </p:nvPicPr>
        <p:blipFill>
          <a:blip r:embed="rId3"/>
          <a:stretch>
            <a:fillRect/>
          </a:stretch>
        </p:blipFill>
        <p:spPr>
          <a:xfrm>
            <a:off x="350000" y="830000"/>
            <a:ext cx="8450000" cy="3780000"/>
          </a:xfrm>
          <a:prstGeom prst="rect">
            <a:avLst/>
          </a:prstGeom>
        </p:spPr>
      </p:pic>
      <p:sp>
        <p:nvSpPr>
          <p:cNvPr id="101" name="Caption"/>
          <p:cNvSpPr/>
          <p:nvPr/>
        </p:nvSpPr>
        <p:spPr>
          <a:xfrm>
            <a:off x="457200" y="4650000"/>
            <a:ext cx="8229600" cy="274320"/>
          </a:xfrm>
          <a:prstGeom prst="rect">
            <a:avLst/>
          </a:prstGeom>
          <a:noFill/>
          <a:ln/>
        </p:spPr>
        <p:txBody>
          <a:bodyPr wrap="square" rtlCol="0" anchor="t"/>
          <a:lstStyle/>
          <a:p>
            <a:pPr marL="0" indent="0" algn="ctr">
              <a:buNone/>
            </a:pPr>
            <a:r>
              <a:rPr lang="en-US" sz="900" b="1" dirty="0">
                <a:solidFill>
                  <a:srgbClr val="1B3A5C"/>
                </a:solidFill>
                <a:latin typeface="Calibri"/>
              </a:rPr>
              <a:t xml:space="preserve">Figure 3.1: </a:t>
            </a:r>
            <a:r>
              <a:rPr lang="en-US" sz="900" dirty="0">
                <a:solidFill>
                  <a:srgbClr val="64748B"/>
                </a:solidFill>
                <a:latin typeface="Calibri"/>
              </a:rPr>
              <a:t>Data Warehouse Model — Data Vault 2.0 Methodology using Medallion Architecture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2011680" cy="320040"/>
          </a:xfrm>
          <a:prstGeom prst="rect">
            <a:avLst/>
          </a:prstGeom>
          <a:solidFill>
            <a:srgbClr val="94A3B8"/>
          </a:solidFill>
          <a:ln/>
        </p:spPr>
        <p:txBody>
          <a:bodyPr/>
          <a:lstStyle/>
          <a:p>
            <a:endParaR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2468880" y="914400"/>
            <a:ext cx="2011680" cy="320040"/>
          </a:xfrm>
          <a:prstGeom prst="rect">
            <a:avLst/>
          </a:prstGeom>
          <a:solidFill>
            <a:srgbClr val="CD7F32"/>
          </a:solidFill>
          <a:ln/>
        </p:spPr>
        <p:txBody>
          <a:bodyPr/>
          <a:lstStyle/>
          <a:p>
            <a:endParaR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4663440" y="914400"/>
            <a:ext cx="2011680" cy="320040"/>
          </a:xfrm>
          <a:prstGeom prst="rect">
            <a:avLst/>
          </a:prstGeom>
          <a:solidFill>
            <a:srgbClr val="A8A8A8"/>
          </a:solidFill>
          <a:ln/>
        </p:spPr>
        <p:txBody>
          <a:bodyPr/>
          <a:lstStyle/>
          <a:p>
            <a:endParaR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6858000" y="914400"/>
            <a:ext cx="2011680" cy="320040"/>
          </a:xfrm>
          <a:prstGeom prst="rect">
            <a:avLst/>
          </a:prstGeom>
          <a:solidFill>
            <a:srgbClr val="D4A843"/>
          </a:solidFill>
          <a:ln/>
        </p:spPr>
        <p:txBody>
          <a:bodyPr/>
          <a:lstStyle/>
          <a:p>
            <a:endParaR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3" name="Shape 21"/>
          <p:cNvSpPr/>
          <p:nvPr/>
        </p:nvSpPr>
        <p:spPr>
          <a:xfrm>
            <a:off x="274320" y="3246120"/>
            <a:ext cx="8595360" cy="54864"/>
          </a:xfrm>
          <a:prstGeom prst="rect">
            <a:avLst/>
          </a:prstGeom>
          <a:solidFill>
            <a:srgbClr val="2A9D8F"/>
          </a:solidFill>
          <a:ln/>
        </p:spPr>
        <p:txBody>
          <a:bodyPr/>
          <a:lstStyle/>
          <a:p>
            <a:endParaR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lstStyle/>
          <a:p>
            <a:endParaR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lstStyle/>
          <a:p>
            <a:endParaR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lstStyle/>
          <a:p>
            <a:endParaR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143012250"/>
              </p:ext>
            </p:extLst>
          </p:nvPr>
        </p:nvGraphicFramePr>
        <p:xfrm>
          <a:off x="274320" y="1280160"/>
          <a:ext cx="8595360" cy="2748744"/>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99283">
                <a:tc>
                  <a:txBody>
                    <a:bodyPr/>
                    <a:lstStyle/>
                    <a:p>
                      <a:pPr marL="0" indent="0" algn="ctr">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288963">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Structure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structure types (Individual, Partnership,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153074418"/>
                  </a:ext>
                </a:extLst>
              </a:tr>
              <a:tr h="0">
                <a:tc>
                  <a:txBody>
                    <a:bodyPr/>
                    <a:lstStyle/>
                    <a:p>
                      <a:pPr marL="0" indent="0">
                        <a:buNone/>
                      </a:pPr>
                      <a:r>
                        <a:rPr lang="en-US" sz="800" b="1" dirty="0">
                          <a:solidFill>
                            <a:srgbClr val="1B3A5C"/>
                          </a:solidFill>
                        </a:rPr>
                        <a:t>Activity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activity sectors (Manufacturing, Service, etc.)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470788513"/>
                  </a:ext>
                </a:extLst>
              </a:tr>
              <a:tr h="288963">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8963">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288963">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8963">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288963">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8963">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bl>
          </a:graphicData>
        </a:graphic>
      </p:graphicFrame>
      <p:sp>
        <p:nvSpPr>
          <p:cNvPr id="8" name="Text 5"/>
          <p:cNvSpPr/>
          <p:nvPr/>
        </p:nvSpPr>
        <p:spPr>
          <a:xfrm>
            <a:off x="457200" y="4238895"/>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1,000 taxpayers, 4 years (2020–2023), 99.8% filing coverage, 58,813 records. Verified: 10 FKs, 19 CHECK constraints, 35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822960"/>
          </a:xfrm>
          <a:prstGeom prst="rect">
            <a:avLst/>
          </a:prstGeom>
          <a:solidFill>
            <a:srgbClr val="2A9D8F"/>
          </a:solidFill>
          <a:ln/>
        </p:spPr>
        <p:txBody>
          <a:bodyPr/>
          <a:lstStyle/>
          <a:p>
            <a:endParaR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274320" y="1874520"/>
            <a:ext cx="54864" cy="822960"/>
          </a:xfrm>
          <a:prstGeom prst="rect">
            <a:avLst/>
          </a:prstGeom>
          <a:solidFill>
            <a:srgbClr val="1B3A5C"/>
          </a:solidFill>
          <a:ln/>
        </p:spPr>
        <p:txBody>
          <a:bodyPr/>
          <a:lstStyle/>
          <a:p>
            <a:endParaR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274320" y="2834640"/>
            <a:ext cx="54864" cy="822960"/>
          </a:xfrm>
          <a:prstGeom prst="rect">
            <a:avLst/>
          </a:prstGeom>
          <a:solidFill>
            <a:srgbClr val="D4A843"/>
          </a:solidFill>
          <a:ln/>
        </p:spPr>
        <p:txBody>
          <a:bodyPr/>
          <a:lstStyle/>
          <a:p>
            <a:endParaR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274320" y="3794760"/>
            <a:ext cx="54864" cy="822960"/>
          </a:xfrm>
          <a:prstGeom prst="rect">
            <a:avLst/>
          </a:prstGeom>
          <a:solidFill>
            <a:srgbClr val="CD7F32"/>
          </a:solidFill>
          <a:ln/>
        </p:spPr>
        <p:txBody>
          <a:bodyPr/>
          <a:lstStyle/>
          <a:p>
            <a:endParaR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Full and incremental loading with watermark-based change detection and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star schema provides consumption-ready dimensional model for BI reporting</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Performance benchmarking and scalability analysis identified as future work</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457200" y="1005840"/>
            <a:ext cx="54864" cy="548640"/>
          </a:xfrm>
          <a:prstGeom prst="rect">
            <a:avLst/>
          </a:prstGeom>
          <a:solidFill>
            <a:srgbClr val="2A9D8F"/>
          </a:solidFill>
          <a:ln/>
        </p:spPr>
        <p:txBody>
          <a:bodyPr/>
          <a:lstStyle/>
          <a:p>
            <a:endParaR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0" name="Shape 8"/>
          <p:cNvSpPr/>
          <p:nvPr/>
        </p:nvSpPr>
        <p:spPr>
          <a:xfrm>
            <a:off x="457200" y="1645920"/>
            <a:ext cx="54864" cy="548640"/>
          </a:xfrm>
          <a:prstGeom prst="rect">
            <a:avLst/>
          </a:prstGeom>
          <a:solidFill>
            <a:srgbClr val="2A9D8F"/>
          </a:solidFill>
          <a:ln/>
        </p:spPr>
        <p:txBody>
          <a:bodyPr/>
          <a:lstStyle/>
          <a:p>
            <a:endParaR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3" name="Shape 11"/>
          <p:cNvSpPr/>
          <p:nvPr/>
        </p:nvSpPr>
        <p:spPr>
          <a:xfrm>
            <a:off x="457200" y="2286000"/>
            <a:ext cx="54864" cy="548640"/>
          </a:xfrm>
          <a:prstGeom prst="rect">
            <a:avLst/>
          </a:prstGeom>
          <a:solidFill>
            <a:srgbClr val="2A9D8F"/>
          </a:solidFill>
          <a:ln/>
        </p:spPr>
        <p:txBody>
          <a:bodyPr/>
          <a:lstStyle/>
          <a:p>
            <a:endParaR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Performance benchmarking: ETL load times, query performance (Gold vs Raw Vault), scalability analysis with columnstore indexes</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6" name="Shape 14"/>
          <p:cNvSpPr/>
          <p:nvPr/>
        </p:nvSpPr>
        <p:spPr>
          <a:xfrm>
            <a:off x="457200" y="2926080"/>
            <a:ext cx="54864" cy="548640"/>
          </a:xfrm>
          <a:prstGeom prst="rect">
            <a:avLst/>
          </a:prstGeom>
          <a:solidFill>
            <a:srgbClr val="2A9D8F"/>
          </a:solidFill>
          <a:ln/>
        </p:spPr>
        <p:txBody>
          <a:bodyPr/>
          <a:lstStyle/>
          <a:p>
            <a:endParaR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457200" y="3566160"/>
            <a:ext cx="54864" cy="548640"/>
          </a:xfrm>
          <a:prstGeom prst="rect">
            <a:avLst/>
          </a:prstGeom>
          <a:solidFill>
            <a:srgbClr val="2A9D8F"/>
          </a:solidFill>
          <a:ln/>
        </p:spPr>
        <p:txBody>
          <a:bodyPr/>
          <a:lstStyle/>
          <a:p>
            <a:endParaR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4" name="Shape 22"/>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25" name="Shape 23"/>
          <p:cNvSpPr/>
          <p:nvPr/>
        </p:nvSpPr>
        <p:spPr>
          <a:xfrm>
            <a:off x="457200" y="4206240"/>
            <a:ext cx="54864" cy="548640"/>
          </a:xfrm>
          <a:prstGeom prst="rect">
            <a:avLst/>
          </a:prstGeom>
          <a:solidFill>
            <a:srgbClr val="2A9D8F"/>
          </a:solidFill>
          <a:ln/>
        </p:spPr>
        <p:txBody>
          <a:bodyPr/>
          <a:lstStyle/>
          <a:p>
            <a:endParaRPr/>
          </a:p>
        </p:txBody>
      </p:sp>
      <p:sp>
        <p:nvSpPr>
          <p:cNvPr id="26" name="Text 24"/>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Advanced analytics: ML models on Gold layer for compliance risk scoring, revenue forecasting, fraud detection, and anomaly detection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lstStyle/>
          <a:p>
            <a:endParaRPr/>
          </a:p>
        </p:txBody>
      </p:sp>
      <p:sp>
        <p:nvSpPr>
          <p:cNvPr id="3" name="Shape 1"/>
          <p:cNvSpPr/>
          <p:nvPr/>
        </p:nvSpPr>
        <p:spPr>
          <a:xfrm>
            <a:off x="0" y="5070348"/>
            <a:ext cx="9144000" cy="73152"/>
          </a:xfrm>
          <a:prstGeom prst="rect">
            <a:avLst/>
          </a:prstGeom>
          <a:solidFill>
            <a:srgbClr val="2A9D8F"/>
          </a:solidFill>
          <a:ln/>
        </p:spPr>
        <p:txBody>
          <a:bodyPr/>
          <a:lstStyle/>
          <a:p>
            <a:endParaR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lstStyle/>
          <a:p>
            <a:endParaR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2948</Words>
  <Application>Microsoft Office PowerPoint</Application>
  <PresentationFormat>On-screen Show (16:9)</PresentationFormat>
  <Paragraphs>314</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3</cp:revision>
  <dcterms:created xsi:type="dcterms:W3CDTF">2026-02-24T07:35:53Z</dcterms:created>
  <dcterms:modified xsi:type="dcterms:W3CDTF">2026-03-03T04:15:49Z</dcterms:modified>
</cp:coreProperties>
</file>